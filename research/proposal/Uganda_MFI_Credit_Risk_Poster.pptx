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2803763" cy="30275213"/>
  <p:notesSz cx="30275213" cy="428037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9393" y="-15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3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charisopol@gmail.com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54" y="428046"/>
            <a:ext cx="7933715" cy="2668613"/>
          </a:xfrm>
          <a:prstGeom prst="rect">
            <a:avLst/>
          </a:prstGeom>
        </p:spPr>
      </p:pic>
      <p:pic>
        <p:nvPicPr>
          <p:cNvPr id="3" name="Image 1" descr="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36812" y="-31956"/>
            <a:ext cx="9416735" cy="31906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89411" y="173482"/>
            <a:ext cx="32927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1A1A1A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Hybrid LSTM-FNN Framework with </a:t>
            </a:r>
            <a:r>
              <a:rPr lang="en-US" sz="4500" b="1" dirty="0" err="1">
                <a:solidFill>
                  <a:srgbClr val="1A1A1A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Localised</a:t>
            </a:r>
            <a:r>
              <a:rPr lang="en-US" sz="4500" b="1" dirty="0">
                <a:solidFill>
                  <a:srgbClr val="1A1A1A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 Feature Engineering and</a:t>
            </a:r>
            <a:endParaRPr lang="en-US" sz="4500" dirty="0">
              <a:latin typeface="Trebuchet MS" panose="020B0603020202020204" pitchFamily="34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1A1A1A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Explainable AI for Credit Risk Assessment in Ugandan Micro-Finance Institutions</a:t>
            </a:r>
            <a:endParaRPr lang="en-US" sz="4500" dirty="0">
              <a:latin typeface="Trebuchet MS" panose="020B060302020202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743691" y="1883410"/>
            <a:ext cx="3292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OPOL CHARIS   |   S24B23/003   |   B29654   |   BSCS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633646" y="2484056"/>
            <a:ext cx="32927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444444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Uganda Christian University   |   Department of Computing &amp; Technology   |   Faculty of Engineering, Design &amp; Technology</a:t>
            </a:r>
            <a:endParaRPr lang="en-US" sz="2600" dirty="0">
              <a:latin typeface="Trebuchet MS" panose="020B0603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547607" y="3511042"/>
            <a:ext cx="99235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100" dirty="0">
              <a:latin typeface="Trebuchet MS" panose="020B0603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82194" y="3488182"/>
            <a:ext cx="10252710" cy="8440029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82194" y="3488182"/>
            <a:ext cx="10252710" cy="574697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</a:rPr>
              <a:t>Introduction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10794" y="4104753"/>
            <a:ext cx="9795510" cy="4484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Uganda's microfinance sector is the primary credit access point for the unbanked, yet it lacks a credit risk system that is accurate, locally calibrated, and explainable. The Bank of Uganda's 2024/2025 Integrated Annual Report notes the banking sector's NPL ratio has declined to roughly 3.7%, while Tier II and III MFIs continue to struggle with high default rates driven by informal borrower data.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2400" dirty="0">
              <a:latin typeface="Trebuchet MS" panose="020B0603020202020204" pitchFamily="34" charset="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Existing deep learning credit models are either unexplainable "black boxes" or trained on Western datasets blind to Uganda's informal economy, agricultural income cycles, mobile money behaviour, and seasonal school-fees patterns.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2400" dirty="0">
              <a:latin typeface="Trebuchet MS" panose="020B0603020202020204" pitchFamily="34" charset="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This project builds and evaluates a Hybrid LSTM-FNN framework with localised feature engineering and a post-hoc explainability layer, trained and benchmarked on 3,000 real Ugandan MFI borrower records.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611615" y="10629094"/>
            <a:ext cx="2948178" cy="10753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748775" y="11548618"/>
            <a:ext cx="285673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endParaRPr lang="en-US" sz="1080" dirty="0">
              <a:latin typeface="Trebuchet MS" panose="020B0603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035281" y="10506202"/>
            <a:ext cx="2948178" cy="10753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081001" y="11548618"/>
            <a:ext cx="285673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endParaRPr lang="en-US" sz="1080" dirty="0">
              <a:latin typeface="Trebuchet MS" panose="020B0603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9367507" y="10506202"/>
            <a:ext cx="2948178" cy="10753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413227" y="11548618"/>
            <a:ext cx="2856738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endParaRPr lang="en-US" sz="1080" dirty="0">
              <a:latin typeface="Trebuchet MS" panose="020B06030202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2611615" y="12591034"/>
            <a:ext cx="97955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2100" dirty="0">
              <a:latin typeface="Trebuchet MS" panose="020B0603020202020204" pitchFamily="34" charset="0"/>
            </a:endParaRPr>
          </a:p>
        </p:txBody>
      </p:sp>
      <p:sp>
        <p:nvSpPr>
          <p:cNvPr id="22" name="Shape 18"/>
          <p:cNvSpPr>
            <a:spLocks/>
          </p:cNvSpPr>
          <p:nvPr/>
        </p:nvSpPr>
        <p:spPr>
          <a:xfrm>
            <a:off x="450722" y="12188525"/>
            <a:ext cx="10252710" cy="1113659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2547607" y="14465554"/>
            <a:ext cx="99235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100" dirty="0">
              <a:latin typeface="Trebuchet MS" panose="020B06030202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79158" y="12240936"/>
            <a:ext cx="10252710" cy="6035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61655" y="12886314"/>
            <a:ext cx="979551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Problem Statement: 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Uganda's MFI sector lacks a credit risk framework that is accurate, locally calibrated, and explainable. Traditional statistical models miss nonlinear patterns in mobile money data; deep learning models are accurate but operate as black boxes; and most published models are trained on Western datasets, blind to Uganda's informal economy.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As a result, creditworthy smallholder farmers, informal traders, and rural women are denied credit, not because of genuine default risk, but because no framework exists to fairly assess their informal income patterns.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61655" y="17708104"/>
            <a:ext cx="97955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50" dirty="0">
              <a:latin typeface="Trebuchet MS" panose="020B0603020202020204" pitchFamily="34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62038" y="18210762"/>
            <a:ext cx="9795510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Engineer localised features from mobile money transactions, UBOS agricultural calendars, and behavioural / financial-stability scores.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Design and train a Hybrid LSTM-FNN architecture (plus Transformer and cross-attention variants) benchmarked against Logistic Regression, XGBoost and vanilla LSTM baselines.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0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Achieve ROC-AUC ≥ 0.80, which was </a:t>
            </a:r>
            <a:r>
              <a:rPr lang="en-US" sz="2400" b="1" dirty="0">
                <a:solidFill>
                  <a:srgbClr val="2E7D32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ACHIEVED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 (0.836–0.889 across all eight model configurations on 3,000 borrowers).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Implement a post-hoc explainability layer validated against known financial-</a:t>
            </a:r>
            <a:r>
              <a:rPr lang="en-US" sz="2400" dirty="0" err="1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 drivers  which was </a:t>
            </a:r>
            <a:r>
              <a:rPr lang="en-US" sz="2400" b="1" dirty="0">
                <a:solidFill>
                  <a:srgbClr val="2E7D32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ACHIEVED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 and extended from SHAP to Integrated Gradients for the sequential architecture.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10888078" y="3626151"/>
            <a:ext cx="10252710" cy="8330069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13092925" y="3511042"/>
            <a:ext cx="99235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100" dirty="0">
              <a:latin typeface="Trebuchet MS" panose="020B0603020202020204" pitchFamily="34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16363048" y="443458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13202653" y="5742178"/>
            <a:ext cx="48520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18054688" y="5742178"/>
            <a:ext cx="48520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13348214" y="6171946"/>
            <a:ext cx="456091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endParaRPr lang="en-US" sz="1250" dirty="0">
              <a:latin typeface="Trebuchet MS" panose="020B0603020202020204" pitchFamily="34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18200249" y="6171946"/>
            <a:ext cx="456091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endParaRPr lang="en-US" sz="1250" dirty="0">
              <a:latin typeface="Trebuchet MS" panose="020B0603020202020204" pitchFamily="34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16545928" y="768070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50" dirty="0">
              <a:latin typeface="Trebuchet MS" panose="020B0603020202020204" pitchFamily="34" charset="0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16408768" y="882370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250" dirty="0">
              <a:latin typeface="Trebuchet MS" panose="020B0603020202020204" pitchFamily="34" charset="0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18085282" y="3030079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250" dirty="0">
              <a:latin typeface="Trebuchet MS" panose="020B0603020202020204" pitchFamily="34" charset="0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13586701" y="9738106"/>
            <a:ext cx="439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18438736" y="9738106"/>
            <a:ext cx="439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13586701" y="10122154"/>
            <a:ext cx="439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62" name="Text 58"/>
          <p:cNvSpPr/>
          <p:nvPr/>
        </p:nvSpPr>
        <p:spPr>
          <a:xfrm>
            <a:off x="18438736" y="10122154"/>
            <a:ext cx="4394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65" name="Text 61"/>
          <p:cNvSpPr/>
          <p:nvPr/>
        </p:nvSpPr>
        <p:spPr>
          <a:xfrm>
            <a:off x="13092925" y="14465554"/>
            <a:ext cx="99235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2100" dirty="0">
              <a:latin typeface="Trebuchet MS" panose="020B0603020202020204" pitchFamily="34" charset="0"/>
            </a:endParaRPr>
          </a:p>
        </p:txBody>
      </p:sp>
      <p:sp>
        <p:nvSpPr>
          <p:cNvPr id="68" name="Text 64"/>
          <p:cNvSpPr/>
          <p:nvPr/>
        </p:nvSpPr>
        <p:spPr>
          <a:xfrm>
            <a:off x="13156933" y="20235418"/>
            <a:ext cx="9795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>
              <a:latin typeface="Trebuchet MS" panose="020B0603020202020204" pitchFamily="34" charset="0"/>
            </a:endParaRPr>
          </a:p>
        </p:txBody>
      </p:sp>
      <p:sp>
        <p:nvSpPr>
          <p:cNvPr id="70" name="Text 65"/>
          <p:cNvSpPr/>
          <p:nvPr/>
        </p:nvSpPr>
        <p:spPr>
          <a:xfrm>
            <a:off x="13156933" y="22960330"/>
            <a:ext cx="97955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endParaRPr lang="en-US" sz="1250" dirty="0">
              <a:latin typeface="Trebuchet MS" panose="020B0603020202020204" pitchFamily="34" charset="0"/>
            </a:endParaRPr>
          </a:p>
        </p:txBody>
      </p:sp>
      <p:sp>
        <p:nvSpPr>
          <p:cNvPr id="63" name="Shape 59"/>
          <p:cNvSpPr/>
          <p:nvPr/>
        </p:nvSpPr>
        <p:spPr>
          <a:xfrm>
            <a:off x="10931535" y="11685779"/>
            <a:ext cx="10252710" cy="1361768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>
              <a:latin typeface="Trebuchet MS" panose="020B0603020202020204" pitchFamily="34" charset="0"/>
            </a:endParaRPr>
          </a:p>
        </p:txBody>
      </p:sp>
      <p:sp>
        <p:nvSpPr>
          <p:cNvPr id="64" name="Shape 60"/>
          <p:cNvSpPr/>
          <p:nvPr/>
        </p:nvSpPr>
        <p:spPr>
          <a:xfrm>
            <a:off x="10962129" y="12218481"/>
            <a:ext cx="10252710" cy="611401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</a:rPr>
              <a:t>Implementation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66" name="Text 62"/>
          <p:cNvSpPr/>
          <p:nvPr/>
        </p:nvSpPr>
        <p:spPr>
          <a:xfrm>
            <a:off x="11160135" y="12811530"/>
            <a:ext cx="9795510" cy="717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2000"/>
              </a:lnSpc>
              <a:buSzPct val="100000"/>
              <a:buChar char="•"/>
            </a:pPr>
            <a:r>
              <a:rPr lang="en-US" sz="2400" b="1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3,000 synthetic borrower records mobile money transaction histories, and UBOS agricultural calendar data, 70 confirmed defaulters (2.33% base rate).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2000"/>
              </a:lnSpc>
              <a:buSzPct val="100000"/>
              <a:buChar char="•"/>
            </a:pPr>
            <a:r>
              <a:rPr lang="en-US" sz="2400" b="1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47 features engineered into temporal inputs (12 months of transaction behaviour) and static borrower profiles, including composite scores, financial_stability_score, behaviour_score, </a:t>
            </a:r>
            <a:r>
              <a:rPr lang="en-US" sz="2400" dirty="0" err="1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income_regularity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, plus seasonal flags.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2000"/>
              </a:lnSpc>
              <a:buSzPct val="100000"/>
              <a:buChar char="•"/>
            </a:pPr>
            <a:r>
              <a:rPr lang="en-US" sz="2400" b="1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dual-stream Hybrid LSTM-Attention + FNN. The temporal stream processes 12 months of transaction behaviour sequentially with an attention mechanism; the FNN stream processes fixed borrower attributes in parallel; both are concatenated and passed to a classification head.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2000"/>
              </a:lnSpc>
              <a:buSzPct val="100000"/>
              <a:buChar char="•"/>
            </a:pPr>
            <a:r>
              <a:rPr lang="en-US" sz="2400" b="1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Benchmarking: 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5-fold cross-validation with pooled out-of-fold evaluation against Logistic Regression, XGBoost, a Vanilla LSTM, a Transformer-Encoder Hybrid, and a Cross-Attention Fusion Hybrid.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2000"/>
              </a:lnSpc>
              <a:buSzPct val="100000"/>
              <a:buChar char="•"/>
            </a:pPr>
            <a:r>
              <a:rPr lang="en-US" sz="2400" b="1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Imbalance handling sweep: 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class-weighting (0.5×–1.5×) and SMOTE oversampling (0.3–0.5 ratio) tested across every model family.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2000"/>
              </a:lnSpc>
              <a:buSzPct val="100000"/>
              <a:buChar char="•"/>
            </a:pPr>
            <a:r>
              <a:rPr lang="en-US" sz="2400" b="1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Explainability: 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Integrated Gradients computed per borrower, feature, and month,  extended from the originally planned SHAP layer for compatibility with the sequential LSTM/Transformer streams.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719B1B1-A775-E5E3-4444-CCD8852252BA}"/>
              </a:ext>
            </a:extLst>
          </p:cNvPr>
          <p:cNvGrpSpPr/>
          <p:nvPr/>
        </p:nvGrpSpPr>
        <p:grpSpPr>
          <a:xfrm>
            <a:off x="11258242" y="22822456"/>
            <a:ext cx="3131058" cy="1852730"/>
            <a:chOff x="11231118" y="24368760"/>
            <a:chExt cx="3131058" cy="1828800"/>
          </a:xfrm>
        </p:grpSpPr>
        <p:sp>
          <p:nvSpPr>
            <p:cNvPr id="72" name="Shape 67"/>
            <p:cNvSpPr>
              <a:spLocks/>
            </p:cNvSpPr>
            <p:nvPr/>
          </p:nvSpPr>
          <p:spPr>
            <a:xfrm>
              <a:off x="11231118" y="24368760"/>
              <a:ext cx="3131058" cy="1828800"/>
            </a:xfrm>
            <a:prstGeom prst="roundRect">
              <a:avLst>
                <a:gd name="adj" fmla="val 4500"/>
              </a:avLst>
            </a:prstGeom>
            <a:solidFill>
              <a:srgbClr val="E3F0FC"/>
            </a:solidFill>
            <a:ln w="15875">
              <a:solidFill>
                <a:srgbClr val="0070C0"/>
              </a:solidFill>
              <a:prstDash val="solid"/>
            </a:ln>
          </p:spPr>
          <p:txBody>
            <a:bodyPr/>
            <a:lstStyle/>
            <a:p>
              <a:endParaRPr lang="en-UG" dirty="0">
                <a:latin typeface="Trebuchet MS" panose="020B0603020202020204" pitchFamily="34" charset="0"/>
              </a:endParaRPr>
            </a:p>
          </p:txBody>
        </p:sp>
        <p:sp>
          <p:nvSpPr>
            <p:cNvPr id="73" name="Text 68"/>
            <p:cNvSpPr>
              <a:spLocks/>
            </p:cNvSpPr>
            <p:nvPr/>
          </p:nvSpPr>
          <p:spPr>
            <a:xfrm>
              <a:off x="11322558" y="24478488"/>
              <a:ext cx="2948178" cy="10241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0070C0"/>
                  </a:solidFill>
                  <a:latin typeface="Trebuchet MS" panose="020B0603020202020204" pitchFamily="34" charset="0"/>
                  <a:ea typeface="Cambria" pitchFamily="34" charset="-122"/>
                  <a:cs typeface="Cambria" pitchFamily="34" charset="-120"/>
                </a:rPr>
                <a:t>47</a:t>
              </a:r>
              <a:endParaRPr lang="en-US" sz="3000" dirty="0">
                <a:latin typeface="Trebuchet MS" panose="020B0603020202020204" pitchFamily="34" charset="0"/>
              </a:endParaRPr>
            </a:p>
          </p:txBody>
        </p:sp>
        <p:sp>
          <p:nvSpPr>
            <p:cNvPr id="74" name="Text 69"/>
            <p:cNvSpPr>
              <a:spLocks/>
            </p:cNvSpPr>
            <p:nvPr/>
          </p:nvSpPr>
          <p:spPr>
            <a:xfrm>
              <a:off x="11368278" y="25466040"/>
              <a:ext cx="2856738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80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Engineered features per borrower</a:t>
              </a:r>
              <a:endParaRPr lang="en-US" sz="1080" dirty="0">
                <a:latin typeface="Trebuchet MS" panose="020B0603020202020204" pitchFamily="34" charset="0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D560AFA-C4A6-9A3C-0E12-EC08FB1E23D0}"/>
              </a:ext>
            </a:extLst>
          </p:cNvPr>
          <p:cNvGrpSpPr/>
          <p:nvPr/>
        </p:nvGrpSpPr>
        <p:grpSpPr>
          <a:xfrm>
            <a:off x="14618472" y="22808001"/>
            <a:ext cx="3131058" cy="1852730"/>
            <a:chOff x="14678025" y="22495220"/>
            <a:chExt cx="3131058" cy="1828800"/>
          </a:xfrm>
        </p:grpSpPr>
        <p:sp>
          <p:nvSpPr>
            <p:cNvPr id="75" name="Shape 70"/>
            <p:cNvSpPr/>
            <p:nvPr/>
          </p:nvSpPr>
          <p:spPr>
            <a:xfrm>
              <a:off x="14678025" y="22495220"/>
              <a:ext cx="3131058" cy="1828800"/>
            </a:xfrm>
            <a:prstGeom prst="roundRect">
              <a:avLst>
                <a:gd name="adj" fmla="val 4500"/>
              </a:avLst>
            </a:prstGeom>
            <a:solidFill>
              <a:srgbClr val="FBEAE8"/>
            </a:solidFill>
            <a:ln w="15875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en-UG">
                <a:latin typeface="Trebuchet MS" panose="020B0603020202020204" pitchFamily="34" charset="0"/>
              </a:endParaRPr>
            </a:p>
          </p:txBody>
        </p:sp>
        <p:sp>
          <p:nvSpPr>
            <p:cNvPr id="76" name="Text 71"/>
            <p:cNvSpPr/>
            <p:nvPr/>
          </p:nvSpPr>
          <p:spPr>
            <a:xfrm>
              <a:off x="14707362" y="22619216"/>
              <a:ext cx="2948178" cy="10241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C0392B"/>
                  </a:solidFill>
                  <a:latin typeface="Trebuchet MS" panose="020B0603020202020204" pitchFamily="34" charset="0"/>
                  <a:ea typeface="Cambria" pitchFamily="34" charset="-122"/>
                  <a:cs typeface="Cambria" pitchFamily="34" charset="-120"/>
                </a:rPr>
                <a:t>5-fold</a:t>
              </a:r>
              <a:endParaRPr lang="en-US" sz="3000" dirty="0">
                <a:latin typeface="Trebuchet MS" panose="020B0603020202020204" pitchFamily="34" charset="0"/>
              </a:endParaRPr>
            </a:p>
          </p:txBody>
        </p:sp>
        <p:sp>
          <p:nvSpPr>
            <p:cNvPr id="77" name="Text 72"/>
            <p:cNvSpPr/>
            <p:nvPr/>
          </p:nvSpPr>
          <p:spPr>
            <a:xfrm>
              <a:off x="14871954" y="23607522"/>
              <a:ext cx="2856738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1080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Cross-validation, pooled out-of-fold</a:t>
              </a:r>
              <a:endParaRPr lang="en-US" sz="1080" dirty="0">
                <a:latin typeface="Trebuchet MS" panose="020B0603020202020204" pitchFamily="34" charset="0"/>
              </a:endParaRPr>
            </a:p>
          </p:txBody>
        </p:sp>
      </p:grpSp>
      <p:sp>
        <p:nvSpPr>
          <p:cNvPr id="78" name="Shape 73"/>
          <p:cNvSpPr/>
          <p:nvPr/>
        </p:nvSpPr>
        <p:spPr>
          <a:xfrm>
            <a:off x="17961747" y="22808001"/>
            <a:ext cx="3131058" cy="1852730"/>
          </a:xfrm>
          <a:prstGeom prst="roundRect">
            <a:avLst>
              <a:gd name="adj" fmla="val 4500"/>
            </a:avLst>
          </a:prstGeom>
          <a:solidFill>
            <a:srgbClr val="E3F0FC"/>
          </a:solidFill>
          <a:ln w="15875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79" name="Text 74"/>
          <p:cNvSpPr/>
          <p:nvPr/>
        </p:nvSpPr>
        <p:spPr>
          <a:xfrm>
            <a:off x="18021343" y="22876121"/>
            <a:ext cx="294817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dirty="0">
                <a:latin typeface="Trebuchet MS" panose="020B0603020202020204" pitchFamily="34" charset="0"/>
              </a:rPr>
              <a:t>8</a:t>
            </a:r>
          </a:p>
        </p:txBody>
      </p:sp>
      <p:sp>
        <p:nvSpPr>
          <p:cNvPr id="80" name="Text 75"/>
          <p:cNvSpPr/>
          <p:nvPr/>
        </p:nvSpPr>
        <p:spPr>
          <a:xfrm>
            <a:off x="18146128" y="23902162"/>
            <a:ext cx="285673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Model configurations benchmarked</a:t>
            </a:r>
            <a:endParaRPr lang="en-US" sz="1080" dirty="0">
              <a:latin typeface="Trebuchet MS" panose="020B0603020202020204" pitchFamily="34" charset="0"/>
            </a:endParaRPr>
          </a:p>
        </p:txBody>
      </p:sp>
      <p:sp>
        <p:nvSpPr>
          <p:cNvPr id="81" name="Shape 76"/>
          <p:cNvSpPr/>
          <p:nvPr/>
        </p:nvSpPr>
        <p:spPr>
          <a:xfrm>
            <a:off x="21506548" y="3511042"/>
            <a:ext cx="10252710" cy="1302055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82" name="Shape 77"/>
          <p:cNvSpPr/>
          <p:nvPr/>
        </p:nvSpPr>
        <p:spPr>
          <a:xfrm>
            <a:off x="21506548" y="3511042"/>
            <a:ext cx="10252710" cy="603504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83" name="Text 78"/>
          <p:cNvSpPr/>
          <p:nvPr/>
        </p:nvSpPr>
        <p:spPr>
          <a:xfrm>
            <a:off x="21570556" y="3541073"/>
            <a:ext cx="99235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84" name="Text 79"/>
          <p:cNvSpPr/>
          <p:nvPr/>
        </p:nvSpPr>
        <p:spPr>
          <a:xfrm>
            <a:off x="21707716" y="4134106"/>
            <a:ext cx="9795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Pooled out-of-fold metrics, 5-fold CV, on 3,000 borrowers (all models):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87" name="Text 80"/>
          <p:cNvSpPr/>
          <p:nvPr/>
        </p:nvSpPr>
        <p:spPr>
          <a:xfrm>
            <a:off x="23702251" y="12765273"/>
            <a:ext cx="9795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Pooled out-of-fold metrics across all nine model configurations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88" name="Text 81"/>
          <p:cNvSpPr/>
          <p:nvPr/>
        </p:nvSpPr>
        <p:spPr>
          <a:xfrm>
            <a:off x="21821455" y="14858194"/>
            <a:ext cx="9795510" cy="1316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All eight model configurations exceeded the ROC-AUC ≥ 0.80 objective (0.836–0.889) therefore </a:t>
            </a:r>
            <a:r>
              <a:rPr lang="en-US" sz="2100" b="1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localised features carry real predictive signal.</a:t>
            </a:r>
            <a:endParaRPr lang="en-US" sz="2100" b="1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Hybrid LSTM-FNN had the highest accuracy.</a:t>
            </a:r>
            <a:endParaRPr lang="en-US" sz="2100" dirty="0">
              <a:latin typeface="Trebuchet MS" panose="020B0603020202020204" pitchFamily="34" charset="0"/>
            </a:endParaRPr>
          </a:p>
        </p:txBody>
      </p:sp>
      <p:sp>
        <p:nvSpPr>
          <p:cNvPr id="89" name="Shape 82"/>
          <p:cNvSpPr/>
          <p:nvPr/>
        </p:nvSpPr>
        <p:spPr>
          <a:xfrm>
            <a:off x="21592855" y="16796220"/>
            <a:ext cx="10252710" cy="129827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94" name="Text 86"/>
          <p:cNvSpPr/>
          <p:nvPr/>
        </p:nvSpPr>
        <p:spPr>
          <a:xfrm>
            <a:off x="23702251" y="22641270"/>
            <a:ext cx="9795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Precision-recall curves, all models vs. random baseline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96" name="Shape 88"/>
          <p:cNvSpPr/>
          <p:nvPr/>
        </p:nvSpPr>
        <p:spPr>
          <a:xfrm>
            <a:off x="32063053" y="3531030"/>
            <a:ext cx="10252710" cy="2009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102" name="Text 92"/>
          <p:cNvSpPr/>
          <p:nvPr/>
        </p:nvSpPr>
        <p:spPr>
          <a:xfrm>
            <a:off x="32763003" y="12561346"/>
            <a:ext cx="47605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IG feature importance (Hybrid model)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103" name="Text 93"/>
          <p:cNvSpPr/>
          <p:nvPr/>
        </p:nvSpPr>
        <p:spPr>
          <a:xfrm>
            <a:off x="37474906" y="12629604"/>
            <a:ext cx="47605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PCA of fused embedding space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97" name="Shape 89"/>
          <p:cNvSpPr/>
          <p:nvPr/>
        </p:nvSpPr>
        <p:spPr>
          <a:xfrm>
            <a:off x="32017333" y="3538846"/>
            <a:ext cx="10252710" cy="6035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G">
              <a:latin typeface="Trebuchet MS" panose="020B0603020202020204" pitchFamily="34" charset="0"/>
            </a:endParaRPr>
          </a:p>
        </p:txBody>
      </p:sp>
      <p:sp>
        <p:nvSpPr>
          <p:cNvPr id="98" name="Text 90"/>
          <p:cNvSpPr/>
          <p:nvPr/>
        </p:nvSpPr>
        <p:spPr>
          <a:xfrm>
            <a:off x="32181925" y="3538846"/>
            <a:ext cx="99235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Areas of Improvement: Interpretability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99" name="Text 91"/>
          <p:cNvSpPr/>
          <p:nvPr/>
        </p:nvSpPr>
        <p:spPr>
          <a:xfrm>
            <a:off x="32245933" y="4361806"/>
            <a:ext cx="979551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Moved beyond SHAP to Integrated Gradients (IG) — per-feature, per-month attributions for every borrower, showing exactly what the model “looks at” when predicting default risk.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Added and benchmarked two new architectures: a Transformer-Encoder Hybrid (self-attention over the 12-month sequence) and a Cross-Attention Fusion Hybrid (temporal &amp; static streams attend to each other directly).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pic>
        <p:nvPicPr>
          <p:cNvPr id="100" name="Image 4" descr="assets/ig_feature_importance_hyb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8350" y="7724155"/>
            <a:ext cx="4293639" cy="4760595"/>
          </a:xfrm>
          <a:prstGeom prst="rect">
            <a:avLst/>
          </a:prstGeom>
        </p:spPr>
      </p:pic>
      <p:pic>
        <p:nvPicPr>
          <p:cNvPr id="101" name="Image 5" descr="assets/embedding_pca_hyb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8877" y="8517587"/>
            <a:ext cx="4760595" cy="3967163"/>
          </a:xfrm>
          <a:prstGeom prst="rect">
            <a:avLst/>
          </a:prstGeom>
        </p:spPr>
      </p:pic>
      <p:sp>
        <p:nvSpPr>
          <p:cNvPr id="104" name="Text 94"/>
          <p:cNvSpPr/>
          <p:nvPr/>
        </p:nvSpPr>
        <p:spPr>
          <a:xfrm>
            <a:off x="32200213" y="13464687"/>
            <a:ext cx="979551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IG confirms the localisation hypothesis: financial_stability_score, average_inflow, average_balance, average_outflow, behaviour_score and income_regularity drive almost all attributions in both the Hybrid and Transformer models.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Unexpected finding: discrete seasonal flags (harvest, dry season, school-fees, Christmas) contributed ~zero attribution — the composite scores already absorb their signal. Future work should fold seasonality directly into the composite scores rather than as separate dummy flags.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pic>
        <p:nvPicPr>
          <p:cNvPr id="106" name="Image 6" descr="assets/attention_heatmap_hyb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13950" y="18025518"/>
            <a:ext cx="4463508" cy="5021446"/>
          </a:xfrm>
          <a:prstGeom prst="rect">
            <a:avLst/>
          </a:prstGeom>
        </p:spPr>
      </p:pic>
      <p:sp>
        <p:nvSpPr>
          <p:cNvPr id="107" name="Text 96"/>
          <p:cNvSpPr/>
          <p:nvPr/>
        </p:nvSpPr>
        <p:spPr>
          <a:xfrm>
            <a:off x="32178595" y="17673385"/>
            <a:ext cx="5229454" cy="4848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Attention-by-month heatmaps 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show defaulting borrowers draw sharply higher attention in specific months versus non-defaulters, whose attention stays flat across the year — evidence the network is learning a meaningful risk signal, not memorising noise. This is echoed in the fused-embedding PCA above, where defaulters and non-defaulters form partially separable clusters.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08" name="Text 97"/>
          <p:cNvSpPr/>
          <p:nvPr/>
        </p:nvSpPr>
        <p:spPr>
          <a:xfrm>
            <a:off x="37241467" y="23261110"/>
            <a:ext cx="431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Per-borrower attention received, by month (Hybrid)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111" name="Text 100"/>
          <p:cNvSpPr/>
          <p:nvPr/>
        </p:nvSpPr>
        <p:spPr>
          <a:xfrm>
            <a:off x="34339009" y="21286006"/>
            <a:ext cx="294817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112" name="Text 101"/>
          <p:cNvSpPr/>
          <p:nvPr/>
        </p:nvSpPr>
        <p:spPr>
          <a:xfrm>
            <a:off x="34384729" y="22273558"/>
            <a:ext cx="285673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endParaRPr lang="en-US" sz="1080" dirty="0">
              <a:latin typeface="Trebuchet MS" panose="020B0603020202020204" pitchFamily="34" charset="0"/>
            </a:endParaRPr>
          </a:p>
        </p:txBody>
      </p:sp>
      <p:sp>
        <p:nvSpPr>
          <p:cNvPr id="114" name="Text 103"/>
          <p:cNvSpPr/>
          <p:nvPr/>
        </p:nvSpPr>
        <p:spPr>
          <a:xfrm>
            <a:off x="37671235" y="21286006"/>
            <a:ext cx="294817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115" name="Text 104"/>
          <p:cNvSpPr/>
          <p:nvPr/>
        </p:nvSpPr>
        <p:spPr>
          <a:xfrm>
            <a:off x="37716955" y="22273558"/>
            <a:ext cx="285673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endParaRPr lang="en-US" sz="1080" dirty="0">
              <a:latin typeface="Trebuchet MS" panose="020B0603020202020204" pitchFamily="34" charset="0"/>
            </a:endParaRPr>
          </a:p>
        </p:txBody>
      </p:sp>
      <p:sp>
        <p:nvSpPr>
          <p:cNvPr id="117" name="Text 106"/>
          <p:cNvSpPr/>
          <p:nvPr/>
        </p:nvSpPr>
        <p:spPr>
          <a:xfrm>
            <a:off x="41003461" y="21286006"/>
            <a:ext cx="294817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118" name="Text 107"/>
          <p:cNvSpPr/>
          <p:nvPr/>
        </p:nvSpPr>
        <p:spPr>
          <a:xfrm>
            <a:off x="41049181" y="22273558"/>
            <a:ext cx="285673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endParaRPr lang="en-US" sz="1080" dirty="0">
              <a:latin typeface="Trebuchet MS" panose="020B0603020202020204" pitchFamily="34" charset="0"/>
            </a:endParaRPr>
          </a:p>
        </p:txBody>
      </p:sp>
      <p:sp>
        <p:nvSpPr>
          <p:cNvPr id="119" name="Text 108"/>
          <p:cNvSpPr/>
          <p:nvPr/>
        </p:nvSpPr>
        <p:spPr>
          <a:xfrm>
            <a:off x="34247569" y="23325118"/>
            <a:ext cx="97955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230" dirty="0">
              <a:latin typeface="Trebuchet MS" panose="020B0603020202020204" pitchFamily="34" charset="0"/>
            </a:endParaRPr>
          </a:p>
        </p:txBody>
      </p:sp>
      <p:sp>
        <p:nvSpPr>
          <p:cNvPr id="120" name="Shape 109"/>
          <p:cNvSpPr/>
          <p:nvPr/>
        </p:nvSpPr>
        <p:spPr>
          <a:xfrm>
            <a:off x="591427" y="23555669"/>
            <a:ext cx="10252710" cy="533365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>
              <a:latin typeface="Trebuchet MS" panose="020B0603020202020204" pitchFamily="34" charset="0"/>
            </a:endParaRPr>
          </a:p>
        </p:txBody>
      </p:sp>
      <p:sp>
        <p:nvSpPr>
          <p:cNvPr id="121" name="Shape 110"/>
          <p:cNvSpPr/>
          <p:nvPr/>
        </p:nvSpPr>
        <p:spPr>
          <a:xfrm>
            <a:off x="591427" y="23555669"/>
            <a:ext cx="10252710" cy="893455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122" name="Text 111"/>
          <p:cNvSpPr/>
          <p:nvPr/>
        </p:nvSpPr>
        <p:spPr>
          <a:xfrm>
            <a:off x="713996" y="23555669"/>
            <a:ext cx="10007571" cy="89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Conclusions &amp; Next Steps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123" name="Text 112"/>
          <p:cNvSpPr/>
          <p:nvPr/>
        </p:nvSpPr>
        <p:spPr>
          <a:xfrm>
            <a:off x="741235" y="24746942"/>
            <a:ext cx="9953096" cy="404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Deep learning's underperformance in Ugandan MFIs stems mainly from severe class imbalance and lack of localisation/explainability, not model complexity, a resolvable combination, not a fundamental limit.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Next: formalise data-sharing with more Tier II/III MFI partners to grow the defaulter sample beyond n=70; deploy a threshold/SMOTE-tuned model behind the IG explainability layer in a loan-officer user study; fold seasonal signal into composite scores.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24" name="Shape 113"/>
          <p:cNvSpPr/>
          <p:nvPr/>
        </p:nvSpPr>
        <p:spPr>
          <a:xfrm>
            <a:off x="10962129" y="25616146"/>
            <a:ext cx="10252710" cy="416281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 dirty="0">
              <a:latin typeface="Trebuchet MS" panose="020B0603020202020204" pitchFamily="34" charset="0"/>
            </a:endParaRPr>
          </a:p>
        </p:txBody>
      </p:sp>
      <p:sp>
        <p:nvSpPr>
          <p:cNvPr id="128" name="Shape 117"/>
          <p:cNvSpPr/>
          <p:nvPr/>
        </p:nvSpPr>
        <p:spPr>
          <a:xfrm>
            <a:off x="32085009" y="23814778"/>
            <a:ext cx="9795509" cy="489357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G">
              <a:latin typeface="Trebuchet MS" panose="020B0603020202020204" pitchFamily="34" charset="0"/>
            </a:endParaRPr>
          </a:p>
        </p:txBody>
      </p:sp>
      <p:sp>
        <p:nvSpPr>
          <p:cNvPr id="130" name="Text 119"/>
          <p:cNvSpPr/>
          <p:nvPr/>
        </p:nvSpPr>
        <p:spPr>
          <a:xfrm>
            <a:off x="30668455" y="26453338"/>
            <a:ext cx="13438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Additional Information</a:t>
            </a:r>
            <a:endParaRPr lang="en-US" sz="1700" dirty="0">
              <a:latin typeface="Trebuchet MS" panose="020B0603020202020204" pitchFamily="34" charset="0"/>
            </a:endParaRPr>
          </a:p>
        </p:txBody>
      </p:sp>
      <p:sp>
        <p:nvSpPr>
          <p:cNvPr id="129" name="Shape 118"/>
          <p:cNvSpPr/>
          <p:nvPr/>
        </p:nvSpPr>
        <p:spPr>
          <a:xfrm>
            <a:off x="32085010" y="23829229"/>
            <a:ext cx="9756419" cy="735649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</a:rPr>
              <a:t>Other information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131" name="Text 120"/>
          <p:cNvSpPr/>
          <p:nvPr/>
        </p:nvSpPr>
        <p:spPr>
          <a:xfrm>
            <a:off x="32284175" y="24715065"/>
            <a:ext cx="9049741" cy="242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anose="020B0603020202020204" pitchFamily="34" charset="0"/>
              </a:rPr>
              <a:t>Contacts       </a:t>
            </a:r>
          </a:p>
          <a:p>
            <a:pPr marL="0" indent="0">
              <a:lnSpc>
                <a:spcPct val="12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</a:rPr>
              <a:t>Email: 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hlinkClick r:id="rId8"/>
              </a:rPr>
              <a:t>charisopol@gmail.com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</a:rPr>
              <a:t>	Phone: 0765821211
</a:t>
            </a:r>
            <a:r>
              <a:rPr lang="en-US" sz="2400" b="1" dirty="0">
                <a:solidFill>
                  <a:srgbClr val="1A1A1A"/>
                </a:solidFill>
                <a:latin typeface="Trebuchet MS" panose="020B0603020202020204" pitchFamily="34" charset="0"/>
              </a:rPr>
              <a:t>Key References
</a:t>
            </a: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</a:rPr>
              <a:t>1. J. Huang, J. Chai, and S. Cho, “Deep learning in finance and banking: A literature review and classification.”
2. M. A. Rafi, S. M. I. Shaboj, M. K. Miah, I. Rasul, M. R. Islam, and A. Ahmed, “Explainable AI for credit risk assessment: A data-driven approach to transparent lending decisions.”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10886180" y="3511042"/>
            <a:ext cx="10252710" cy="603504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>
              <a:latin typeface="Trebuchet MS" panose="020B0603020202020204" pitchFamily="34" charset="0"/>
            </a:endParaRPr>
          </a:p>
          <a:p>
            <a:endParaRPr lang="en-UG" sz="3000" dirty="0">
              <a:latin typeface="Trebuchet MS" panose="020B0603020202020204" pitchFamily="34" charset="0"/>
            </a:endParaRP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4436C311-5BEF-E12E-B4E9-5E27D437AC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6774" y="4151578"/>
            <a:ext cx="10252710" cy="7689533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296DF68C-F6FA-CCD5-0048-A5FFBBC461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52268" y="9204669"/>
            <a:ext cx="9523348" cy="5714009"/>
          </a:xfrm>
          <a:prstGeom prst="rect">
            <a:avLst/>
          </a:prstGeom>
        </p:spPr>
      </p:pic>
      <p:graphicFrame>
        <p:nvGraphicFramePr>
          <p:cNvPr id="147" name="Table 146">
            <a:extLst>
              <a:ext uri="{FF2B5EF4-FFF2-40B4-BE49-F238E27FC236}">
                <a16:creationId xmlns:a16="http://schemas.microsoft.com/office/drawing/2014/main" id="{8682BF91-3F88-41FC-F03C-717382008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382395"/>
              </p:ext>
            </p:extLst>
          </p:nvPr>
        </p:nvGraphicFramePr>
        <p:xfrm>
          <a:off x="21724721" y="4893534"/>
          <a:ext cx="9795513" cy="3661794"/>
        </p:xfrm>
        <a:graphic>
          <a:graphicData uri="http://schemas.openxmlformats.org/drawingml/2006/table">
            <a:tbl>
              <a:tblPr/>
              <a:tblGrid>
                <a:gridCol w="1399359">
                  <a:extLst>
                    <a:ext uri="{9D8B030D-6E8A-4147-A177-3AD203B41FA5}">
                      <a16:colId xmlns:a16="http://schemas.microsoft.com/office/drawing/2014/main" val="2164296859"/>
                    </a:ext>
                  </a:extLst>
                </a:gridCol>
                <a:gridCol w="1399359">
                  <a:extLst>
                    <a:ext uri="{9D8B030D-6E8A-4147-A177-3AD203B41FA5}">
                      <a16:colId xmlns:a16="http://schemas.microsoft.com/office/drawing/2014/main" val="2140312184"/>
                    </a:ext>
                  </a:extLst>
                </a:gridCol>
                <a:gridCol w="1399359">
                  <a:extLst>
                    <a:ext uri="{9D8B030D-6E8A-4147-A177-3AD203B41FA5}">
                      <a16:colId xmlns:a16="http://schemas.microsoft.com/office/drawing/2014/main" val="4234376391"/>
                    </a:ext>
                  </a:extLst>
                </a:gridCol>
                <a:gridCol w="1399359">
                  <a:extLst>
                    <a:ext uri="{9D8B030D-6E8A-4147-A177-3AD203B41FA5}">
                      <a16:colId xmlns:a16="http://schemas.microsoft.com/office/drawing/2014/main" val="2453701041"/>
                    </a:ext>
                  </a:extLst>
                </a:gridCol>
                <a:gridCol w="1399359">
                  <a:extLst>
                    <a:ext uri="{9D8B030D-6E8A-4147-A177-3AD203B41FA5}">
                      <a16:colId xmlns:a16="http://schemas.microsoft.com/office/drawing/2014/main" val="1005156062"/>
                    </a:ext>
                  </a:extLst>
                </a:gridCol>
                <a:gridCol w="1399359">
                  <a:extLst>
                    <a:ext uri="{9D8B030D-6E8A-4147-A177-3AD203B41FA5}">
                      <a16:colId xmlns:a16="http://schemas.microsoft.com/office/drawing/2014/main" val="2524974803"/>
                    </a:ext>
                  </a:extLst>
                </a:gridCol>
                <a:gridCol w="1399359">
                  <a:extLst>
                    <a:ext uri="{9D8B030D-6E8A-4147-A177-3AD203B41FA5}">
                      <a16:colId xmlns:a16="http://schemas.microsoft.com/office/drawing/2014/main" val="62890028"/>
                    </a:ext>
                  </a:extLst>
                </a:gridCol>
              </a:tblGrid>
              <a:tr h="28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F1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Avg. 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066538"/>
                  </a:ext>
                </a:extLst>
              </a:tr>
              <a:tr h="28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b="1"/>
                        <a:t>XGBoost</a:t>
                      </a:r>
                      <a:endParaRPr lang="en-UG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b="1"/>
                        <a:t>91.23%</a:t>
                      </a:r>
                      <a:endParaRPr lang="en-UG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b="1"/>
                        <a:t>13.31%</a:t>
                      </a:r>
                      <a:endParaRPr lang="en-UG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50.00%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b="1"/>
                        <a:t>0.210</a:t>
                      </a:r>
                      <a:endParaRPr lang="en-UG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b="1"/>
                        <a:t>0.122</a:t>
                      </a:r>
                      <a:endParaRPr lang="en-UG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b="1"/>
                        <a:t>0.887</a:t>
                      </a:r>
                      <a:endParaRPr lang="en-UG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133189"/>
                  </a:ext>
                </a:extLst>
              </a:tr>
              <a:tr h="479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Transformer-Encoder Hybrid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92.00%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12.05%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38.57%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0.184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0.875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251579"/>
                  </a:ext>
                </a:extLst>
              </a:tr>
              <a:tr h="479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91.77%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11.69%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38.57%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0.179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0.859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403624"/>
                  </a:ext>
                </a:extLst>
              </a:tr>
              <a:tr h="479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Cross-Pollinated Reverse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87.03%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10.22%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b="1"/>
                        <a:t>58.57%</a:t>
                      </a:r>
                      <a:endParaRPr lang="en-UG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0.174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0.112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0.862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751162"/>
                  </a:ext>
                </a:extLst>
              </a:tr>
              <a:tr h="674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Hybrid LSTM-Attention-FNN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b="1"/>
                        <a:t>92.33%</a:t>
                      </a:r>
                      <a:endParaRPr lang="en-UG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11.54%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34.29%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0.173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0.102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0.863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81424"/>
                  </a:ext>
                </a:extLst>
              </a:tr>
              <a:tr h="28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Cross-Pollinated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90.33%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10.43%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41.43%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0.167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0.086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0.856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211522"/>
                  </a:ext>
                </a:extLst>
              </a:tr>
              <a:tr h="479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Cross-Attention Fusion Hybrid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86.90%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9.32%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/>
                        <a:t>52.86%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0.159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0.083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1400" dirty="0"/>
                        <a:t>0.858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033322"/>
                  </a:ext>
                </a:extLst>
              </a:tr>
            </a:tbl>
          </a:graphicData>
        </a:graphic>
      </p:graphicFrame>
      <p:sp>
        <p:nvSpPr>
          <p:cNvPr id="90" name="Shape 83"/>
          <p:cNvSpPr/>
          <p:nvPr/>
        </p:nvSpPr>
        <p:spPr>
          <a:xfrm>
            <a:off x="21560129" y="16833347"/>
            <a:ext cx="10252710" cy="789417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G">
              <a:latin typeface="Trebuchet MS" panose="020B0603020202020204" pitchFamily="34" charset="0"/>
            </a:endParaRPr>
          </a:p>
        </p:txBody>
      </p:sp>
      <p:sp>
        <p:nvSpPr>
          <p:cNvPr id="91" name="Text 84"/>
          <p:cNvSpPr/>
          <p:nvPr/>
        </p:nvSpPr>
        <p:spPr>
          <a:xfrm>
            <a:off x="21724721" y="16833347"/>
            <a:ext cx="9923526" cy="789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92" name="Text 85"/>
          <p:cNvSpPr/>
          <p:nvPr/>
        </p:nvSpPr>
        <p:spPr>
          <a:xfrm>
            <a:off x="21788729" y="17909825"/>
            <a:ext cx="9795510" cy="119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The single biggest challenge was severe class imbalance: only 70 of 3,000 borrowers (2.33%) defaulted. Every model therefore reached deceptively high accuracy (91–93%) simply by predicting “no default” most of the time, while precision stayed low (0.09–0.23), most flagged high-risk borrowers were false alarms.</a:t>
            </a: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solidFill>
                <a:srgbClr val="1A1A1A"/>
              </a:solidFill>
              <a:latin typeface="Trebuchet MS" panose="020B0603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22000"/>
              </a:lnSpc>
              <a:buNone/>
            </a:pP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95" name="Text 87"/>
          <p:cNvSpPr/>
          <p:nvPr/>
        </p:nvSpPr>
        <p:spPr>
          <a:xfrm>
            <a:off x="21788729" y="26229310"/>
            <a:ext cx="9795510" cy="373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Accuracy alone is unusable here.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Precision-recall curves show every model well above the random baseline (AP 0.023) but rarely above 0.20–0.25 precision at usable recall.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254000" indent="-2540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Lesson: the F1 ≥ 0.75 target set at proposal stage was unrealistic for a ~2% base rate, average precision and lift-over-random are more honest benchmarks going forward.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pic>
        <p:nvPicPr>
          <p:cNvPr id="149" name="Picture 148">
            <a:extLst>
              <a:ext uri="{FF2B5EF4-FFF2-40B4-BE49-F238E27FC236}">
                <a16:creationId xmlns:a16="http://schemas.microsoft.com/office/drawing/2014/main" id="{73E4AF83-1CE4-728B-5FE5-155BFB7578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33132" y="20440788"/>
            <a:ext cx="8579738" cy="5345038"/>
          </a:xfrm>
          <a:prstGeom prst="rect">
            <a:avLst/>
          </a:prstGeom>
        </p:spPr>
      </p:pic>
      <p:sp>
        <p:nvSpPr>
          <p:cNvPr id="164" name="Shape 114">
            <a:extLst>
              <a:ext uri="{FF2B5EF4-FFF2-40B4-BE49-F238E27FC236}">
                <a16:creationId xmlns:a16="http://schemas.microsoft.com/office/drawing/2014/main" id="{0A6F5309-6EDC-0FD6-DDB7-B165B61BDEF6}"/>
              </a:ext>
            </a:extLst>
          </p:cNvPr>
          <p:cNvSpPr/>
          <p:nvPr/>
        </p:nvSpPr>
        <p:spPr>
          <a:xfrm>
            <a:off x="10962129" y="25424638"/>
            <a:ext cx="10252710" cy="6035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G">
              <a:latin typeface="Trebuchet MS" panose="020B0603020202020204" pitchFamily="34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DCC7DFF-EE8C-ECA8-33AC-CFA982E6B6C9}"/>
              </a:ext>
            </a:extLst>
          </p:cNvPr>
          <p:cNvGrpSpPr/>
          <p:nvPr/>
        </p:nvGrpSpPr>
        <p:grpSpPr>
          <a:xfrm>
            <a:off x="11084698" y="25424638"/>
            <a:ext cx="10007571" cy="3538728"/>
            <a:chOff x="17050766" y="26453338"/>
            <a:chExt cx="13438632" cy="3538728"/>
          </a:xfrm>
        </p:grpSpPr>
        <p:sp>
          <p:nvSpPr>
            <p:cNvPr id="166" name="Text 115">
              <a:extLst>
                <a:ext uri="{FF2B5EF4-FFF2-40B4-BE49-F238E27FC236}">
                  <a16:creationId xmlns:a16="http://schemas.microsoft.com/office/drawing/2014/main" id="{1AB22E8B-DF7B-EAE0-E7EA-1F3350F769F0}"/>
                </a:ext>
              </a:extLst>
            </p:cNvPr>
            <p:cNvSpPr/>
            <p:nvPr/>
          </p:nvSpPr>
          <p:spPr>
            <a:xfrm>
              <a:off x="17050766" y="26453338"/>
              <a:ext cx="13438632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Trebuchet MS" panose="020B0603020202020204" pitchFamily="34" charset="0"/>
                  <a:ea typeface="Cambria" pitchFamily="34" charset="-122"/>
                  <a:cs typeface="Cambria" pitchFamily="34" charset="-120"/>
                </a:rPr>
                <a:t>Alignment with National &amp; Global Agenda</a:t>
              </a:r>
              <a:endParaRPr lang="en-US" sz="3000" dirty="0">
                <a:latin typeface="Trebuchet MS" panose="020B0603020202020204" pitchFamily="34" charset="0"/>
              </a:endParaRPr>
            </a:p>
          </p:txBody>
        </p:sp>
        <p:sp>
          <p:nvSpPr>
            <p:cNvPr id="167" name="Text 116">
              <a:extLst>
                <a:ext uri="{FF2B5EF4-FFF2-40B4-BE49-F238E27FC236}">
                  <a16:creationId xmlns:a16="http://schemas.microsoft.com/office/drawing/2014/main" id="{4AAB53E3-D55F-4271-F145-F78E551B624B}"/>
                </a:ext>
              </a:extLst>
            </p:cNvPr>
            <p:cNvSpPr/>
            <p:nvPr/>
          </p:nvSpPr>
          <p:spPr>
            <a:xfrm>
              <a:off x="17087342" y="27258010"/>
              <a:ext cx="13365480" cy="2734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54000" indent="-254000">
                <a:lnSpc>
                  <a:spcPct val="118000"/>
                </a:lnSpc>
                <a:buSzPct val="100000"/>
                <a:buChar char="•"/>
              </a:pPr>
              <a:r>
                <a:rPr lang="en-US" sz="2400" b="1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AI &amp; Robotics Specialisation: </a:t>
              </a:r>
              <a:r>
                <a:rPr lang="en-US" sz="2400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applies deep learning, neural architecture design, and attention-based explainability.</a:t>
              </a:r>
              <a:endParaRPr lang="en-US" sz="2400" dirty="0">
                <a:latin typeface="Trebuchet MS" panose="020B0603020202020204" pitchFamily="34" charset="0"/>
              </a:endParaRPr>
            </a:p>
            <a:p>
              <a:pPr marL="254000" indent="-254000">
                <a:lnSpc>
                  <a:spcPct val="118000"/>
                </a:lnSpc>
                <a:buSzPct val="100000"/>
                <a:buChar char="•"/>
              </a:pPr>
              <a:r>
                <a:rPr lang="en-US" sz="2400" b="1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SDG 8 — Decent Work &amp; Economic Growth: </a:t>
              </a:r>
              <a:r>
                <a:rPr lang="en-US" sz="2400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enables MFIs to responsibly extend credit to the informal sector.</a:t>
              </a:r>
              <a:endParaRPr lang="en-US" sz="2400" dirty="0">
                <a:latin typeface="Trebuchet MS" panose="020B0603020202020204" pitchFamily="34" charset="0"/>
              </a:endParaRPr>
            </a:p>
            <a:p>
              <a:pPr marL="254000" indent="-254000">
                <a:lnSpc>
                  <a:spcPct val="118000"/>
                </a:lnSpc>
                <a:buSzPct val="100000"/>
                <a:buChar char="•"/>
              </a:pPr>
              <a:r>
                <a:rPr lang="en-US" sz="2400" b="1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SDG 9 — Industry, Innovation &amp; Infrastructure: </a:t>
              </a:r>
              <a:r>
                <a:rPr lang="en-US" sz="2400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delivers locally-built AI infrastructure for Uganda's financial sector.</a:t>
              </a:r>
              <a:endParaRPr lang="en-US" sz="2400" dirty="0">
                <a:latin typeface="Trebuchet MS" panose="020B0603020202020204" pitchFamily="34" charset="0"/>
              </a:endParaRPr>
            </a:p>
            <a:p>
              <a:pPr marL="254000" indent="-254000">
                <a:lnSpc>
                  <a:spcPct val="118000"/>
                </a:lnSpc>
                <a:buSzPct val="100000"/>
                <a:buChar char="•"/>
              </a:pPr>
              <a:r>
                <a:rPr lang="en-US" sz="2400" b="1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NDP IV &amp; Uganda Vision 2040: </a:t>
              </a:r>
              <a:r>
                <a:rPr lang="en-US" sz="2400" dirty="0">
                  <a:solidFill>
                    <a:srgbClr val="1A1A1A"/>
                  </a:solidFill>
                  <a:latin typeface="Trebuchet MS" panose="020B0603020202020204" pitchFamily="34" charset="0"/>
                  <a:ea typeface="Calibri" pitchFamily="34" charset="-122"/>
                  <a:cs typeface="Calibri" pitchFamily="34" charset="-120"/>
                </a:rPr>
                <a:t>supports the 100% financial-inclusion target by 2029/30.</a:t>
              </a:r>
              <a:endParaRPr lang="en-US" sz="2400" dirty="0">
                <a:latin typeface="Trebuchet MS" panose="020B0603020202020204" pitchFamily="34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1344</Words>
  <Application>Microsoft Office PowerPoint</Application>
  <PresentationFormat>Custom</PresentationFormat>
  <Paragraphs>134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Charis Opol</cp:lastModifiedBy>
  <cp:revision>4</cp:revision>
  <dcterms:created xsi:type="dcterms:W3CDTF">2026-08-20T09:08:08Z</dcterms:created>
  <dcterms:modified xsi:type="dcterms:W3CDTF">2026-08-29T18:09:06Z</dcterms:modified>
</cp:coreProperties>
</file>