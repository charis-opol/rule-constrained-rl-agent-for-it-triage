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42803763" cy="30275213"/>
  <p:notesSz cx="6858000" cy="9144000"/>
  <p:defaultText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CE5B7-F2C6-2A51-385B-4E481054ABBE}"/>
              </a:ext>
            </a:extLst>
          </p:cNvPr>
          <p:cNvSpPr>
            <a:spLocks noGrp="1"/>
          </p:cNvSpPr>
          <p:nvPr>
            <p:ph type="ctrTitle"/>
          </p:nvPr>
        </p:nvSpPr>
        <p:spPr>
          <a:xfrm>
            <a:off x="5350471" y="4954765"/>
            <a:ext cx="32102822" cy="10540259"/>
          </a:xfrm>
        </p:spPr>
        <p:txBody>
          <a:bodyPr anchor="b"/>
          <a:lstStyle>
            <a:lvl1pPr algn="ctr">
              <a:defRPr sz="6000"/>
            </a:lvl1pPr>
          </a:lstStyle>
          <a:p>
            <a:r>
              <a:rPr lang="en-US"/>
              <a:t>Click to edit Master title style</a:t>
            </a:r>
            <a:endParaRPr lang="en-UG"/>
          </a:p>
        </p:txBody>
      </p:sp>
      <p:sp>
        <p:nvSpPr>
          <p:cNvPr id="3" name="Subtitle 2">
            <a:extLst>
              <a:ext uri="{FF2B5EF4-FFF2-40B4-BE49-F238E27FC236}">
                <a16:creationId xmlns:a16="http://schemas.microsoft.com/office/drawing/2014/main" id="{5FDD8D37-1F1A-E984-0819-E011E082A120}"/>
              </a:ext>
            </a:extLst>
          </p:cNvPr>
          <p:cNvSpPr>
            <a:spLocks noGrp="1"/>
          </p:cNvSpPr>
          <p:nvPr>
            <p:ph type="subTitle" idx="1"/>
          </p:nvPr>
        </p:nvSpPr>
        <p:spPr>
          <a:xfrm>
            <a:off x="5350471" y="15901497"/>
            <a:ext cx="32102822" cy="730949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G"/>
          </a:p>
        </p:txBody>
      </p:sp>
      <p:sp>
        <p:nvSpPr>
          <p:cNvPr id="4" name="Date Placeholder 3">
            <a:extLst>
              <a:ext uri="{FF2B5EF4-FFF2-40B4-BE49-F238E27FC236}">
                <a16:creationId xmlns:a16="http://schemas.microsoft.com/office/drawing/2014/main" id="{ACE4862E-0183-2025-58B4-6D78ECFA9BFB}"/>
              </a:ext>
            </a:extLst>
          </p:cNvPr>
          <p:cNvSpPr>
            <a:spLocks noGrp="1"/>
          </p:cNvSpPr>
          <p:nvPr>
            <p:ph type="dt" sz="half" idx="10"/>
          </p:nvPr>
        </p:nvSpPr>
        <p:spPr/>
        <p:txBody>
          <a:bodyPr/>
          <a:lstStyle/>
          <a:p>
            <a:fld id="{531CCE59-12AB-4B9B-B112-5E809012DA71}" type="datetimeFigureOut">
              <a:rPr lang="en-UG" smtClean="0"/>
              <a:t>24/10/2026</a:t>
            </a:fld>
            <a:endParaRPr lang="en-UG"/>
          </a:p>
        </p:txBody>
      </p:sp>
      <p:sp>
        <p:nvSpPr>
          <p:cNvPr id="5" name="Footer Placeholder 4">
            <a:extLst>
              <a:ext uri="{FF2B5EF4-FFF2-40B4-BE49-F238E27FC236}">
                <a16:creationId xmlns:a16="http://schemas.microsoft.com/office/drawing/2014/main" id="{8030EE18-A54F-F76C-D578-A141DA94F71D}"/>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A78BFCB0-1791-6E83-C3D7-789AA40E1453}"/>
              </a:ext>
            </a:extLst>
          </p:cNvPr>
          <p:cNvSpPr>
            <a:spLocks noGrp="1"/>
          </p:cNvSpPr>
          <p:nvPr>
            <p:ph type="sldNum" sz="quarter" idx="12"/>
          </p:nvPr>
        </p:nvSpPr>
        <p:spPr/>
        <p:txBody>
          <a:bodyPr/>
          <a:lstStyle/>
          <a:p>
            <a:fld id="{6D86C1F1-94C7-468A-805D-BC9EA8CEE642}" type="slidenum">
              <a:rPr lang="en-UG" smtClean="0"/>
              <a:t>‹#›</a:t>
            </a:fld>
            <a:endParaRPr lang="en-UG"/>
          </a:p>
        </p:txBody>
      </p:sp>
    </p:spTree>
    <p:extLst>
      <p:ext uri="{BB962C8B-B14F-4D97-AF65-F5344CB8AC3E}">
        <p14:creationId xmlns:p14="http://schemas.microsoft.com/office/powerpoint/2010/main" val="1364279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38BA1-591B-CB54-DD09-151982C489A0}"/>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507977ED-9269-739E-789F-7A115B5A7C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71E5948B-5EE1-EECC-ED20-32728EA4140C}"/>
              </a:ext>
            </a:extLst>
          </p:cNvPr>
          <p:cNvSpPr>
            <a:spLocks noGrp="1"/>
          </p:cNvSpPr>
          <p:nvPr>
            <p:ph type="dt" sz="half" idx="10"/>
          </p:nvPr>
        </p:nvSpPr>
        <p:spPr/>
        <p:txBody>
          <a:bodyPr/>
          <a:lstStyle/>
          <a:p>
            <a:fld id="{531CCE59-12AB-4B9B-B112-5E809012DA71}" type="datetimeFigureOut">
              <a:rPr lang="en-UG" smtClean="0"/>
              <a:t>24/10/2026</a:t>
            </a:fld>
            <a:endParaRPr lang="en-UG"/>
          </a:p>
        </p:txBody>
      </p:sp>
      <p:sp>
        <p:nvSpPr>
          <p:cNvPr id="5" name="Footer Placeholder 4">
            <a:extLst>
              <a:ext uri="{FF2B5EF4-FFF2-40B4-BE49-F238E27FC236}">
                <a16:creationId xmlns:a16="http://schemas.microsoft.com/office/drawing/2014/main" id="{50D25B6F-0834-5A70-507A-FB788D534DAA}"/>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8DAF1EDC-03AE-6C01-51CE-46BFEA8E3F7E}"/>
              </a:ext>
            </a:extLst>
          </p:cNvPr>
          <p:cNvSpPr>
            <a:spLocks noGrp="1"/>
          </p:cNvSpPr>
          <p:nvPr>
            <p:ph type="sldNum" sz="quarter" idx="12"/>
          </p:nvPr>
        </p:nvSpPr>
        <p:spPr/>
        <p:txBody>
          <a:bodyPr/>
          <a:lstStyle/>
          <a:p>
            <a:fld id="{6D86C1F1-94C7-468A-805D-BC9EA8CEE642}" type="slidenum">
              <a:rPr lang="en-UG" smtClean="0"/>
              <a:t>‹#›</a:t>
            </a:fld>
            <a:endParaRPr lang="en-UG"/>
          </a:p>
        </p:txBody>
      </p:sp>
    </p:spTree>
    <p:extLst>
      <p:ext uri="{BB962C8B-B14F-4D97-AF65-F5344CB8AC3E}">
        <p14:creationId xmlns:p14="http://schemas.microsoft.com/office/powerpoint/2010/main" val="1408041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55B96-A2B1-C3F3-0F38-7E4AC5AA2F57}"/>
              </a:ext>
            </a:extLst>
          </p:cNvPr>
          <p:cNvSpPr>
            <a:spLocks noGrp="1"/>
          </p:cNvSpPr>
          <p:nvPr>
            <p:ph type="title"/>
          </p:nvPr>
        </p:nvSpPr>
        <p:spPr>
          <a:xfrm>
            <a:off x="2920465" y="7547788"/>
            <a:ext cx="36918246" cy="12593645"/>
          </a:xfrm>
        </p:spPr>
        <p:txBody>
          <a:bodyPr anchor="b"/>
          <a:lstStyle>
            <a:lvl1pPr>
              <a:defRPr sz="6000"/>
            </a:lvl1pPr>
          </a:lstStyle>
          <a:p>
            <a:r>
              <a:rPr lang="en-US"/>
              <a:t>Click to edit Master title style</a:t>
            </a:r>
            <a:endParaRPr lang="en-UG"/>
          </a:p>
        </p:txBody>
      </p:sp>
      <p:sp>
        <p:nvSpPr>
          <p:cNvPr id="3" name="Text Placeholder 2">
            <a:extLst>
              <a:ext uri="{FF2B5EF4-FFF2-40B4-BE49-F238E27FC236}">
                <a16:creationId xmlns:a16="http://schemas.microsoft.com/office/drawing/2014/main" id="{3E0B82A7-24CA-A06F-A880-30E3093DF8BC}"/>
              </a:ext>
            </a:extLst>
          </p:cNvPr>
          <p:cNvSpPr>
            <a:spLocks noGrp="1"/>
          </p:cNvSpPr>
          <p:nvPr>
            <p:ph type="body" idx="1"/>
          </p:nvPr>
        </p:nvSpPr>
        <p:spPr>
          <a:xfrm>
            <a:off x="2920465" y="20260574"/>
            <a:ext cx="36918246" cy="662270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C85E46-88C4-D3F5-DD13-9290FC13CF05}"/>
              </a:ext>
            </a:extLst>
          </p:cNvPr>
          <p:cNvSpPr>
            <a:spLocks noGrp="1"/>
          </p:cNvSpPr>
          <p:nvPr>
            <p:ph type="dt" sz="half" idx="10"/>
          </p:nvPr>
        </p:nvSpPr>
        <p:spPr/>
        <p:txBody>
          <a:bodyPr/>
          <a:lstStyle/>
          <a:p>
            <a:fld id="{531CCE59-12AB-4B9B-B112-5E809012DA71}" type="datetimeFigureOut">
              <a:rPr lang="en-UG" smtClean="0"/>
              <a:t>24/10/2026</a:t>
            </a:fld>
            <a:endParaRPr lang="en-UG"/>
          </a:p>
        </p:txBody>
      </p:sp>
      <p:sp>
        <p:nvSpPr>
          <p:cNvPr id="5" name="Footer Placeholder 4">
            <a:extLst>
              <a:ext uri="{FF2B5EF4-FFF2-40B4-BE49-F238E27FC236}">
                <a16:creationId xmlns:a16="http://schemas.microsoft.com/office/drawing/2014/main" id="{EDEEC82F-0BD8-49BC-3FD0-09BBF347037C}"/>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A726B8C8-3553-9E52-35E5-F2630FF2FBA6}"/>
              </a:ext>
            </a:extLst>
          </p:cNvPr>
          <p:cNvSpPr>
            <a:spLocks noGrp="1"/>
          </p:cNvSpPr>
          <p:nvPr>
            <p:ph type="sldNum" sz="quarter" idx="12"/>
          </p:nvPr>
        </p:nvSpPr>
        <p:spPr/>
        <p:txBody>
          <a:bodyPr/>
          <a:lstStyle/>
          <a:p>
            <a:fld id="{6D86C1F1-94C7-468A-805D-BC9EA8CEE642}" type="slidenum">
              <a:rPr lang="en-UG" smtClean="0"/>
              <a:t>‹#›</a:t>
            </a:fld>
            <a:endParaRPr lang="en-UG"/>
          </a:p>
        </p:txBody>
      </p:sp>
    </p:spTree>
    <p:extLst>
      <p:ext uri="{BB962C8B-B14F-4D97-AF65-F5344CB8AC3E}">
        <p14:creationId xmlns:p14="http://schemas.microsoft.com/office/powerpoint/2010/main" val="815598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DA194-2AFB-DF25-945A-1F16479EDE90}"/>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805AAC62-EA91-142B-1C7B-1B4FA7B64735}"/>
              </a:ext>
            </a:extLst>
          </p:cNvPr>
          <p:cNvSpPr>
            <a:spLocks noGrp="1"/>
          </p:cNvSpPr>
          <p:nvPr>
            <p:ph sz="half" idx="1"/>
          </p:nvPr>
        </p:nvSpPr>
        <p:spPr>
          <a:xfrm>
            <a:off x="2942759" y="8059374"/>
            <a:ext cx="18191599"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Content Placeholder 3">
            <a:extLst>
              <a:ext uri="{FF2B5EF4-FFF2-40B4-BE49-F238E27FC236}">
                <a16:creationId xmlns:a16="http://schemas.microsoft.com/office/drawing/2014/main" id="{CDE6266F-9F2B-89D9-9610-941E80AB9292}"/>
              </a:ext>
            </a:extLst>
          </p:cNvPr>
          <p:cNvSpPr>
            <a:spLocks noGrp="1"/>
          </p:cNvSpPr>
          <p:nvPr>
            <p:ph sz="half" idx="2"/>
          </p:nvPr>
        </p:nvSpPr>
        <p:spPr>
          <a:xfrm>
            <a:off x="21669406" y="8059374"/>
            <a:ext cx="18191599"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5" name="Date Placeholder 4">
            <a:extLst>
              <a:ext uri="{FF2B5EF4-FFF2-40B4-BE49-F238E27FC236}">
                <a16:creationId xmlns:a16="http://schemas.microsoft.com/office/drawing/2014/main" id="{AD8BD702-5FAD-DF48-F34E-92D7CF9CD2C4}"/>
              </a:ext>
            </a:extLst>
          </p:cNvPr>
          <p:cNvSpPr>
            <a:spLocks noGrp="1"/>
          </p:cNvSpPr>
          <p:nvPr>
            <p:ph type="dt" sz="half" idx="10"/>
          </p:nvPr>
        </p:nvSpPr>
        <p:spPr/>
        <p:txBody>
          <a:bodyPr/>
          <a:lstStyle/>
          <a:p>
            <a:fld id="{531CCE59-12AB-4B9B-B112-5E809012DA71}" type="datetimeFigureOut">
              <a:rPr lang="en-UG" smtClean="0"/>
              <a:t>24/10/2026</a:t>
            </a:fld>
            <a:endParaRPr lang="en-UG"/>
          </a:p>
        </p:txBody>
      </p:sp>
      <p:sp>
        <p:nvSpPr>
          <p:cNvPr id="6" name="Footer Placeholder 5">
            <a:extLst>
              <a:ext uri="{FF2B5EF4-FFF2-40B4-BE49-F238E27FC236}">
                <a16:creationId xmlns:a16="http://schemas.microsoft.com/office/drawing/2014/main" id="{D2B20DBE-E40C-A9F3-4F4A-A2EED3251E81}"/>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ECA3D1D0-928A-74C3-9A7B-F8B38EB472FF}"/>
              </a:ext>
            </a:extLst>
          </p:cNvPr>
          <p:cNvSpPr>
            <a:spLocks noGrp="1"/>
          </p:cNvSpPr>
          <p:nvPr>
            <p:ph type="sldNum" sz="quarter" idx="12"/>
          </p:nvPr>
        </p:nvSpPr>
        <p:spPr/>
        <p:txBody>
          <a:bodyPr/>
          <a:lstStyle/>
          <a:p>
            <a:fld id="{6D86C1F1-94C7-468A-805D-BC9EA8CEE642}" type="slidenum">
              <a:rPr lang="en-UG" smtClean="0"/>
              <a:t>‹#›</a:t>
            </a:fld>
            <a:endParaRPr lang="en-UG"/>
          </a:p>
        </p:txBody>
      </p:sp>
    </p:spTree>
    <p:extLst>
      <p:ext uri="{BB962C8B-B14F-4D97-AF65-F5344CB8AC3E}">
        <p14:creationId xmlns:p14="http://schemas.microsoft.com/office/powerpoint/2010/main" val="1629644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61615-5AD6-DCA1-A831-37D8B9E44C8E}"/>
              </a:ext>
            </a:extLst>
          </p:cNvPr>
          <p:cNvSpPr>
            <a:spLocks noGrp="1"/>
          </p:cNvSpPr>
          <p:nvPr>
            <p:ph type="title"/>
          </p:nvPr>
        </p:nvSpPr>
        <p:spPr>
          <a:xfrm>
            <a:off x="2948334" y="1611882"/>
            <a:ext cx="36918246" cy="5851808"/>
          </a:xfrm>
        </p:spPr>
        <p:txBody>
          <a:bodyPr/>
          <a:lstStyle/>
          <a:p>
            <a:r>
              <a:rPr lang="en-US"/>
              <a:t>Click to edit Master title style</a:t>
            </a:r>
            <a:endParaRPr lang="en-UG"/>
          </a:p>
        </p:txBody>
      </p:sp>
      <p:sp>
        <p:nvSpPr>
          <p:cNvPr id="3" name="Text Placeholder 2">
            <a:extLst>
              <a:ext uri="{FF2B5EF4-FFF2-40B4-BE49-F238E27FC236}">
                <a16:creationId xmlns:a16="http://schemas.microsoft.com/office/drawing/2014/main" id="{2600D9E7-62BF-C8B4-B83C-DB865EFC3948}"/>
              </a:ext>
            </a:extLst>
          </p:cNvPr>
          <p:cNvSpPr>
            <a:spLocks noGrp="1"/>
          </p:cNvSpPr>
          <p:nvPr>
            <p:ph type="body" idx="1"/>
          </p:nvPr>
        </p:nvSpPr>
        <p:spPr>
          <a:xfrm>
            <a:off x="2948336" y="7421634"/>
            <a:ext cx="18107996" cy="36372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2E300-286E-D8B8-2094-1C407FDCC68D}"/>
              </a:ext>
            </a:extLst>
          </p:cNvPr>
          <p:cNvSpPr>
            <a:spLocks noGrp="1"/>
          </p:cNvSpPr>
          <p:nvPr>
            <p:ph sz="half" idx="2"/>
          </p:nvPr>
        </p:nvSpPr>
        <p:spPr>
          <a:xfrm>
            <a:off x="2948336" y="11058863"/>
            <a:ext cx="18107996"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5" name="Text Placeholder 4">
            <a:extLst>
              <a:ext uri="{FF2B5EF4-FFF2-40B4-BE49-F238E27FC236}">
                <a16:creationId xmlns:a16="http://schemas.microsoft.com/office/drawing/2014/main" id="{199D10B4-5DC6-ADD2-CEB3-D78A267FD82C}"/>
              </a:ext>
            </a:extLst>
          </p:cNvPr>
          <p:cNvSpPr>
            <a:spLocks noGrp="1"/>
          </p:cNvSpPr>
          <p:nvPr>
            <p:ph type="body" sz="quarter" idx="3"/>
          </p:nvPr>
        </p:nvSpPr>
        <p:spPr>
          <a:xfrm>
            <a:off x="21669405" y="7421634"/>
            <a:ext cx="18197174" cy="36372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CBAF16-0BEF-CF3B-EC14-0932748BF355}"/>
              </a:ext>
            </a:extLst>
          </p:cNvPr>
          <p:cNvSpPr>
            <a:spLocks noGrp="1"/>
          </p:cNvSpPr>
          <p:nvPr>
            <p:ph sz="quarter" idx="4"/>
          </p:nvPr>
        </p:nvSpPr>
        <p:spPr>
          <a:xfrm>
            <a:off x="21669405" y="11058863"/>
            <a:ext cx="18197174"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7" name="Date Placeholder 6">
            <a:extLst>
              <a:ext uri="{FF2B5EF4-FFF2-40B4-BE49-F238E27FC236}">
                <a16:creationId xmlns:a16="http://schemas.microsoft.com/office/drawing/2014/main" id="{F9C7029F-D301-0BA7-6016-980AB8E0DBA1}"/>
              </a:ext>
            </a:extLst>
          </p:cNvPr>
          <p:cNvSpPr>
            <a:spLocks noGrp="1"/>
          </p:cNvSpPr>
          <p:nvPr>
            <p:ph type="dt" sz="half" idx="10"/>
          </p:nvPr>
        </p:nvSpPr>
        <p:spPr/>
        <p:txBody>
          <a:bodyPr/>
          <a:lstStyle/>
          <a:p>
            <a:fld id="{531CCE59-12AB-4B9B-B112-5E809012DA71}" type="datetimeFigureOut">
              <a:rPr lang="en-UG" smtClean="0"/>
              <a:t>24/10/2026</a:t>
            </a:fld>
            <a:endParaRPr lang="en-UG"/>
          </a:p>
        </p:txBody>
      </p:sp>
      <p:sp>
        <p:nvSpPr>
          <p:cNvPr id="8" name="Footer Placeholder 7">
            <a:extLst>
              <a:ext uri="{FF2B5EF4-FFF2-40B4-BE49-F238E27FC236}">
                <a16:creationId xmlns:a16="http://schemas.microsoft.com/office/drawing/2014/main" id="{860F4DC5-D2F1-D948-B076-E77FB254D03A}"/>
              </a:ext>
            </a:extLst>
          </p:cNvPr>
          <p:cNvSpPr>
            <a:spLocks noGrp="1"/>
          </p:cNvSpPr>
          <p:nvPr>
            <p:ph type="ftr" sz="quarter" idx="11"/>
          </p:nvPr>
        </p:nvSpPr>
        <p:spPr/>
        <p:txBody>
          <a:bodyPr/>
          <a:lstStyle/>
          <a:p>
            <a:endParaRPr lang="en-UG"/>
          </a:p>
        </p:txBody>
      </p:sp>
      <p:sp>
        <p:nvSpPr>
          <p:cNvPr id="9" name="Slide Number Placeholder 8">
            <a:extLst>
              <a:ext uri="{FF2B5EF4-FFF2-40B4-BE49-F238E27FC236}">
                <a16:creationId xmlns:a16="http://schemas.microsoft.com/office/drawing/2014/main" id="{6786F2B2-06CA-C663-8F3A-49272E35A668}"/>
              </a:ext>
            </a:extLst>
          </p:cNvPr>
          <p:cNvSpPr>
            <a:spLocks noGrp="1"/>
          </p:cNvSpPr>
          <p:nvPr>
            <p:ph type="sldNum" sz="quarter" idx="12"/>
          </p:nvPr>
        </p:nvSpPr>
        <p:spPr/>
        <p:txBody>
          <a:bodyPr/>
          <a:lstStyle/>
          <a:p>
            <a:fld id="{6D86C1F1-94C7-468A-805D-BC9EA8CEE642}" type="slidenum">
              <a:rPr lang="en-UG" smtClean="0"/>
              <a:t>‹#›</a:t>
            </a:fld>
            <a:endParaRPr lang="en-UG"/>
          </a:p>
        </p:txBody>
      </p:sp>
    </p:spTree>
    <p:extLst>
      <p:ext uri="{BB962C8B-B14F-4D97-AF65-F5344CB8AC3E}">
        <p14:creationId xmlns:p14="http://schemas.microsoft.com/office/powerpoint/2010/main" val="942218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054E4-AD2C-F75B-29EE-3A89C0F678CB}"/>
              </a:ext>
            </a:extLst>
          </p:cNvPr>
          <p:cNvSpPr>
            <a:spLocks noGrp="1"/>
          </p:cNvSpPr>
          <p:nvPr>
            <p:ph type="title"/>
          </p:nvPr>
        </p:nvSpPr>
        <p:spPr/>
        <p:txBody>
          <a:bodyPr/>
          <a:lstStyle/>
          <a:p>
            <a:r>
              <a:rPr lang="en-US"/>
              <a:t>Click to edit Master title style</a:t>
            </a:r>
            <a:endParaRPr lang="en-UG"/>
          </a:p>
        </p:txBody>
      </p:sp>
      <p:sp>
        <p:nvSpPr>
          <p:cNvPr id="3" name="Date Placeholder 2">
            <a:extLst>
              <a:ext uri="{FF2B5EF4-FFF2-40B4-BE49-F238E27FC236}">
                <a16:creationId xmlns:a16="http://schemas.microsoft.com/office/drawing/2014/main" id="{056AE819-EF3A-729D-3F31-F9AE95FF269A}"/>
              </a:ext>
            </a:extLst>
          </p:cNvPr>
          <p:cNvSpPr>
            <a:spLocks noGrp="1"/>
          </p:cNvSpPr>
          <p:nvPr>
            <p:ph type="dt" sz="half" idx="10"/>
          </p:nvPr>
        </p:nvSpPr>
        <p:spPr/>
        <p:txBody>
          <a:bodyPr/>
          <a:lstStyle/>
          <a:p>
            <a:fld id="{531CCE59-12AB-4B9B-B112-5E809012DA71}" type="datetimeFigureOut">
              <a:rPr lang="en-UG" smtClean="0"/>
              <a:t>24/10/2026</a:t>
            </a:fld>
            <a:endParaRPr lang="en-UG"/>
          </a:p>
        </p:txBody>
      </p:sp>
      <p:sp>
        <p:nvSpPr>
          <p:cNvPr id="4" name="Footer Placeholder 3">
            <a:extLst>
              <a:ext uri="{FF2B5EF4-FFF2-40B4-BE49-F238E27FC236}">
                <a16:creationId xmlns:a16="http://schemas.microsoft.com/office/drawing/2014/main" id="{B4B82F48-8E24-BADF-4DF8-C450344A7DDE}"/>
              </a:ext>
            </a:extLst>
          </p:cNvPr>
          <p:cNvSpPr>
            <a:spLocks noGrp="1"/>
          </p:cNvSpPr>
          <p:nvPr>
            <p:ph type="ftr" sz="quarter" idx="11"/>
          </p:nvPr>
        </p:nvSpPr>
        <p:spPr/>
        <p:txBody>
          <a:bodyPr/>
          <a:lstStyle/>
          <a:p>
            <a:endParaRPr lang="en-UG"/>
          </a:p>
        </p:txBody>
      </p:sp>
      <p:sp>
        <p:nvSpPr>
          <p:cNvPr id="5" name="Slide Number Placeholder 4">
            <a:extLst>
              <a:ext uri="{FF2B5EF4-FFF2-40B4-BE49-F238E27FC236}">
                <a16:creationId xmlns:a16="http://schemas.microsoft.com/office/drawing/2014/main" id="{8F7C7FD1-129E-5710-A373-63A33840D43F}"/>
              </a:ext>
            </a:extLst>
          </p:cNvPr>
          <p:cNvSpPr>
            <a:spLocks noGrp="1"/>
          </p:cNvSpPr>
          <p:nvPr>
            <p:ph type="sldNum" sz="quarter" idx="12"/>
          </p:nvPr>
        </p:nvSpPr>
        <p:spPr/>
        <p:txBody>
          <a:bodyPr/>
          <a:lstStyle/>
          <a:p>
            <a:fld id="{6D86C1F1-94C7-468A-805D-BC9EA8CEE642}" type="slidenum">
              <a:rPr lang="en-UG" smtClean="0"/>
              <a:t>‹#›</a:t>
            </a:fld>
            <a:endParaRPr lang="en-UG"/>
          </a:p>
        </p:txBody>
      </p:sp>
    </p:spTree>
    <p:extLst>
      <p:ext uri="{BB962C8B-B14F-4D97-AF65-F5344CB8AC3E}">
        <p14:creationId xmlns:p14="http://schemas.microsoft.com/office/powerpoint/2010/main" val="4097010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CEE9C1-FC2B-F592-EFB3-6C921E51B113}"/>
              </a:ext>
            </a:extLst>
          </p:cNvPr>
          <p:cNvSpPr>
            <a:spLocks noGrp="1"/>
          </p:cNvSpPr>
          <p:nvPr>
            <p:ph type="dt" sz="half" idx="10"/>
          </p:nvPr>
        </p:nvSpPr>
        <p:spPr/>
        <p:txBody>
          <a:bodyPr/>
          <a:lstStyle/>
          <a:p>
            <a:fld id="{531CCE59-12AB-4B9B-B112-5E809012DA71}" type="datetimeFigureOut">
              <a:rPr lang="en-UG" smtClean="0"/>
              <a:t>24/10/2026</a:t>
            </a:fld>
            <a:endParaRPr lang="en-UG"/>
          </a:p>
        </p:txBody>
      </p:sp>
      <p:sp>
        <p:nvSpPr>
          <p:cNvPr id="3" name="Footer Placeholder 2">
            <a:extLst>
              <a:ext uri="{FF2B5EF4-FFF2-40B4-BE49-F238E27FC236}">
                <a16:creationId xmlns:a16="http://schemas.microsoft.com/office/drawing/2014/main" id="{2F7FAE8A-0631-C07F-195F-DBA7918D6D70}"/>
              </a:ext>
            </a:extLst>
          </p:cNvPr>
          <p:cNvSpPr>
            <a:spLocks noGrp="1"/>
          </p:cNvSpPr>
          <p:nvPr>
            <p:ph type="ftr" sz="quarter" idx="11"/>
          </p:nvPr>
        </p:nvSpPr>
        <p:spPr/>
        <p:txBody>
          <a:bodyPr/>
          <a:lstStyle/>
          <a:p>
            <a:endParaRPr lang="en-UG"/>
          </a:p>
        </p:txBody>
      </p:sp>
      <p:sp>
        <p:nvSpPr>
          <p:cNvPr id="4" name="Slide Number Placeholder 3">
            <a:extLst>
              <a:ext uri="{FF2B5EF4-FFF2-40B4-BE49-F238E27FC236}">
                <a16:creationId xmlns:a16="http://schemas.microsoft.com/office/drawing/2014/main" id="{4110E7A0-94BC-3371-028A-B5B626859F20}"/>
              </a:ext>
            </a:extLst>
          </p:cNvPr>
          <p:cNvSpPr>
            <a:spLocks noGrp="1"/>
          </p:cNvSpPr>
          <p:nvPr>
            <p:ph type="sldNum" sz="quarter" idx="12"/>
          </p:nvPr>
        </p:nvSpPr>
        <p:spPr/>
        <p:txBody>
          <a:bodyPr/>
          <a:lstStyle/>
          <a:p>
            <a:fld id="{6D86C1F1-94C7-468A-805D-BC9EA8CEE642}" type="slidenum">
              <a:rPr lang="en-UG" smtClean="0"/>
              <a:t>‹#›</a:t>
            </a:fld>
            <a:endParaRPr lang="en-UG"/>
          </a:p>
        </p:txBody>
      </p:sp>
    </p:spTree>
    <p:extLst>
      <p:ext uri="{BB962C8B-B14F-4D97-AF65-F5344CB8AC3E}">
        <p14:creationId xmlns:p14="http://schemas.microsoft.com/office/powerpoint/2010/main" val="3085502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874E-090B-0990-62FB-AD9E640FEF8F}"/>
              </a:ext>
            </a:extLst>
          </p:cNvPr>
          <p:cNvSpPr>
            <a:spLocks noGrp="1"/>
          </p:cNvSpPr>
          <p:nvPr>
            <p:ph type="title"/>
          </p:nvPr>
        </p:nvSpPr>
        <p:spPr>
          <a:xfrm>
            <a:off x="2948336" y="2018348"/>
            <a:ext cx="13805326" cy="7064216"/>
          </a:xfrm>
        </p:spPr>
        <p:txBody>
          <a:bodyPr anchor="b"/>
          <a:lstStyle>
            <a:lvl1pPr>
              <a:defRPr sz="3200"/>
            </a:lvl1pPr>
          </a:lstStyle>
          <a:p>
            <a:r>
              <a:rPr lang="en-US"/>
              <a:t>Click to edit Master title style</a:t>
            </a:r>
            <a:endParaRPr lang="en-UG"/>
          </a:p>
        </p:txBody>
      </p:sp>
      <p:sp>
        <p:nvSpPr>
          <p:cNvPr id="3" name="Content Placeholder 2">
            <a:extLst>
              <a:ext uri="{FF2B5EF4-FFF2-40B4-BE49-F238E27FC236}">
                <a16:creationId xmlns:a16="http://schemas.microsoft.com/office/drawing/2014/main" id="{D872177B-D537-BBE7-D489-6D7077D01E83}"/>
              </a:ext>
            </a:extLst>
          </p:cNvPr>
          <p:cNvSpPr>
            <a:spLocks noGrp="1"/>
          </p:cNvSpPr>
          <p:nvPr>
            <p:ph idx="1"/>
          </p:nvPr>
        </p:nvSpPr>
        <p:spPr>
          <a:xfrm>
            <a:off x="18197175" y="4359077"/>
            <a:ext cx="21669405" cy="215150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Text Placeholder 3">
            <a:extLst>
              <a:ext uri="{FF2B5EF4-FFF2-40B4-BE49-F238E27FC236}">
                <a16:creationId xmlns:a16="http://schemas.microsoft.com/office/drawing/2014/main" id="{12F1607A-1B9F-0E9F-7C7E-F3B0C7891541}"/>
              </a:ext>
            </a:extLst>
          </p:cNvPr>
          <p:cNvSpPr>
            <a:spLocks noGrp="1"/>
          </p:cNvSpPr>
          <p:nvPr>
            <p:ph type="body" sz="half" idx="2"/>
          </p:nvPr>
        </p:nvSpPr>
        <p:spPr>
          <a:xfrm>
            <a:off x="2948336" y="9082564"/>
            <a:ext cx="13805326" cy="1682657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4819A6-6D9E-226B-EDDA-6BC08214FD53}"/>
              </a:ext>
            </a:extLst>
          </p:cNvPr>
          <p:cNvSpPr>
            <a:spLocks noGrp="1"/>
          </p:cNvSpPr>
          <p:nvPr>
            <p:ph type="dt" sz="half" idx="10"/>
          </p:nvPr>
        </p:nvSpPr>
        <p:spPr/>
        <p:txBody>
          <a:bodyPr/>
          <a:lstStyle/>
          <a:p>
            <a:fld id="{531CCE59-12AB-4B9B-B112-5E809012DA71}" type="datetimeFigureOut">
              <a:rPr lang="en-UG" smtClean="0"/>
              <a:t>24/10/2026</a:t>
            </a:fld>
            <a:endParaRPr lang="en-UG"/>
          </a:p>
        </p:txBody>
      </p:sp>
      <p:sp>
        <p:nvSpPr>
          <p:cNvPr id="6" name="Footer Placeholder 5">
            <a:extLst>
              <a:ext uri="{FF2B5EF4-FFF2-40B4-BE49-F238E27FC236}">
                <a16:creationId xmlns:a16="http://schemas.microsoft.com/office/drawing/2014/main" id="{083DAF6E-7D3E-4BB5-0DBC-3B553F022E63}"/>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234CED76-00F3-F69E-2EFB-D47DE04A50E5}"/>
              </a:ext>
            </a:extLst>
          </p:cNvPr>
          <p:cNvSpPr>
            <a:spLocks noGrp="1"/>
          </p:cNvSpPr>
          <p:nvPr>
            <p:ph type="sldNum" sz="quarter" idx="12"/>
          </p:nvPr>
        </p:nvSpPr>
        <p:spPr/>
        <p:txBody>
          <a:bodyPr/>
          <a:lstStyle/>
          <a:p>
            <a:fld id="{6D86C1F1-94C7-468A-805D-BC9EA8CEE642}" type="slidenum">
              <a:rPr lang="en-UG" smtClean="0"/>
              <a:t>‹#›</a:t>
            </a:fld>
            <a:endParaRPr lang="en-UG"/>
          </a:p>
        </p:txBody>
      </p:sp>
    </p:spTree>
    <p:extLst>
      <p:ext uri="{BB962C8B-B14F-4D97-AF65-F5344CB8AC3E}">
        <p14:creationId xmlns:p14="http://schemas.microsoft.com/office/powerpoint/2010/main" val="428676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D7358-BF49-8F87-DAC4-54CB1AAC0CDD}"/>
              </a:ext>
            </a:extLst>
          </p:cNvPr>
          <p:cNvSpPr>
            <a:spLocks noGrp="1"/>
          </p:cNvSpPr>
          <p:nvPr>
            <p:ph type="title"/>
          </p:nvPr>
        </p:nvSpPr>
        <p:spPr>
          <a:xfrm>
            <a:off x="2948336" y="2018348"/>
            <a:ext cx="13805326" cy="7064216"/>
          </a:xfrm>
        </p:spPr>
        <p:txBody>
          <a:bodyPr anchor="b"/>
          <a:lstStyle>
            <a:lvl1pPr>
              <a:defRPr sz="3200"/>
            </a:lvl1pPr>
          </a:lstStyle>
          <a:p>
            <a:r>
              <a:rPr lang="en-US"/>
              <a:t>Click to edit Master title style</a:t>
            </a:r>
            <a:endParaRPr lang="en-UG"/>
          </a:p>
        </p:txBody>
      </p:sp>
      <p:sp>
        <p:nvSpPr>
          <p:cNvPr id="3" name="Picture Placeholder 2">
            <a:extLst>
              <a:ext uri="{FF2B5EF4-FFF2-40B4-BE49-F238E27FC236}">
                <a16:creationId xmlns:a16="http://schemas.microsoft.com/office/drawing/2014/main" id="{71805A51-69B5-FABC-24C2-3ADC2B67B4B7}"/>
              </a:ext>
            </a:extLst>
          </p:cNvPr>
          <p:cNvSpPr>
            <a:spLocks noGrp="1" noChangeAspect="1"/>
          </p:cNvSpPr>
          <p:nvPr>
            <p:ph type="pic" idx="1"/>
          </p:nvPr>
        </p:nvSpPr>
        <p:spPr>
          <a:xfrm>
            <a:off x="18197175" y="4359077"/>
            <a:ext cx="21669405" cy="2151502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G"/>
          </a:p>
        </p:txBody>
      </p:sp>
      <p:sp>
        <p:nvSpPr>
          <p:cNvPr id="4" name="Text Placeholder 3">
            <a:extLst>
              <a:ext uri="{FF2B5EF4-FFF2-40B4-BE49-F238E27FC236}">
                <a16:creationId xmlns:a16="http://schemas.microsoft.com/office/drawing/2014/main" id="{841E4E61-DCB7-5164-5292-98ADF9181486}"/>
              </a:ext>
            </a:extLst>
          </p:cNvPr>
          <p:cNvSpPr>
            <a:spLocks noGrp="1"/>
          </p:cNvSpPr>
          <p:nvPr>
            <p:ph type="body" sz="half" idx="2"/>
          </p:nvPr>
        </p:nvSpPr>
        <p:spPr>
          <a:xfrm>
            <a:off x="2948336" y="9082564"/>
            <a:ext cx="13805326" cy="1682657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4AB90-CA84-CFE6-6E3D-4B8BDE250F5E}"/>
              </a:ext>
            </a:extLst>
          </p:cNvPr>
          <p:cNvSpPr>
            <a:spLocks noGrp="1"/>
          </p:cNvSpPr>
          <p:nvPr>
            <p:ph type="dt" sz="half" idx="10"/>
          </p:nvPr>
        </p:nvSpPr>
        <p:spPr/>
        <p:txBody>
          <a:bodyPr/>
          <a:lstStyle/>
          <a:p>
            <a:fld id="{531CCE59-12AB-4B9B-B112-5E809012DA71}" type="datetimeFigureOut">
              <a:rPr lang="en-UG" smtClean="0"/>
              <a:t>24/10/2026</a:t>
            </a:fld>
            <a:endParaRPr lang="en-UG"/>
          </a:p>
        </p:txBody>
      </p:sp>
      <p:sp>
        <p:nvSpPr>
          <p:cNvPr id="6" name="Footer Placeholder 5">
            <a:extLst>
              <a:ext uri="{FF2B5EF4-FFF2-40B4-BE49-F238E27FC236}">
                <a16:creationId xmlns:a16="http://schemas.microsoft.com/office/drawing/2014/main" id="{A6D5ABC5-D500-E16E-A4D7-240C7F8DE64A}"/>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34FF875C-28B9-1B17-8AC6-F5DDAB1F9F4C}"/>
              </a:ext>
            </a:extLst>
          </p:cNvPr>
          <p:cNvSpPr>
            <a:spLocks noGrp="1"/>
          </p:cNvSpPr>
          <p:nvPr>
            <p:ph type="sldNum" sz="quarter" idx="12"/>
          </p:nvPr>
        </p:nvSpPr>
        <p:spPr/>
        <p:txBody>
          <a:bodyPr/>
          <a:lstStyle/>
          <a:p>
            <a:fld id="{6D86C1F1-94C7-468A-805D-BC9EA8CEE642}" type="slidenum">
              <a:rPr lang="en-UG" smtClean="0"/>
              <a:t>‹#›</a:t>
            </a:fld>
            <a:endParaRPr lang="en-UG"/>
          </a:p>
        </p:txBody>
      </p:sp>
    </p:spTree>
    <p:extLst>
      <p:ext uri="{BB962C8B-B14F-4D97-AF65-F5344CB8AC3E}">
        <p14:creationId xmlns:p14="http://schemas.microsoft.com/office/powerpoint/2010/main" val="1038854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9B909-40AC-1ABF-C140-D5724E6D688D}"/>
              </a:ext>
            </a:extLst>
          </p:cNvPr>
          <p:cNvSpPr>
            <a:spLocks noGrp="1"/>
          </p:cNvSpPr>
          <p:nvPr>
            <p:ph type="title"/>
          </p:nvPr>
        </p:nvSpPr>
        <p:spPr/>
        <p:txBody>
          <a:bodyPr/>
          <a:lstStyle/>
          <a:p>
            <a:r>
              <a:rPr lang="en-US"/>
              <a:t>Click to edit Master title style</a:t>
            </a:r>
            <a:endParaRPr lang="en-UG"/>
          </a:p>
        </p:txBody>
      </p:sp>
      <p:sp>
        <p:nvSpPr>
          <p:cNvPr id="3" name="Vertical Text Placeholder 2">
            <a:extLst>
              <a:ext uri="{FF2B5EF4-FFF2-40B4-BE49-F238E27FC236}">
                <a16:creationId xmlns:a16="http://schemas.microsoft.com/office/drawing/2014/main" id="{8D32BABB-1DE4-E686-704D-EE06AA5D5C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B4F97C9D-A9B8-9CDB-D517-9B9D0E189CC2}"/>
              </a:ext>
            </a:extLst>
          </p:cNvPr>
          <p:cNvSpPr>
            <a:spLocks noGrp="1"/>
          </p:cNvSpPr>
          <p:nvPr>
            <p:ph type="dt" sz="half" idx="10"/>
          </p:nvPr>
        </p:nvSpPr>
        <p:spPr/>
        <p:txBody>
          <a:bodyPr/>
          <a:lstStyle/>
          <a:p>
            <a:fld id="{531CCE59-12AB-4B9B-B112-5E809012DA71}" type="datetimeFigureOut">
              <a:rPr lang="en-UG" smtClean="0"/>
              <a:t>24/10/2026</a:t>
            </a:fld>
            <a:endParaRPr lang="en-UG"/>
          </a:p>
        </p:txBody>
      </p:sp>
      <p:sp>
        <p:nvSpPr>
          <p:cNvPr id="5" name="Footer Placeholder 4">
            <a:extLst>
              <a:ext uri="{FF2B5EF4-FFF2-40B4-BE49-F238E27FC236}">
                <a16:creationId xmlns:a16="http://schemas.microsoft.com/office/drawing/2014/main" id="{30D39391-39ED-C067-D5F9-BA362B7A32AD}"/>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A3EED0D1-6BCA-34A6-5B73-34AEE95269E4}"/>
              </a:ext>
            </a:extLst>
          </p:cNvPr>
          <p:cNvSpPr>
            <a:spLocks noGrp="1"/>
          </p:cNvSpPr>
          <p:nvPr>
            <p:ph type="sldNum" sz="quarter" idx="12"/>
          </p:nvPr>
        </p:nvSpPr>
        <p:spPr/>
        <p:txBody>
          <a:bodyPr/>
          <a:lstStyle/>
          <a:p>
            <a:fld id="{6D86C1F1-94C7-468A-805D-BC9EA8CEE642}" type="slidenum">
              <a:rPr lang="en-UG" smtClean="0"/>
              <a:t>‹#›</a:t>
            </a:fld>
            <a:endParaRPr lang="en-UG"/>
          </a:p>
        </p:txBody>
      </p:sp>
    </p:spTree>
    <p:extLst>
      <p:ext uri="{BB962C8B-B14F-4D97-AF65-F5344CB8AC3E}">
        <p14:creationId xmlns:p14="http://schemas.microsoft.com/office/powerpoint/2010/main" val="2827127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C8E4C8-2C6F-DF84-375D-72706D7AD5AF}"/>
              </a:ext>
            </a:extLst>
          </p:cNvPr>
          <p:cNvSpPr>
            <a:spLocks noGrp="1"/>
          </p:cNvSpPr>
          <p:nvPr>
            <p:ph type="title" orient="vert"/>
          </p:nvPr>
        </p:nvSpPr>
        <p:spPr>
          <a:xfrm>
            <a:off x="30631444" y="1611875"/>
            <a:ext cx="9229561" cy="25656844"/>
          </a:xfrm>
        </p:spPr>
        <p:txBody>
          <a:bodyPr vert="eaVert"/>
          <a:lstStyle/>
          <a:p>
            <a:r>
              <a:rPr lang="en-US"/>
              <a:t>Click to edit Master title style</a:t>
            </a:r>
            <a:endParaRPr lang="en-UG"/>
          </a:p>
        </p:txBody>
      </p:sp>
      <p:sp>
        <p:nvSpPr>
          <p:cNvPr id="3" name="Vertical Text Placeholder 2">
            <a:extLst>
              <a:ext uri="{FF2B5EF4-FFF2-40B4-BE49-F238E27FC236}">
                <a16:creationId xmlns:a16="http://schemas.microsoft.com/office/drawing/2014/main" id="{3BE22665-37C2-0D38-68DF-D83595A55158}"/>
              </a:ext>
            </a:extLst>
          </p:cNvPr>
          <p:cNvSpPr>
            <a:spLocks noGrp="1"/>
          </p:cNvSpPr>
          <p:nvPr>
            <p:ph type="body" orient="vert" idx="1"/>
          </p:nvPr>
        </p:nvSpPr>
        <p:spPr>
          <a:xfrm>
            <a:off x="2942760" y="1611875"/>
            <a:ext cx="27153637" cy="256568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793FD4AA-A82C-3F66-2598-682567DB5343}"/>
              </a:ext>
            </a:extLst>
          </p:cNvPr>
          <p:cNvSpPr>
            <a:spLocks noGrp="1"/>
          </p:cNvSpPr>
          <p:nvPr>
            <p:ph type="dt" sz="half" idx="10"/>
          </p:nvPr>
        </p:nvSpPr>
        <p:spPr/>
        <p:txBody>
          <a:bodyPr/>
          <a:lstStyle/>
          <a:p>
            <a:fld id="{531CCE59-12AB-4B9B-B112-5E809012DA71}" type="datetimeFigureOut">
              <a:rPr lang="en-UG" smtClean="0"/>
              <a:t>24/10/2026</a:t>
            </a:fld>
            <a:endParaRPr lang="en-UG"/>
          </a:p>
        </p:txBody>
      </p:sp>
      <p:sp>
        <p:nvSpPr>
          <p:cNvPr id="5" name="Footer Placeholder 4">
            <a:extLst>
              <a:ext uri="{FF2B5EF4-FFF2-40B4-BE49-F238E27FC236}">
                <a16:creationId xmlns:a16="http://schemas.microsoft.com/office/drawing/2014/main" id="{8D1616B8-2CA5-D361-BFA2-7311F19F8983}"/>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8B433059-29CD-21CF-7349-7479FD9991BE}"/>
              </a:ext>
            </a:extLst>
          </p:cNvPr>
          <p:cNvSpPr>
            <a:spLocks noGrp="1"/>
          </p:cNvSpPr>
          <p:nvPr>
            <p:ph type="sldNum" sz="quarter" idx="12"/>
          </p:nvPr>
        </p:nvSpPr>
        <p:spPr/>
        <p:txBody>
          <a:bodyPr/>
          <a:lstStyle/>
          <a:p>
            <a:fld id="{6D86C1F1-94C7-468A-805D-BC9EA8CEE642}" type="slidenum">
              <a:rPr lang="en-UG" smtClean="0"/>
              <a:t>‹#›</a:t>
            </a:fld>
            <a:endParaRPr lang="en-UG"/>
          </a:p>
        </p:txBody>
      </p:sp>
    </p:spTree>
    <p:extLst>
      <p:ext uri="{BB962C8B-B14F-4D97-AF65-F5344CB8AC3E}">
        <p14:creationId xmlns:p14="http://schemas.microsoft.com/office/powerpoint/2010/main" val="2419895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D84A07-EDAB-842C-C2D5-E6EC52E30ADE}"/>
              </a:ext>
            </a:extLst>
          </p:cNvPr>
          <p:cNvSpPr>
            <a:spLocks noGrp="1"/>
          </p:cNvSpPr>
          <p:nvPr>
            <p:ph type="title"/>
          </p:nvPr>
        </p:nvSpPr>
        <p:spPr>
          <a:xfrm>
            <a:off x="2942759" y="1611882"/>
            <a:ext cx="36918246" cy="5851808"/>
          </a:xfrm>
          <a:prstGeom prst="rect">
            <a:avLst/>
          </a:prstGeom>
        </p:spPr>
        <p:txBody>
          <a:bodyPr vert="horz" lIns="91440" tIns="45720" rIns="91440" bIns="45720" rtlCol="0" anchor="ctr">
            <a:normAutofit/>
          </a:bodyPr>
          <a:lstStyle/>
          <a:p>
            <a:r>
              <a:rPr lang="en-US"/>
              <a:t>Click to edit Master title style</a:t>
            </a:r>
            <a:endParaRPr lang="en-UG"/>
          </a:p>
        </p:txBody>
      </p:sp>
      <p:sp>
        <p:nvSpPr>
          <p:cNvPr id="3" name="Text Placeholder 2">
            <a:extLst>
              <a:ext uri="{FF2B5EF4-FFF2-40B4-BE49-F238E27FC236}">
                <a16:creationId xmlns:a16="http://schemas.microsoft.com/office/drawing/2014/main" id="{C5CAABCD-C5DD-E09C-BFCD-849C7F845451}"/>
              </a:ext>
            </a:extLst>
          </p:cNvPr>
          <p:cNvSpPr>
            <a:spLocks noGrp="1"/>
          </p:cNvSpPr>
          <p:nvPr>
            <p:ph type="body" idx="1"/>
          </p:nvPr>
        </p:nvSpPr>
        <p:spPr>
          <a:xfrm>
            <a:off x="2942759" y="8059374"/>
            <a:ext cx="36918246" cy="192093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ABD74FF0-5BAB-C61C-349F-FF90ED0999DF}"/>
              </a:ext>
            </a:extLst>
          </p:cNvPr>
          <p:cNvSpPr>
            <a:spLocks noGrp="1"/>
          </p:cNvSpPr>
          <p:nvPr>
            <p:ph type="dt" sz="half" idx="2"/>
          </p:nvPr>
        </p:nvSpPr>
        <p:spPr>
          <a:xfrm>
            <a:off x="2942760" y="28060644"/>
            <a:ext cx="9630847" cy="1611875"/>
          </a:xfrm>
          <a:prstGeom prst="rect">
            <a:avLst/>
          </a:prstGeom>
        </p:spPr>
        <p:txBody>
          <a:bodyPr vert="horz" lIns="91440" tIns="45720" rIns="91440" bIns="45720" rtlCol="0" anchor="ctr"/>
          <a:lstStyle>
            <a:lvl1pPr algn="l">
              <a:defRPr sz="1200">
                <a:solidFill>
                  <a:schemeClr val="tx1">
                    <a:tint val="82000"/>
                  </a:schemeClr>
                </a:solidFill>
              </a:defRPr>
            </a:lvl1pPr>
          </a:lstStyle>
          <a:p>
            <a:fld id="{531CCE59-12AB-4B9B-B112-5E809012DA71}" type="datetimeFigureOut">
              <a:rPr lang="en-UG" smtClean="0"/>
              <a:t>24/10/2026</a:t>
            </a:fld>
            <a:endParaRPr lang="en-UG"/>
          </a:p>
        </p:txBody>
      </p:sp>
      <p:sp>
        <p:nvSpPr>
          <p:cNvPr id="5" name="Footer Placeholder 4">
            <a:extLst>
              <a:ext uri="{FF2B5EF4-FFF2-40B4-BE49-F238E27FC236}">
                <a16:creationId xmlns:a16="http://schemas.microsoft.com/office/drawing/2014/main" id="{68A22C05-2FDB-8061-1B16-DC30044C1F6E}"/>
              </a:ext>
            </a:extLst>
          </p:cNvPr>
          <p:cNvSpPr>
            <a:spLocks noGrp="1"/>
          </p:cNvSpPr>
          <p:nvPr>
            <p:ph type="ftr" sz="quarter" idx="3"/>
          </p:nvPr>
        </p:nvSpPr>
        <p:spPr>
          <a:xfrm>
            <a:off x="14178747" y="28060644"/>
            <a:ext cx="14446270" cy="161187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G"/>
          </a:p>
        </p:txBody>
      </p:sp>
      <p:sp>
        <p:nvSpPr>
          <p:cNvPr id="6" name="Slide Number Placeholder 5">
            <a:extLst>
              <a:ext uri="{FF2B5EF4-FFF2-40B4-BE49-F238E27FC236}">
                <a16:creationId xmlns:a16="http://schemas.microsoft.com/office/drawing/2014/main" id="{5E8FDBCF-1602-EBF6-E175-EB5A59C4F989}"/>
              </a:ext>
            </a:extLst>
          </p:cNvPr>
          <p:cNvSpPr>
            <a:spLocks noGrp="1"/>
          </p:cNvSpPr>
          <p:nvPr>
            <p:ph type="sldNum" sz="quarter" idx="4"/>
          </p:nvPr>
        </p:nvSpPr>
        <p:spPr>
          <a:xfrm>
            <a:off x="30230158" y="28060644"/>
            <a:ext cx="9630847" cy="1611875"/>
          </a:xfrm>
          <a:prstGeom prst="rect">
            <a:avLst/>
          </a:prstGeom>
        </p:spPr>
        <p:txBody>
          <a:bodyPr vert="horz" lIns="91440" tIns="45720" rIns="91440" bIns="45720" rtlCol="0" anchor="ctr"/>
          <a:lstStyle>
            <a:lvl1pPr algn="r">
              <a:defRPr sz="1200">
                <a:solidFill>
                  <a:schemeClr val="tx1">
                    <a:tint val="82000"/>
                  </a:schemeClr>
                </a:solidFill>
              </a:defRPr>
            </a:lvl1pPr>
          </a:lstStyle>
          <a:p>
            <a:fld id="{6D86C1F1-94C7-468A-805D-BC9EA8CEE642}" type="slidenum">
              <a:rPr lang="en-UG" smtClean="0"/>
              <a:t>‹#›</a:t>
            </a:fld>
            <a:endParaRPr lang="en-UG"/>
          </a:p>
        </p:txBody>
      </p:sp>
    </p:spTree>
    <p:extLst>
      <p:ext uri="{BB962C8B-B14F-4D97-AF65-F5344CB8AC3E}">
        <p14:creationId xmlns:p14="http://schemas.microsoft.com/office/powerpoint/2010/main" val="634575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55B833-5955-165A-8CE6-C5695C399F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 y="365759"/>
            <a:ext cx="7883611" cy="2651760"/>
          </a:xfrm>
          <a:prstGeom prst="rect">
            <a:avLst/>
          </a:prstGeom>
        </p:spPr>
      </p:pic>
      <p:pic>
        <p:nvPicPr>
          <p:cNvPr id="5" name="Picture 4">
            <a:extLst>
              <a:ext uri="{FF2B5EF4-FFF2-40B4-BE49-F238E27FC236}">
                <a16:creationId xmlns:a16="http://schemas.microsoft.com/office/drawing/2014/main" id="{ED26036D-1D17-9F05-AABA-B7C2F44682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92855" y="228599"/>
            <a:ext cx="8635890" cy="2926080"/>
          </a:xfrm>
          <a:prstGeom prst="rect">
            <a:avLst/>
          </a:prstGeom>
        </p:spPr>
      </p:pic>
      <p:sp>
        <p:nvSpPr>
          <p:cNvPr id="6" name="TextBox 5">
            <a:extLst>
              <a:ext uri="{FF2B5EF4-FFF2-40B4-BE49-F238E27FC236}">
                <a16:creationId xmlns:a16="http://schemas.microsoft.com/office/drawing/2014/main" id="{658B09B6-D423-2489-CC06-33DBA8A6FBA8}"/>
              </a:ext>
            </a:extLst>
          </p:cNvPr>
          <p:cNvSpPr txBox="1"/>
          <p:nvPr/>
        </p:nvSpPr>
        <p:spPr>
          <a:xfrm>
            <a:off x="8340811" y="228600"/>
            <a:ext cx="25369165" cy="1723549"/>
          </a:xfrm>
          <a:prstGeom prst="rect">
            <a:avLst/>
          </a:prstGeom>
          <a:noFill/>
        </p:spPr>
        <p:txBody>
          <a:bodyPr vert="horz" wrap="square" lIns="0" tIns="0" rIns="0" bIns="0" rtlCol="0">
            <a:spAutoFit/>
          </a:bodyPr>
          <a:lstStyle/>
          <a:p>
            <a:pPr algn="ctr"/>
            <a:r>
              <a:rPr lang="en-US" sz="5600" b="1">
                <a:solidFill>
                  <a:srgbClr val="1A1A1A"/>
                </a:solidFill>
                <a:latin typeface="Trebuchet MS" panose="020B0603020202020204" pitchFamily="34" charset="0"/>
              </a:rPr>
              <a:t>Investigate, Recommend or Escalate: A Rule-Constrained Reinforcement</a:t>
            </a:r>
            <a:br>
              <a:rPr lang="en-US" sz="5600" b="1">
                <a:solidFill>
                  <a:srgbClr val="1A1A1A"/>
                </a:solidFill>
                <a:latin typeface="Trebuchet MS" panose="020B0603020202020204" pitchFamily="34" charset="0"/>
              </a:rPr>
            </a:br>
            <a:r>
              <a:rPr lang="en-US" sz="5600" b="1">
                <a:solidFill>
                  <a:srgbClr val="1A1A1A"/>
                </a:solidFill>
                <a:latin typeface="Trebuchet MS" panose="020B0603020202020204" pitchFamily="34" charset="0"/>
              </a:rPr>
              <a:t>Learning Agent for IT Incident Triage under Ambiguous Evidence</a:t>
            </a:r>
            <a:endParaRPr lang="en-UG" sz="5600" b="1">
              <a:solidFill>
                <a:srgbClr val="1A1A1A"/>
              </a:solidFill>
              <a:latin typeface="Trebuchet MS" panose="020B0603020202020204" pitchFamily="34" charset="0"/>
            </a:endParaRPr>
          </a:p>
        </p:txBody>
      </p:sp>
      <p:sp>
        <p:nvSpPr>
          <p:cNvPr id="7" name="TextBox 6">
            <a:extLst>
              <a:ext uri="{FF2B5EF4-FFF2-40B4-BE49-F238E27FC236}">
                <a16:creationId xmlns:a16="http://schemas.microsoft.com/office/drawing/2014/main" id="{E124B048-FF47-38F3-68C2-DCD73CA5609E}"/>
              </a:ext>
            </a:extLst>
          </p:cNvPr>
          <p:cNvSpPr txBox="1"/>
          <p:nvPr/>
        </p:nvSpPr>
        <p:spPr>
          <a:xfrm>
            <a:off x="8340811" y="2043589"/>
            <a:ext cx="25369165" cy="553998"/>
          </a:xfrm>
          <a:prstGeom prst="rect">
            <a:avLst/>
          </a:prstGeom>
          <a:noFill/>
        </p:spPr>
        <p:txBody>
          <a:bodyPr vert="horz" wrap="square" lIns="0" tIns="0" rIns="0" bIns="0" rtlCol="0">
            <a:spAutoFit/>
          </a:bodyPr>
          <a:lstStyle/>
          <a:p>
            <a:pPr algn="ctr"/>
            <a:r>
              <a:rPr lang="en-US" sz="3600" b="1">
                <a:solidFill>
                  <a:srgbClr val="1A1A1A"/>
                </a:solidFill>
                <a:latin typeface="Trebuchet MS" panose="020B0603020202020204" pitchFamily="34" charset="0"/>
              </a:rPr>
              <a:t>OPOL CHARIS   |   S24B23/003   |   B29654   |   BSc Computer Science</a:t>
            </a:r>
            <a:endParaRPr lang="en-UG" sz="3600" b="1">
              <a:solidFill>
                <a:srgbClr val="1A1A1A"/>
              </a:solidFill>
              <a:latin typeface="Trebuchet MS" panose="020B0603020202020204" pitchFamily="34" charset="0"/>
            </a:endParaRPr>
          </a:p>
        </p:txBody>
      </p:sp>
      <p:sp>
        <p:nvSpPr>
          <p:cNvPr id="8" name="TextBox 7">
            <a:extLst>
              <a:ext uri="{FF2B5EF4-FFF2-40B4-BE49-F238E27FC236}">
                <a16:creationId xmlns:a16="http://schemas.microsoft.com/office/drawing/2014/main" id="{7FE84E5C-0FBD-695D-A88B-D1587CC3B5DC}"/>
              </a:ext>
            </a:extLst>
          </p:cNvPr>
          <p:cNvSpPr txBox="1"/>
          <p:nvPr/>
        </p:nvSpPr>
        <p:spPr>
          <a:xfrm>
            <a:off x="8340811" y="2670739"/>
            <a:ext cx="25369165" cy="461665"/>
          </a:xfrm>
          <a:prstGeom prst="rect">
            <a:avLst/>
          </a:prstGeom>
          <a:noFill/>
        </p:spPr>
        <p:txBody>
          <a:bodyPr vert="horz" wrap="square" lIns="0" tIns="0" rIns="0" bIns="0" rtlCol="0">
            <a:spAutoFit/>
          </a:bodyPr>
          <a:lstStyle/>
          <a:p>
            <a:pPr algn="ctr"/>
            <a:r>
              <a:rPr lang="en-US" sz="3000">
                <a:solidFill>
                  <a:srgbClr val="555555"/>
                </a:solidFill>
                <a:latin typeface="Trebuchet MS" panose="020B0603020202020204" pitchFamily="34" charset="0"/>
              </a:rPr>
              <a:t>Uganda Christian University   |   Department of Computing &amp; Technology   |   Faculty of Engineering, Design &amp; Technology</a:t>
            </a:r>
            <a:endParaRPr lang="en-UG" sz="3000">
              <a:solidFill>
                <a:srgbClr val="555555"/>
              </a:solidFill>
              <a:latin typeface="Trebuchet MS" panose="020B0603020202020204" pitchFamily="34" charset="0"/>
            </a:endParaRPr>
          </a:p>
        </p:txBody>
      </p:sp>
      <p:sp>
        <p:nvSpPr>
          <p:cNvPr id="21" name="Rectangle 20">
            <a:extLst>
              <a:ext uri="{FF2B5EF4-FFF2-40B4-BE49-F238E27FC236}">
                <a16:creationId xmlns:a16="http://schemas.microsoft.com/office/drawing/2014/main" id="{2E536B32-F2F7-9DBA-1A17-1ABD39ABF820}"/>
              </a:ext>
            </a:extLst>
          </p:cNvPr>
          <p:cNvSpPr/>
          <p:nvPr/>
        </p:nvSpPr>
        <p:spPr>
          <a:xfrm>
            <a:off x="411480" y="3428999"/>
            <a:ext cx="10220707" cy="868680"/>
          </a:xfrm>
          <a:prstGeom prst="rect">
            <a:avLst/>
          </a:prstGeom>
          <a:solidFill>
            <a:srgbClr val="C039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22" name="TextBox 21">
            <a:extLst>
              <a:ext uri="{FF2B5EF4-FFF2-40B4-BE49-F238E27FC236}">
                <a16:creationId xmlns:a16="http://schemas.microsoft.com/office/drawing/2014/main" id="{7C931E59-1FCC-CCB3-4716-44BAFDE175EA}"/>
              </a:ext>
            </a:extLst>
          </p:cNvPr>
          <p:cNvSpPr txBox="1"/>
          <p:nvPr/>
        </p:nvSpPr>
        <p:spPr>
          <a:xfrm>
            <a:off x="640080" y="3524785"/>
            <a:ext cx="9763506" cy="677108"/>
          </a:xfrm>
          <a:prstGeom prst="rect">
            <a:avLst/>
          </a:prstGeom>
          <a:noFill/>
        </p:spPr>
        <p:txBody>
          <a:bodyPr vert="horz" wrap="square" lIns="0" tIns="0" rIns="0" bIns="0" rtlCol="0">
            <a:spAutoFit/>
          </a:bodyPr>
          <a:lstStyle/>
          <a:p>
            <a:r>
              <a:rPr lang="en-US" sz="4400" b="1">
                <a:solidFill>
                  <a:srgbClr val="FFFFFF"/>
                </a:solidFill>
                <a:latin typeface="Trebuchet MS" panose="020B0603020202020204" pitchFamily="34" charset="0"/>
              </a:rPr>
              <a:t>1.  Introduction</a:t>
            </a:r>
            <a:endParaRPr lang="en-UG" sz="4400" b="1">
              <a:solidFill>
                <a:srgbClr val="FFFFFF"/>
              </a:solidFill>
              <a:latin typeface="Trebuchet MS" panose="020B0603020202020204" pitchFamily="34" charset="0"/>
            </a:endParaRPr>
          </a:p>
        </p:txBody>
      </p:sp>
      <p:sp>
        <p:nvSpPr>
          <p:cNvPr id="23" name="Rectangle 22">
            <a:extLst>
              <a:ext uri="{FF2B5EF4-FFF2-40B4-BE49-F238E27FC236}">
                <a16:creationId xmlns:a16="http://schemas.microsoft.com/office/drawing/2014/main" id="{A4FFA847-62E2-65C7-BBCF-2C1FE55077B7}"/>
              </a:ext>
            </a:extLst>
          </p:cNvPr>
          <p:cNvSpPr/>
          <p:nvPr/>
        </p:nvSpPr>
        <p:spPr>
          <a:xfrm>
            <a:off x="411480" y="4297679"/>
            <a:ext cx="10220707" cy="7741577"/>
          </a:xfrm>
          <a:prstGeom prst="rect">
            <a:avLst/>
          </a:prstGeom>
          <a:solidFill>
            <a:srgbClr val="FFFFFF"/>
          </a:solidFill>
          <a:ln w="1905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24" name="TextBox 23">
            <a:extLst>
              <a:ext uri="{FF2B5EF4-FFF2-40B4-BE49-F238E27FC236}">
                <a16:creationId xmlns:a16="http://schemas.microsoft.com/office/drawing/2014/main" id="{B0580422-C96D-157F-0B43-AF9FC893F5E3}"/>
              </a:ext>
            </a:extLst>
          </p:cNvPr>
          <p:cNvSpPr txBox="1"/>
          <p:nvPr/>
        </p:nvSpPr>
        <p:spPr>
          <a:xfrm>
            <a:off x="640080" y="4526279"/>
            <a:ext cx="9763506" cy="7150675"/>
          </a:xfrm>
          <a:prstGeom prst="rect">
            <a:avLst/>
          </a:prstGeom>
          <a:noFill/>
        </p:spPr>
        <p:txBody>
          <a:bodyPr vert="horz" wrap="square" lIns="0" tIns="0" rIns="0" bIns="0" rtlCol="0">
            <a:spAutoFit/>
          </a:bodyPr>
          <a:lstStyle/>
          <a:p>
            <a:pPr>
              <a:spcAft>
                <a:spcPts val="1000"/>
              </a:spcAft>
            </a:pPr>
            <a:r>
              <a:rPr lang="en-US" sz="3200">
                <a:solidFill>
                  <a:srgbClr val="1A1A1A"/>
                </a:solidFill>
                <a:latin typeface="Trebuchet MS" panose="020B0603020202020204" pitchFamily="34" charset="0"/>
              </a:rPr>
              <a:t>When an IT incident is reported, staff must act before they know its cause: investigate further, apply a likely fix, or pass the incident to someone better placed. The first evidence, an error in the logs or a user's ticket, is often incomplete, unreliable or consistent with several causes.</a:t>
            </a:r>
          </a:p>
          <a:p>
            <a:pPr>
              <a:spcAft>
                <a:spcPts val="1000"/>
              </a:spcAft>
            </a:pPr>
            <a:r>
              <a:rPr lang="en-US" sz="3200">
                <a:solidFill>
                  <a:srgbClr val="1A1A1A"/>
                </a:solidFill>
                <a:latin typeface="Trebuchet MS" panose="020B0603020202020204" pitchFamily="34" charset="0"/>
              </a:rPr>
              <a:t>Most AI tools for IT operations treat triage as a single prediction from the ticket. They cannot ask for more evidence, cannot say that they are unsure, and do not check their suggestions against the organisation's operating rules.</a:t>
            </a:r>
          </a:p>
          <a:p>
            <a:pPr>
              <a:spcAft>
                <a:spcPts val="1000"/>
              </a:spcAft>
            </a:pPr>
            <a:r>
              <a:rPr lang="en-US" sz="3200">
                <a:solidFill>
                  <a:srgbClr val="1A1A1A"/>
                </a:solidFill>
                <a:latin typeface="Trebuchet MS" panose="020B0603020202020204" pitchFamily="34" charset="0"/>
              </a:rPr>
              <a:t>This project designs and evaluates a reinforcement learning agent that learns when to investigate, recommend a permitted fix or escalate.</a:t>
            </a:r>
            <a:endParaRPr lang="en-UG" sz="3200">
              <a:solidFill>
                <a:srgbClr val="1A1A1A"/>
              </a:solidFill>
              <a:latin typeface="Trebuchet MS" panose="020B0603020202020204" pitchFamily="34" charset="0"/>
            </a:endParaRPr>
          </a:p>
        </p:txBody>
      </p:sp>
      <p:sp>
        <p:nvSpPr>
          <p:cNvPr id="25" name="Rectangle 24">
            <a:extLst>
              <a:ext uri="{FF2B5EF4-FFF2-40B4-BE49-F238E27FC236}">
                <a16:creationId xmlns:a16="http://schemas.microsoft.com/office/drawing/2014/main" id="{2A6CD7FA-BACF-4A5D-9A52-7057ADF1B09C}"/>
              </a:ext>
            </a:extLst>
          </p:cNvPr>
          <p:cNvSpPr/>
          <p:nvPr/>
        </p:nvSpPr>
        <p:spPr>
          <a:xfrm>
            <a:off x="411480" y="12492998"/>
            <a:ext cx="10220707" cy="868679"/>
          </a:xfrm>
          <a:prstGeom prst="rect">
            <a:avLst/>
          </a:prstGeom>
          <a:solidFill>
            <a:srgbClr val="0070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26" name="TextBox 25">
            <a:extLst>
              <a:ext uri="{FF2B5EF4-FFF2-40B4-BE49-F238E27FC236}">
                <a16:creationId xmlns:a16="http://schemas.microsoft.com/office/drawing/2014/main" id="{4614BDC2-17BB-3B91-E72F-FB5D1621A654}"/>
              </a:ext>
            </a:extLst>
          </p:cNvPr>
          <p:cNvSpPr txBox="1"/>
          <p:nvPr/>
        </p:nvSpPr>
        <p:spPr>
          <a:xfrm>
            <a:off x="640080" y="12588784"/>
            <a:ext cx="9763506" cy="677108"/>
          </a:xfrm>
          <a:prstGeom prst="rect">
            <a:avLst/>
          </a:prstGeom>
          <a:noFill/>
        </p:spPr>
        <p:txBody>
          <a:bodyPr vert="horz" wrap="square" lIns="0" tIns="0" rIns="0" bIns="0" rtlCol="0">
            <a:spAutoFit/>
          </a:bodyPr>
          <a:lstStyle/>
          <a:p>
            <a:r>
              <a:rPr lang="en-US" sz="4400" b="1">
                <a:solidFill>
                  <a:srgbClr val="FFFFFF"/>
                </a:solidFill>
                <a:latin typeface="Trebuchet MS" panose="020B0603020202020204" pitchFamily="34" charset="0"/>
              </a:rPr>
              <a:t>2.  Research Gap</a:t>
            </a:r>
            <a:endParaRPr lang="en-UG" sz="4400" b="1">
              <a:solidFill>
                <a:srgbClr val="FFFFFF"/>
              </a:solidFill>
              <a:latin typeface="Trebuchet MS" panose="020B0603020202020204" pitchFamily="34" charset="0"/>
            </a:endParaRPr>
          </a:p>
        </p:txBody>
      </p:sp>
      <p:sp>
        <p:nvSpPr>
          <p:cNvPr id="27" name="Rectangle 26">
            <a:extLst>
              <a:ext uri="{FF2B5EF4-FFF2-40B4-BE49-F238E27FC236}">
                <a16:creationId xmlns:a16="http://schemas.microsoft.com/office/drawing/2014/main" id="{1F85A237-6E2F-500A-9BFF-1AC969EFF5D3}"/>
              </a:ext>
            </a:extLst>
          </p:cNvPr>
          <p:cNvSpPr/>
          <p:nvPr/>
        </p:nvSpPr>
        <p:spPr>
          <a:xfrm>
            <a:off x="411480" y="13361677"/>
            <a:ext cx="10220707" cy="16548346"/>
          </a:xfrm>
          <a:prstGeom prst="rect">
            <a:avLst/>
          </a:prstGeom>
          <a:solidFill>
            <a:srgbClr val="FFFFFF"/>
          </a:solidFill>
          <a:ln w="1905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28" name="TextBox 27">
            <a:extLst>
              <a:ext uri="{FF2B5EF4-FFF2-40B4-BE49-F238E27FC236}">
                <a16:creationId xmlns:a16="http://schemas.microsoft.com/office/drawing/2014/main" id="{BEF2B653-CE66-9FCA-0E16-2A3A6DC7E72B}"/>
              </a:ext>
            </a:extLst>
          </p:cNvPr>
          <p:cNvSpPr txBox="1"/>
          <p:nvPr/>
        </p:nvSpPr>
        <p:spPr>
          <a:xfrm>
            <a:off x="640080" y="13590277"/>
            <a:ext cx="9763506" cy="2462213"/>
          </a:xfrm>
          <a:prstGeom prst="rect">
            <a:avLst/>
          </a:prstGeom>
          <a:noFill/>
        </p:spPr>
        <p:txBody>
          <a:bodyPr vert="horz" wrap="square" lIns="0" tIns="0" rIns="0" bIns="0" rtlCol="0">
            <a:spAutoFit/>
          </a:bodyPr>
          <a:lstStyle/>
          <a:p>
            <a:pPr>
              <a:spcAft>
                <a:spcPts val="1000"/>
              </a:spcAft>
            </a:pPr>
            <a:r>
              <a:rPr lang="en-US" sz="3200">
                <a:solidFill>
                  <a:srgbClr val="1A1A1A"/>
                </a:solidFill>
                <a:latin typeface="Trebuchet MS" panose="020B0603020202020204" pitchFamily="34" charset="0"/>
              </a:rPr>
              <a:t>A systematic review reported following PRISMA 2020 (Scopus, ACM Digital Library, IEEE Xplore) included 34 studies of reinforcement learning for IT and security incidents. Each part of the planned agent appears somewhere, but not together:</a:t>
            </a:r>
            <a:endParaRPr lang="en-UG" sz="3200">
              <a:solidFill>
                <a:srgbClr val="1A1A1A"/>
              </a:solidFill>
              <a:latin typeface="Trebuchet MS" panose="020B0603020202020204" pitchFamily="34" charset="0"/>
            </a:endParaRPr>
          </a:p>
        </p:txBody>
      </p:sp>
      <p:pic>
        <p:nvPicPr>
          <p:cNvPr id="30" name="Picture 29">
            <a:extLst>
              <a:ext uri="{FF2B5EF4-FFF2-40B4-BE49-F238E27FC236}">
                <a16:creationId xmlns:a16="http://schemas.microsoft.com/office/drawing/2014/main" id="{31C49575-5282-2F73-69CA-6B59B77A4E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080" y="16350785"/>
            <a:ext cx="9763506" cy="8139214"/>
          </a:xfrm>
          <a:prstGeom prst="rect">
            <a:avLst/>
          </a:prstGeom>
        </p:spPr>
      </p:pic>
      <p:sp>
        <p:nvSpPr>
          <p:cNvPr id="31" name="TextBox 30">
            <a:extLst>
              <a:ext uri="{FF2B5EF4-FFF2-40B4-BE49-F238E27FC236}">
                <a16:creationId xmlns:a16="http://schemas.microsoft.com/office/drawing/2014/main" id="{6A4AA4AE-FF2E-EA85-36AC-B6989B3A7591}"/>
              </a:ext>
            </a:extLst>
          </p:cNvPr>
          <p:cNvSpPr txBox="1"/>
          <p:nvPr/>
        </p:nvSpPr>
        <p:spPr>
          <a:xfrm>
            <a:off x="640080" y="24555836"/>
            <a:ext cx="9763506" cy="369332"/>
          </a:xfrm>
          <a:prstGeom prst="rect">
            <a:avLst/>
          </a:prstGeom>
          <a:noFill/>
        </p:spPr>
        <p:txBody>
          <a:bodyPr vert="horz" wrap="square" lIns="0" tIns="0" rIns="0" bIns="0" rtlCol="0">
            <a:spAutoFit/>
          </a:bodyPr>
          <a:lstStyle/>
          <a:p>
            <a:pPr algn="ctr"/>
            <a:r>
              <a:rPr lang="en-US" sz="2400">
                <a:solidFill>
                  <a:srgbClr val="555555"/>
                </a:solidFill>
                <a:latin typeface="Trebuchet MS" panose="020B0603020202020204" pitchFamily="34" charset="0"/>
              </a:rPr>
              <a:t>Studies (of 34) containing each element</a:t>
            </a:r>
            <a:endParaRPr lang="en-UG" sz="2400">
              <a:solidFill>
                <a:srgbClr val="555555"/>
              </a:solidFill>
              <a:latin typeface="Trebuchet MS" panose="020B0603020202020204" pitchFamily="34" charset="0"/>
            </a:endParaRPr>
          </a:p>
        </p:txBody>
      </p:sp>
      <p:sp>
        <p:nvSpPr>
          <p:cNvPr id="32" name="TextBox 31">
            <a:extLst>
              <a:ext uri="{FF2B5EF4-FFF2-40B4-BE49-F238E27FC236}">
                <a16:creationId xmlns:a16="http://schemas.microsoft.com/office/drawing/2014/main" id="{741DA677-0BDA-C2FE-DC02-F2244F96C887}"/>
              </a:ext>
            </a:extLst>
          </p:cNvPr>
          <p:cNvSpPr txBox="1"/>
          <p:nvPr/>
        </p:nvSpPr>
        <p:spPr>
          <a:xfrm>
            <a:off x="640080" y="25223462"/>
            <a:ext cx="9763506" cy="4324261"/>
          </a:xfrm>
          <a:prstGeom prst="rect">
            <a:avLst/>
          </a:prstGeom>
          <a:noFill/>
        </p:spPr>
        <p:txBody>
          <a:bodyPr vert="horz" wrap="square" lIns="0" tIns="0" rIns="0" bIns="0" rtlCol="0">
            <a:spAutoFit/>
          </a:bodyPr>
          <a:lstStyle/>
          <a:p>
            <a:pPr marL="347472" indent="-347472">
              <a:spcAft>
                <a:spcPts val="1000"/>
              </a:spcAft>
              <a:buFont typeface="+mj-lt"/>
              <a:buChar char="•"/>
            </a:pPr>
            <a:r>
              <a:rPr lang="en-US" sz="3200">
                <a:solidFill>
                  <a:srgbClr val="1A1A1A"/>
                </a:solidFill>
                <a:latin typeface="Trebuchet MS" panose="020B0603020202020204" pitchFamily="34" charset="0"/>
              </a:rPr>
              <a:t>Alert-triage agents hand cases over, but none recommends a repair or checks it against rules.</a:t>
            </a:r>
          </a:p>
          <a:p>
            <a:pPr marL="347472" indent="-347472">
              <a:spcAft>
                <a:spcPts val="1000"/>
              </a:spcAft>
              <a:buFont typeface="+mj-lt"/>
              <a:buChar char="•"/>
            </a:pPr>
            <a:r>
              <a:rPr lang="en-US" sz="3200">
                <a:solidFill>
                  <a:srgbClr val="1A1A1A"/>
                </a:solidFill>
                <a:latin typeface="Trebuchet MS" panose="020B0603020202020204" pitchFamily="34" charset="0"/>
              </a:rPr>
              <a:t>Rule-mechanism studies enforce rules but never learn when to hand over, and disagree on the cost.</a:t>
            </a:r>
          </a:p>
          <a:p>
            <a:pPr marL="347472" indent="-347472">
              <a:spcAft>
                <a:spcPts val="1000"/>
              </a:spcAft>
              <a:buFont typeface="+mj-lt"/>
              <a:buChar char="•"/>
            </a:pPr>
            <a:r>
              <a:rPr lang="en-US" sz="3200">
                <a:solidFill>
                  <a:srgbClr val="1A1A1A"/>
                </a:solidFill>
                <a:latin typeface="Trebuchet MS" panose="020B0603020202020204" pitchFamily="34" charset="0"/>
              </a:rPr>
              <a:t>Only 3 studies say what happens to a blocked action; none lets the agent propose again.</a:t>
            </a:r>
          </a:p>
          <a:p>
            <a:pPr marL="347472" indent="-347472">
              <a:spcAft>
                <a:spcPts val="1000"/>
              </a:spcAft>
              <a:buFont typeface="+mj-lt"/>
              <a:buChar char="•"/>
            </a:pPr>
            <a:r>
              <a:rPr lang="en-US" sz="3200">
                <a:solidFill>
                  <a:srgbClr val="1A1A1A"/>
                </a:solidFill>
                <a:latin typeface="Trebuchet MS" panose="020B0603020202020204" pitchFamily="34" charset="0"/>
              </a:rPr>
              <a:t>No reviewed study measures how investigating, acting and escalating change as ambiguity rises.</a:t>
            </a:r>
            <a:endParaRPr lang="en-UG" sz="3200">
              <a:solidFill>
                <a:srgbClr val="1A1A1A"/>
              </a:solidFill>
              <a:latin typeface="Trebuchet MS" panose="020B0603020202020204" pitchFamily="34" charset="0"/>
            </a:endParaRPr>
          </a:p>
        </p:txBody>
      </p:sp>
      <p:sp>
        <p:nvSpPr>
          <p:cNvPr id="51" name="Rectangle 50">
            <a:extLst>
              <a:ext uri="{FF2B5EF4-FFF2-40B4-BE49-F238E27FC236}">
                <a16:creationId xmlns:a16="http://schemas.microsoft.com/office/drawing/2014/main" id="{EC5766A6-F247-5094-C2A8-36C9104E41CD}"/>
              </a:ext>
            </a:extLst>
          </p:cNvPr>
          <p:cNvSpPr/>
          <p:nvPr/>
        </p:nvSpPr>
        <p:spPr>
          <a:xfrm>
            <a:off x="10997946" y="3428999"/>
            <a:ext cx="10220706" cy="868680"/>
          </a:xfrm>
          <a:prstGeom prst="rect">
            <a:avLst/>
          </a:prstGeom>
          <a:solidFill>
            <a:srgbClr val="C039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52" name="TextBox 51">
            <a:extLst>
              <a:ext uri="{FF2B5EF4-FFF2-40B4-BE49-F238E27FC236}">
                <a16:creationId xmlns:a16="http://schemas.microsoft.com/office/drawing/2014/main" id="{F04D5312-B684-24BC-0DDB-EED14806E055}"/>
              </a:ext>
            </a:extLst>
          </p:cNvPr>
          <p:cNvSpPr txBox="1"/>
          <p:nvPr/>
        </p:nvSpPr>
        <p:spPr>
          <a:xfrm>
            <a:off x="11226546" y="3524785"/>
            <a:ext cx="9763506" cy="677108"/>
          </a:xfrm>
          <a:prstGeom prst="rect">
            <a:avLst/>
          </a:prstGeom>
          <a:noFill/>
        </p:spPr>
        <p:txBody>
          <a:bodyPr vert="horz" wrap="square" lIns="0" tIns="0" rIns="0" bIns="0" rtlCol="0">
            <a:spAutoFit/>
          </a:bodyPr>
          <a:lstStyle/>
          <a:p>
            <a:r>
              <a:rPr lang="en-US" sz="4400" b="1">
                <a:solidFill>
                  <a:srgbClr val="FFFFFF"/>
                </a:solidFill>
                <a:latin typeface="Trebuchet MS" panose="020B0603020202020204" pitchFamily="34" charset="0"/>
              </a:rPr>
              <a:t>3.  Problem Statement</a:t>
            </a:r>
            <a:endParaRPr lang="en-UG" sz="4400" b="1">
              <a:solidFill>
                <a:srgbClr val="FFFFFF"/>
              </a:solidFill>
              <a:latin typeface="Trebuchet MS" panose="020B0603020202020204" pitchFamily="34" charset="0"/>
            </a:endParaRPr>
          </a:p>
        </p:txBody>
      </p:sp>
      <p:sp>
        <p:nvSpPr>
          <p:cNvPr id="53" name="Rectangle 52">
            <a:extLst>
              <a:ext uri="{FF2B5EF4-FFF2-40B4-BE49-F238E27FC236}">
                <a16:creationId xmlns:a16="http://schemas.microsoft.com/office/drawing/2014/main" id="{CF36373A-49F2-2820-0BA6-2AD5F6AEF60A}"/>
              </a:ext>
            </a:extLst>
          </p:cNvPr>
          <p:cNvSpPr/>
          <p:nvPr/>
        </p:nvSpPr>
        <p:spPr>
          <a:xfrm>
            <a:off x="10997946" y="4297679"/>
            <a:ext cx="10220706" cy="3558970"/>
          </a:xfrm>
          <a:prstGeom prst="rect">
            <a:avLst/>
          </a:prstGeom>
          <a:solidFill>
            <a:srgbClr val="FFFFFF"/>
          </a:solidFill>
          <a:ln w="1905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54" name="TextBox 53">
            <a:extLst>
              <a:ext uri="{FF2B5EF4-FFF2-40B4-BE49-F238E27FC236}">
                <a16:creationId xmlns:a16="http://schemas.microsoft.com/office/drawing/2014/main" id="{9765561A-1E32-5DA0-4457-60B9065B6BCA}"/>
              </a:ext>
            </a:extLst>
          </p:cNvPr>
          <p:cNvSpPr txBox="1"/>
          <p:nvPr/>
        </p:nvSpPr>
        <p:spPr>
          <a:xfrm>
            <a:off x="11226546" y="4526279"/>
            <a:ext cx="9763506" cy="3082895"/>
          </a:xfrm>
          <a:prstGeom prst="rect">
            <a:avLst/>
          </a:prstGeom>
          <a:noFill/>
        </p:spPr>
        <p:txBody>
          <a:bodyPr vert="horz" wrap="square" lIns="0" tIns="0" rIns="0" bIns="0" rtlCol="0">
            <a:spAutoFit/>
          </a:bodyPr>
          <a:lstStyle/>
          <a:p>
            <a:pPr>
              <a:spcAft>
                <a:spcPts val="1000"/>
              </a:spcAft>
            </a:pPr>
            <a:r>
              <a:rPr lang="en-US" sz="3200">
                <a:solidFill>
                  <a:srgbClr val="1A1A1A"/>
                </a:solidFill>
                <a:latin typeface="Trebuchet MS" panose="020B0603020202020204" pitchFamily="34" charset="0"/>
              </a:rPr>
              <a:t>In the reviewed literature, no evaluated agent for IT service incidents learns when to investigate, when to recommend a fix that the operational rules permit, and when to hand the incident to a person.</a:t>
            </a:r>
          </a:p>
          <a:p>
            <a:pPr>
              <a:spcAft>
                <a:spcPts val="1000"/>
              </a:spcAft>
            </a:pPr>
            <a:r>
              <a:rPr lang="en-US" sz="3200">
                <a:solidFill>
                  <a:srgbClr val="1A1A1A"/>
                </a:solidFill>
                <a:latin typeface="Trebuchet MS" panose="020B0603020202020204" pitchFamily="34" charset="0"/>
              </a:rPr>
              <a:t>The agent is built with the Directorate of University ICT Services (UIS) at Uganda Christian University.</a:t>
            </a:r>
            <a:endParaRPr lang="en-UG" sz="3200">
              <a:solidFill>
                <a:srgbClr val="1A1A1A"/>
              </a:solidFill>
              <a:latin typeface="Trebuchet MS" panose="020B0603020202020204" pitchFamily="34" charset="0"/>
            </a:endParaRPr>
          </a:p>
        </p:txBody>
      </p:sp>
      <p:sp>
        <p:nvSpPr>
          <p:cNvPr id="55" name="Rectangle 54">
            <a:extLst>
              <a:ext uri="{FF2B5EF4-FFF2-40B4-BE49-F238E27FC236}">
                <a16:creationId xmlns:a16="http://schemas.microsoft.com/office/drawing/2014/main" id="{8E6F4196-1AA1-4DEB-99A0-24108D1BF2CB}"/>
              </a:ext>
            </a:extLst>
          </p:cNvPr>
          <p:cNvSpPr/>
          <p:nvPr/>
        </p:nvSpPr>
        <p:spPr>
          <a:xfrm>
            <a:off x="10997946" y="8195564"/>
            <a:ext cx="10220706" cy="868680"/>
          </a:xfrm>
          <a:prstGeom prst="rect">
            <a:avLst/>
          </a:prstGeom>
          <a:solidFill>
            <a:srgbClr val="0070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56" name="TextBox 55">
            <a:extLst>
              <a:ext uri="{FF2B5EF4-FFF2-40B4-BE49-F238E27FC236}">
                <a16:creationId xmlns:a16="http://schemas.microsoft.com/office/drawing/2014/main" id="{44E2B94A-3EB2-5417-8996-B972F6DAE7CE}"/>
              </a:ext>
            </a:extLst>
          </p:cNvPr>
          <p:cNvSpPr txBox="1"/>
          <p:nvPr/>
        </p:nvSpPr>
        <p:spPr>
          <a:xfrm>
            <a:off x="11226546" y="8291350"/>
            <a:ext cx="9763506" cy="677108"/>
          </a:xfrm>
          <a:prstGeom prst="rect">
            <a:avLst/>
          </a:prstGeom>
          <a:noFill/>
        </p:spPr>
        <p:txBody>
          <a:bodyPr vert="horz" wrap="square" lIns="0" tIns="0" rIns="0" bIns="0" rtlCol="0">
            <a:spAutoFit/>
          </a:bodyPr>
          <a:lstStyle/>
          <a:p>
            <a:r>
              <a:rPr lang="en-US" sz="4400" b="1">
                <a:solidFill>
                  <a:srgbClr val="FFFFFF"/>
                </a:solidFill>
                <a:latin typeface="Trebuchet MS" panose="020B0603020202020204" pitchFamily="34" charset="0"/>
              </a:rPr>
              <a:t>4.  Objectives</a:t>
            </a:r>
            <a:endParaRPr lang="en-UG" sz="4400" b="1">
              <a:solidFill>
                <a:srgbClr val="FFFFFF"/>
              </a:solidFill>
              <a:latin typeface="Trebuchet MS" panose="020B0603020202020204" pitchFamily="34" charset="0"/>
            </a:endParaRPr>
          </a:p>
        </p:txBody>
      </p:sp>
      <p:sp>
        <p:nvSpPr>
          <p:cNvPr id="57" name="Rectangle 56">
            <a:extLst>
              <a:ext uri="{FF2B5EF4-FFF2-40B4-BE49-F238E27FC236}">
                <a16:creationId xmlns:a16="http://schemas.microsoft.com/office/drawing/2014/main" id="{1E6DFC7B-233B-8641-9E91-3A5BE718BA0B}"/>
              </a:ext>
            </a:extLst>
          </p:cNvPr>
          <p:cNvSpPr/>
          <p:nvPr/>
        </p:nvSpPr>
        <p:spPr>
          <a:xfrm>
            <a:off x="10997946" y="9064244"/>
            <a:ext cx="10220706" cy="5164537"/>
          </a:xfrm>
          <a:prstGeom prst="rect">
            <a:avLst/>
          </a:prstGeom>
          <a:solidFill>
            <a:srgbClr val="FFFFFF"/>
          </a:solidFill>
          <a:ln w="1905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58" name="TextBox 57">
            <a:extLst>
              <a:ext uri="{FF2B5EF4-FFF2-40B4-BE49-F238E27FC236}">
                <a16:creationId xmlns:a16="http://schemas.microsoft.com/office/drawing/2014/main" id="{38F22710-DBFD-14C1-37FC-C315624441BB}"/>
              </a:ext>
            </a:extLst>
          </p:cNvPr>
          <p:cNvSpPr txBox="1"/>
          <p:nvPr/>
        </p:nvSpPr>
        <p:spPr>
          <a:xfrm>
            <a:off x="11226546" y="9292844"/>
            <a:ext cx="9763506" cy="4688463"/>
          </a:xfrm>
          <a:prstGeom prst="rect">
            <a:avLst/>
          </a:prstGeom>
          <a:noFill/>
        </p:spPr>
        <p:txBody>
          <a:bodyPr vert="horz" wrap="square" lIns="0" tIns="0" rIns="0" bIns="0" rtlCol="0">
            <a:spAutoFit/>
          </a:bodyPr>
          <a:lstStyle/>
          <a:p>
            <a:pPr marL="347472" indent="-347472">
              <a:spcAft>
                <a:spcPts val="1000"/>
              </a:spcAft>
              <a:buFont typeface="+mj-lt"/>
              <a:buChar char="•"/>
            </a:pPr>
            <a:r>
              <a:rPr lang="en-US" sz="3200" b="1">
                <a:solidFill>
                  <a:srgbClr val="1A1A1A"/>
                </a:solidFill>
                <a:latin typeface="Trebuchet MS" panose="020B0603020202020204" pitchFamily="34" charset="0"/>
              </a:rPr>
              <a:t>Build:</a:t>
            </a:r>
            <a:r>
              <a:rPr lang="en-US" sz="3200">
                <a:solidFill>
                  <a:srgbClr val="1A1A1A"/>
                </a:solidFill>
                <a:latin typeface="Trebuchet MS" panose="020B0603020202020204" pitchFamily="34" charset="0"/>
              </a:rPr>
              <a:t> a simulator from about 15 causes, 20 checks and 10 rules elicited from UIS, with controllable ambiguity.</a:t>
            </a:r>
          </a:p>
          <a:p>
            <a:pPr marL="347472" indent="-347472">
              <a:spcAft>
                <a:spcPts val="1000"/>
              </a:spcAft>
              <a:buFont typeface="+mj-lt"/>
              <a:buChar char="•"/>
            </a:pPr>
            <a:r>
              <a:rPr lang="en-US" sz="3200" b="1">
                <a:solidFill>
                  <a:srgbClr val="1A1A1A"/>
                </a:solidFill>
                <a:latin typeface="Trebuchet MS" panose="020B0603020202020204" pitchFamily="34" charset="0"/>
              </a:rPr>
              <a:t>Train:</a:t>
            </a:r>
            <a:r>
              <a:rPr lang="en-US" sz="3200">
                <a:solidFill>
                  <a:srgbClr val="1A1A1A"/>
                </a:solidFill>
                <a:latin typeface="Trebuchet MS" panose="020B0603020202020204" pitchFamily="34" charset="0"/>
              </a:rPr>
              <a:t> a deep Q-network that requests checks, recommends permitted fixes or escalates, under a rule mechanism.</a:t>
            </a:r>
          </a:p>
          <a:p>
            <a:pPr marL="347472" indent="-347472">
              <a:spcAft>
                <a:spcPts val="1000"/>
              </a:spcAft>
              <a:buFont typeface="+mj-lt"/>
              <a:buChar char="•"/>
            </a:pPr>
            <a:r>
              <a:rPr lang="en-US" sz="3200" b="1">
                <a:solidFill>
                  <a:srgbClr val="1A1A1A"/>
                </a:solidFill>
                <a:latin typeface="Trebuchet MS" panose="020B0603020202020204" pitchFamily="34" charset="0"/>
              </a:rPr>
              <a:t>Evaluate:</a:t>
            </a:r>
            <a:r>
              <a:rPr lang="en-US" sz="3200">
                <a:solidFill>
                  <a:srgbClr val="1A1A1A"/>
                </a:solidFill>
                <a:latin typeface="Trebuchet MS" panose="020B0603020202020204" pitchFamily="34" charset="0"/>
              </a:rPr>
              <a:t> against six baselines on decision quality, cost, escalation and compliance, across ambiguity levels.</a:t>
            </a:r>
            <a:endParaRPr lang="en-UG" sz="3200">
              <a:solidFill>
                <a:srgbClr val="1A1A1A"/>
              </a:solidFill>
              <a:latin typeface="Trebuchet MS" panose="020B0603020202020204" pitchFamily="34" charset="0"/>
            </a:endParaRPr>
          </a:p>
        </p:txBody>
      </p:sp>
      <p:sp>
        <p:nvSpPr>
          <p:cNvPr id="59" name="Rectangle 58">
            <a:extLst>
              <a:ext uri="{FF2B5EF4-FFF2-40B4-BE49-F238E27FC236}">
                <a16:creationId xmlns:a16="http://schemas.microsoft.com/office/drawing/2014/main" id="{71ADA8BA-C0FE-FA42-E04E-EF2BAAD3D8DD}"/>
              </a:ext>
            </a:extLst>
          </p:cNvPr>
          <p:cNvSpPr/>
          <p:nvPr/>
        </p:nvSpPr>
        <p:spPr>
          <a:xfrm>
            <a:off x="10997946" y="14567697"/>
            <a:ext cx="10220706" cy="868680"/>
          </a:xfrm>
          <a:prstGeom prst="rect">
            <a:avLst/>
          </a:prstGeom>
          <a:solidFill>
            <a:srgbClr val="C039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60" name="TextBox 59">
            <a:extLst>
              <a:ext uri="{FF2B5EF4-FFF2-40B4-BE49-F238E27FC236}">
                <a16:creationId xmlns:a16="http://schemas.microsoft.com/office/drawing/2014/main" id="{2111775D-D018-607A-1387-533CF362F77D}"/>
              </a:ext>
            </a:extLst>
          </p:cNvPr>
          <p:cNvSpPr txBox="1"/>
          <p:nvPr/>
        </p:nvSpPr>
        <p:spPr>
          <a:xfrm>
            <a:off x="11226546" y="14663482"/>
            <a:ext cx="9763506" cy="677108"/>
          </a:xfrm>
          <a:prstGeom prst="rect">
            <a:avLst/>
          </a:prstGeom>
          <a:noFill/>
        </p:spPr>
        <p:txBody>
          <a:bodyPr vert="horz" wrap="square" lIns="0" tIns="0" rIns="0" bIns="0" rtlCol="0">
            <a:spAutoFit/>
          </a:bodyPr>
          <a:lstStyle/>
          <a:p>
            <a:r>
              <a:rPr lang="en-US" sz="4400" b="1">
                <a:solidFill>
                  <a:srgbClr val="FFFFFF"/>
                </a:solidFill>
                <a:latin typeface="Trebuchet MS" panose="020B0603020202020204" pitchFamily="34" charset="0"/>
              </a:rPr>
              <a:t>5.  Research Questions</a:t>
            </a:r>
            <a:endParaRPr lang="en-UG" sz="4400" b="1">
              <a:solidFill>
                <a:srgbClr val="FFFFFF"/>
              </a:solidFill>
              <a:latin typeface="Trebuchet MS" panose="020B0603020202020204" pitchFamily="34" charset="0"/>
            </a:endParaRPr>
          </a:p>
        </p:txBody>
      </p:sp>
      <p:sp>
        <p:nvSpPr>
          <p:cNvPr id="61" name="Rectangle 60">
            <a:extLst>
              <a:ext uri="{FF2B5EF4-FFF2-40B4-BE49-F238E27FC236}">
                <a16:creationId xmlns:a16="http://schemas.microsoft.com/office/drawing/2014/main" id="{CCE70CD4-46DE-15F9-2C78-F4EABA46E8AF}"/>
              </a:ext>
            </a:extLst>
          </p:cNvPr>
          <p:cNvSpPr/>
          <p:nvPr/>
        </p:nvSpPr>
        <p:spPr>
          <a:xfrm>
            <a:off x="10997946" y="15436377"/>
            <a:ext cx="10220706" cy="6770106"/>
          </a:xfrm>
          <a:prstGeom prst="rect">
            <a:avLst/>
          </a:prstGeom>
          <a:solidFill>
            <a:srgbClr val="FFFFFF"/>
          </a:solidFill>
          <a:ln w="1905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62" name="TextBox 61">
            <a:extLst>
              <a:ext uri="{FF2B5EF4-FFF2-40B4-BE49-F238E27FC236}">
                <a16:creationId xmlns:a16="http://schemas.microsoft.com/office/drawing/2014/main" id="{B3CAED92-FB9D-3C4A-586C-206C5B73585E}"/>
              </a:ext>
            </a:extLst>
          </p:cNvPr>
          <p:cNvSpPr txBox="1"/>
          <p:nvPr/>
        </p:nvSpPr>
        <p:spPr>
          <a:xfrm>
            <a:off x="11226546" y="15664977"/>
            <a:ext cx="9763506" cy="6294031"/>
          </a:xfrm>
          <a:prstGeom prst="rect">
            <a:avLst/>
          </a:prstGeom>
          <a:noFill/>
        </p:spPr>
        <p:txBody>
          <a:bodyPr vert="horz" wrap="square" lIns="0" tIns="0" rIns="0" bIns="0" rtlCol="0">
            <a:spAutoFit/>
          </a:bodyPr>
          <a:lstStyle/>
          <a:p>
            <a:pPr marL="347472" indent="-347472">
              <a:spcAft>
                <a:spcPts val="1000"/>
              </a:spcAft>
              <a:buFont typeface="+mj-lt"/>
              <a:buChar char="•"/>
            </a:pPr>
            <a:r>
              <a:rPr lang="en-US" sz="3200" b="1">
                <a:solidFill>
                  <a:srgbClr val="1A1A1A"/>
                </a:solidFill>
                <a:latin typeface="Trebuchet MS" panose="020B0603020202020204" pitchFamily="34" charset="0"/>
              </a:rPr>
              <a:t>RQ1:</a:t>
            </a:r>
            <a:r>
              <a:rPr lang="en-US" sz="3200">
                <a:solidFill>
                  <a:srgbClr val="1A1A1A"/>
                </a:solidFill>
                <a:latin typeface="Trebuchet MS" panose="020B0603020202020204" pitchFamily="34" charset="0"/>
              </a:rPr>
              <a:t> How can ambiguous UIS incidents be simulated with controllable missing, unreliable and overlapping evidence?</a:t>
            </a:r>
          </a:p>
          <a:p>
            <a:pPr marL="347472" indent="-347472">
              <a:spcAft>
                <a:spcPts val="1000"/>
              </a:spcAft>
              <a:buFont typeface="+mj-lt"/>
              <a:buChar char="•"/>
            </a:pPr>
            <a:r>
              <a:rPr lang="en-US" sz="3200" b="1">
                <a:solidFill>
                  <a:srgbClr val="1A1A1A"/>
                </a:solidFill>
                <a:latin typeface="Trebuchet MS" panose="020B0603020202020204" pitchFamily="34" charset="0"/>
              </a:rPr>
              <a:t>RQ2:</a:t>
            </a:r>
            <a:r>
              <a:rPr lang="en-US" sz="3200">
                <a:solidFill>
                  <a:srgbClr val="1A1A1A"/>
                </a:solidFill>
                <a:latin typeface="Trebuchet MS" panose="020B0603020202020204" pitchFamily="34" charset="0"/>
              </a:rPr>
              <a:t> How well can an agent learn when to investigate, recommend a permitted fix or escalate, and do the findings hold with PPO?</a:t>
            </a:r>
          </a:p>
          <a:p>
            <a:pPr marL="347472" indent="-347472">
              <a:spcAft>
                <a:spcPts val="1000"/>
              </a:spcAft>
              <a:buFont typeface="+mj-lt"/>
              <a:buChar char="•"/>
            </a:pPr>
            <a:r>
              <a:rPr lang="en-US" sz="3200" b="1">
                <a:solidFill>
                  <a:srgbClr val="1A1A1A"/>
                </a:solidFill>
                <a:latin typeface="Trebuchet MS" panose="020B0603020202020204" pitchFamily="34" charset="0"/>
              </a:rPr>
              <a:t>RQ3:</a:t>
            </a:r>
            <a:r>
              <a:rPr lang="en-US" sz="3200">
                <a:solidFill>
                  <a:srgbClr val="1A1A1A"/>
                </a:solidFill>
                <a:latin typeface="Trebuchet MS" panose="020B0603020202020204" pitchFamily="34" charset="0"/>
              </a:rPr>
              <a:t> How does the two-proposal rule mechanism affect compliant success and decisions, against no mechanism or a penalty only?</a:t>
            </a:r>
          </a:p>
          <a:p>
            <a:pPr marL="347472" indent="-347472">
              <a:spcAft>
                <a:spcPts val="1000"/>
              </a:spcAft>
              <a:buFont typeface="+mj-lt"/>
              <a:buChar char="•"/>
            </a:pPr>
            <a:r>
              <a:rPr lang="en-US" sz="3200" b="1">
                <a:solidFill>
                  <a:srgbClr val="1A1A1A"/>
                </a:solidFill>
                <a:latin typeface="Trebuchet MS" panose="020B0603020202020204" pitchFamily="34" charset="0"/>
              </a:rPr>
              <a:t>RQ4:</a:t>
            </a:r>
            <a:r>
              <a:rPr lang="en-US" sz="3200">
                <a:solidFill>
                  <a:srgbClr val="1A1A1A"/>
                </a:solidFill>
                <a:latin typeface="Trebuchet MS" panose="020B0603020202020204" pitchFamily="34" charset="0"/>
              </a:rPr>
              <a:t> How does the agent compare with the baselines as the evidence becomes more ambiguous?</a:t>
            </a:r>
            <a:endParaRPr lang="en-UG" sz="3200">
              <a:solidFill>
                <a:srgbClr val="1A1A1A"/>
              </a:solidFill>
              <a:latin typeface="Trebuchet MS" panose="020B0603020202020204" pitchFamily="34" charset="0"/>
            </a:endParaRPr>
          </a:p>
        </p:txBody>
      </p:sp>
      <p:sp>
        <p:nvSpPr>
          <p:cNvPr id="63" name="Rectangle 62">
            <a:extLst>
              <a:ext uri="{FF2B5EF4-FFF2-40B4-BE49-F238E27FC236}">
                <a16:creationId xmlns:a16="http://schemas.microsoft.com/office/drawing/2014/main" id="{3BA45480-96AA-97B0-B095-A6F53952612B}"/>
              </a:ext>
            </a:extLst>
          </p:cNvPr>
          <p:cNvSpPr/>
          <p:nvPr/>
        </p:nvSpPr>
        <p:spPr>
          <a:xfrm>
            <a:off x="10997946" y="22545397"/>
            <a:ext cx="10220706" cy="868681"/>
          </a:xfrm>
          <a:prstGeom prst="rect">
            <a:avLst/>
          </a:prstGeom>
          <a:solidFill>
            <a:srgbClr val="0070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64" name="TextBox 63">
            <a:extLst>
              <a:ext uri="{FF2B5EF4-FFF2-40B4-BE49-F238E27FC236}">
                <a16:creationId xmlns:a16="http://schemas.microsoft.com/office/drawing/2014/main" id="{6367E12C-35B9-FC0B-4C1F-9E96670FC79A}"/>
              </a:ext>
            </a:extLst>
          </p:cNvPr>
          <p:cNvSpPr txBox="1"/>
          <p:nvPr/>
        </p:nvSpPr>
        <p:spPr>
          <a:xfrm>
            <a:off x="11226546" y="22641184"/>
            <a:ext cx="9763506" cy="677108"/>
          </a:xfrm>
          <a:prstGeom prst="rect">
            <a:avLst/>
          </a:prstGeom>
          <a:noFill/>
        </p:spPr>
        <p:txBody>
          <a:bodyPr vert="horz" wrap="square" lIns="0" tIns="0" rIns="0" bIns="0" rtlCol="0">
            <a:spAutoFit/>
          </a:bodyPr>
          <a:lstStyle/>
          <a:p>
            <a:r>
              <a:rPr lang="en-US" sz="4400" b="1">
                <a:solidFill>
                  <a:srgbClr val="FFFFFF"/>
                </a:solidFill>
                <a:latin typeface="Trebuchet MS" panose="020B0603020202020204" pitchFamily="34" charset="0"/>
              </a:rPr>
              <a:t>6.  Conceptual Framework</a:t>
            </a:r>
            <a:endParaRPr lang="en-UG" sz="4400" b="1">
              <a:solidFill>
                <a:srgbClr val="FFFFFF"/>
              </a:solidFill>
              <a:latin typeface="Trebuchet MS" panose="020B0603020202020204" pitchFamily="34" charset="0"/>
            </a:endParaRPr>
          </a:p>
        </p:txBody>
      </p:sp>
      <p:sp>
        <p:nvSpPr>
          <p:cNvPr id="65" name="Rectangle 64">
            <a:extLst>
              <a:ext uri="{FF2B5EF4-FFF2-40B4-BE49-F238E27FC236}">
                <a16:creationId xmlns:a16="http://schemas.microsoft.com/office/drawing/2014/main" id="{0277C616-EF4A-3638-74EA-77D8B5CCB0BB}"/>
              </a:ext>
            </a:extLst>
          </p:cNvPr>
          <p:cNvSpPr/>
          <p:nvPr/>
        </p:nvSpPr>
        <p:spPr>
          <a:xfrm>
            <a:off x="10997946" y="23414078"/>
            <a:ext cx="10220706" cy="6495946"/>
          </a:xfrm>
          <a:prstGeom prst="rect">
            <a:avLst/>
          </a:prstGeom>
          <a:solidFill>
            <a:srgbClr val="FFFFFF"/>
          </a:solidFill>
          <a:ln w="1905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pic>
        <p:nvPicPr>
          <p:cNvPr id="67" name="Picture 66">
            <a:extLst>
              <a:ext uri="{FF2B5EF4-FFF2-40B4-BE49-F238E27FC236}">
                <a16:creationId xmlns:a16="http://schemas.microsoft.com/office/drawing/2014/main" id="{97BC6161-5AB2-F3E1-8A44-0808D6CB4E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26546" y="23642678"/>
            <a:ext cx="9763506" cy="5584703"/>
          </a:xfrm>
          <a:prstGeom prst="rect">
            <a:avLst/>
          </a:prstGeom>
        </p:spPr>
      </p:pic>
      <p:sp>
        <p:nvSpPr>
          <p:cNvPr id="68" name="TextBox 67">
            <a:extLst>
              <a:ext uri="{FF2B5EF4-FFF2-40B4-BE49-F238E27FC236}">
                <a16:creationId xmlns:a16="http://schemas.microsoft.com/office/drawing/2014/main" id="{4A290AF2-8D1E-E5CF-5EC1-29009A8EEF8D}"/>
              </a:ext>
            </a:extLst>
          </p:cNvPr>
          <p:cNvSpPr txBox="1"/>
          <p:nvPr/>
        </p:nvSpPr>
        <p:spPr>
          <a:xfrm>
            <a:off x="11226546" y="29293217"/>
            <a:ext cx="9763506" cy="369332"/>
          </a:xfrm>
          <a:prstGeom prst="rect">
            <a:avLst/>
          </a:prstGeom>
          <a:noFill/>
        </p:spPr>
        <p:txBody>
          <a:bodyPr vert="horz" wrap="square" lIns="0" tIns="0" rIns="0" bIns="0" rtlCol="0">
            <a:spAutoFit/>
          </a:bodyPr>
          <a:lstStyle/>
          <a:p>
            <a:pPr algn="ctr"/>
            <a:r>
              <a:rPr lang="en-US" sz="2400">
                <a:solidFill>
                  <a:srgbClr val="555555"/>
                </a:solidFill>
                <a:latin typeface="Trebuchet MS" panose="020B0603020202020204" pitchFamily="34" charset="0"/>
              </a:rPr>
              <a:t>The agent proposes; the rule mechanism permits, returns or escalates</a:t>
            </a:r>
            <a:endParaRPr lang="en-UG" sz="2400">
              <a:solidFill>
                <a:srgbClr val="555555"/>
              </a:solidFill>
              <a:latin typeface="Trebuchet MS" panose="020B0603020202020204" pitchFamily="34" charset="0"/>
            </a:endParaRPr>
          </a:p>
        </p:txBody>
      </p:sp>
      <p:sp>
        <p:nvSpPr>
          <p:cNvPr id="86" name="Rectangle 85">
            <a:extLst>
              <a:ext uri="{FF2B5EF4-FFF2-40B4-BE49-F238E27FC236}">
                <a16:creationId xmlns:a16="http://schemas.microsoft.com/office/drawing/2014/main" id="{09FDC754-EACE-36FF-338A-FFF1CAF79DB8}"/>
              </a:ext>
            </a:extLst>
          </p:cNvPr>
          <p:cNvSpPr/>
          <p:nvPr/>
        </p:nvSpPr>
        <p:spPr>
          <a:xfrm>
            <a:off x="21584413" y="3428999"/>
            <a:ext cx="10220706" cy="868680"/>
          </a:xfrm>
          <a:prstGeom prst="rect">
            <a:avLst/>
          </a:prstGeom>
          <a:solidFill>
            <a:srgbClr val="C039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87" name="TextBox 86">
            <a:extLst>
              <a:ext uri="{FF2B5EF4-FFF2-40B4-BE49-F238E27FC236}">
                <a16:creationId xmlns:a16="http://schemas.microsoft.com/office/drawing/2014/main" id="{5B8A1F59-FA97-7893-9A08-F3532F83E378}"/>
              </a:ext>
            </a:extLst>
          </p:cNvPr>
          <p:cNvSpPr txBox="1"/>
          <p:nvPr/>
        </p:nvSpPr>
        <p:spPr>
          <a:xfrm>
            <a:off x="21813013" y="3524785"/>
            <a:ext cx="9763506" cy="677108"/>
          </a:xfrm>
          <a:prstGeom prst="rect">
            <a:avLst/>
          </a:prstGeom>
          <a:noFill/>
        </p:spPr>
        <p:txBody>
          <a:bodyPr vert="horz" wrap="square" lIns="0" tIns="0" rIns="0" bIns="0" rtlCol="0">
            <a:spAutoFit/>
          </a:bodyPr>
          <a:lstStyle/>
          <a:p>
            <a:r>
              <a:rPr lang="en-US" sz="4400" b="1">
                <a:solidFill>
                  <a:srgbClr val="FFFFFF"/>
                </a:solidFill>
                <a:latin typeface="Trebuchet MS" panose="020B0603020202020204" pitchFamily="34" charset="0"/>
              </a:rPr>
              <a:t>7.  Methodology</a:t>
            </a:r>
            <a:endParaRPr lang="en-UG" sz="4400" b="1">
              <a:solidFill>
                <a:srgbClr val="FFFFFF"/>
              </a:solidFill>
              <a:latin typeface="Trebuchet MS" panose="020B0603020202020204" pitchFamily="34" charset="0"/>
            </a:endParaRPr>
          </a:p>
        </p:txBody>
      </p:sp>
      <p:sp>
        <p:nvSpPr>
          <p:cNvPr id="88" name="Rectangle 87">
            <a:extLst>
              <a:ext uri="{FF2B5EF4-FFF2-40B4-BE49-F238E27FC236}">
                <a16:creationId xmlns:a16="http://schemas.microsoft.com/office/drawing/2014/main" id="{F7C24198-4D9E-E001-2A58-D0968736C484}"/>
              </a:ext>
            </a:extLst>
          </p:cNvPr>
          <p:cNvSpPr/>
          <p:nvPr/>
        </p:nvSpPr>
        <p:spPr>
          <a:xfrm>
            <a:off x="21584413" y="4297679"/>
            <a:ext cx="10220706" cy="12440045"/>
          </a:xfrm>
          <a:prstGeom prst="rect">
            <a:avLst/>
          </a:prstGeom>
          <a:solidFill>
            <a:srgbClr val="FFFFFF"/>
          </a:solidFill>
          <a:ln w="1905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89" name="TextBox 88">
            <a:extLst>
              <a:ext uri="{FF2B5EF4-FFF2-40B4-BE49-F238E27FC236}">
                <a16:creationId xmlns:a16="http://schemas.microsoft.com/office/drawing/2014/main" id="{F41C3A63-ED6C-F07D-DAF9-AA9FC4DF768B}"/>
              </a:ext>
            </a:extLst>
          </p:cNvPr>
          <p:cNvSpPr txBox="1"/>
          <p:nvPr/>
        </p:nvSpPr>
        <p:spPr>
          <a:xfrm>
            <a:off x="21813013" y="4526279"/>
            <a:ext cx="9763506" cy="2462213"/>
          </a:xfrm>
          <a:prstGeom prst="rect">
            <a:avLst/>
          </a:prstGeom>
          <a:noFill/>
        </p:spPr>
        <p:txBody>
          <a:bodyPr vert="horz" wrap="square" lIns="0" tIns="0" rIns="0" bIns="0" rtlCol="0">
            <a:spAutoFit/>
          </a:bodyPr>
          <a:lstStyle/>
          <a:p>
            <a:pPr>
              <a:spcAft>
                <a:spcPts val="1000"/>
              </a:spcAft>
            </a:pPr>
            <a:r>
              <a:rPr lang="en-US" sz="3200" b="1">
                <a:solidFill>
                  <a:srgbClr val="1A1A1A"/>
                </a:solidFill>
                <a:latin typeface="Trebuchet MS" panose="020B0603020202020204" pitchFamily="34" charset="0"/>
              </a:rPr>
              <a:t>Problem:</a:t>
            </a:r>
            <a:r>
              <a:rPr lang="en-US" sz="3200">
                <a:solidFill>
                  <a:srgbClr val="1A1A1A"/>
                </a:solidFill>
                <a:latin typeface="Trebuchet MS" panose="020B0603020202020204" pitchFamily="34" charset="0"/>
              </a:rPr>
              <a:t> triage of one incident is a partially observable decision problem (POMDP). The cause is hidden; the agent must maximise expected return while every action carried out is permitted by the rules.</a:t>
            </a:r>
            <a:endParaRPr lang="en-UG" sz="3200">
              <a:solidFill>
                <a:srgbClr val="1A1A1A"/>
              </a:solidFill>
              <a:latin typeface="Trebuchet MS" panose="020B0603020202020204" pitchFamily="34" charset="0"/>
            </a:endParaRPr>
          </a:p>
        </p:txBody>
      </p:sp>
      <p:pic>
        <p:nvPicPr>
          <p:cNvPr id="91" name="Picture 90">
            <a:extLst>
              <a:ext uri="{FF2B5EF4-FFF2-40B4-BE49-F238E27FC236}">
                <a16:creationId xmlns:a16="http://schemas.microsoft.com/office/drawing/2014/main" id="{7734145E-43D6-0D58-41C4-293049E6DC2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813013" y="7241060"/>
            <a:ext cx="9763506" cy="4296331"/>
          </a:xfrm>
          <a:prstGeom prst="rect">
            <a:avLst/>
          </a:prstGeom>
        </p:spPr>
      </p:pic>
      <p:sp>
        <p:nvSpPr>
          <p:cNvPr id="92" name="TextBox 91">
            <a:extLst>
              <a:ext uri="{FF2B5EF4-FFF2-40B4-BE49-F238E27FC236}">
                <a16:creationId xmlns:a16="http://schemas.microsoft.com/office/drawing/2014/main" id="{85E521E2-9B91-07AC-BD17-69E2A48F54F6}"/>
              </a:ext>
            </a:extLst>
          </p:cNvPr>
          <p:cNvSpPr txBox="1"/>
          <p:nvPr/>
        </p:nvSpPr>
        <p:spPr>
          <a:xfrm>
            <a:off x="21813013" y="11603228"/>
            <a:ext cx="9763506" cy="369332"/>
          </a:xfrm>
          <a:prstGeom prst="rect">
            <a:avLst/>
          </a:prstGeom>
          <a:noFill/>
        </p:spPr>
        <p:txBody>
          <a:bodyPr vert="horz" wrap="square" lIns="0" tIns="0" rIns="0" bIns="0" rtlCol="0">
            <a:spAutoFit/>
          </a:bodyPr>
          <a:lstStyle/>
          <a:p>
            <a:pPr algn="ctr"/>
            <a:r>
              <a:rPr lang="en-US" sz="2400">
                <a:solidFill>
                  <a:srgbClr val="555555"/>
                </a:solidFill>
                <a:latin typeface="Trebuchet MS" panose="020B0603020202020204" pitchFamily="34" charset="0"/>
              </a:rPr>
              <a:t>Objective under the rule constraint, and the two-proposal mechanism</a:t>
            </a:r>
            <a:endParaRPr lang="en-UG" sz="2400">
              <a:solidFill>
                <a:srgbClr val="555555"/>
              </a:solidFill>
              <a:latin typeface="Trebuchet MS" panose="020B0603020202020204" pitchFamily="34" charset="0"/>
            </a:endParaRPr>
          </a:p>
        </p:txBody>
      </p:sp>
      <p:sp>
        <p:nvSpPr>
          <p:cNvPr id="93" name="TextBox 92">
            <a:extLst>
              <a:ext uri="{FF2B5EF4-FFF2-40B4-BE49-F238E27FC236}">
                <a16:creationId xmlns:a16="http://schemas.microsoft.com/office/drawing/2014/main" id="{F4635466-3E0A-FDB0-9046-2227C8800C37}"/>
              </a:ext>
            </a:extLst>
          </p:cNvPr>
          <p:cNvSpPr txBox="1"/>
          <p:nvPr/>
        </p:nvSpPr>
        <p:spPr>
          <a:xfrm>
            <a:off x="21813013" y="12225128"/>
            <a:ext cx="9763506" cy="4196020"/>
          </a:xfrm>
          <a:prstGeom prst="rect">
            <a:avLst/>
          </a:prstGeom>
          <a:noFill/>
        </p:spPr>
        <p:txBody>
          <a:bodyPr vert="horz" wrap="square" lIns="0" tIns="0" rIns="0" bIns="0" rtlCol="0">
            <a:spAutoFit/>
          </a:bodyPr>
          <a:lstStyle/>
          <a:p>
            <a:pPr marL="347472" indent="-347472">
              <a:spcAft>
                <a:spcPts val="1000"/>
              </a:spcAft>
              <a:buFont typeface="+mj-lt"/>
              <a:buChar char="•"/>
            </a:pPr>
            <a:r>
              <a:rPr lang="en-US" sz="3200" b="1">
                <a:solidFill>
                  <a:srgbClr val="1A1A1A"/>
                </a:solidFill>
                <a:latin typeface="Trebuchet MS" panose="020B0603020202020204" pitchFamily="34" charset="0"/>
              </a:rPr>
              <a:t>Data:</a:t>
            </a:r>
            <a:r>
              <a:rPr lang="en-US" sz="3200">
                <a:solidFill>
                  <a:srgbClr val="1A1A1A"/>
                </a:solidFill>
                <a:latin typeface="Trebuchet MS" panose="020B0603020202020204" pitchFamily="34" charset="0"/>
              </a:rPr>
              <a:t> a scenario model elicited from UIS staff: causes, checks with effort costs, and rules. No personal data are used.</a:t>
            </a:r>
          </a:p>
          <a:p>
            <a:pPr marL="347472" indent="-347472">
              <a:spcAft>
                <a:spcPts val="1000"/>
              </a:spcAft>
              <a:buFont typeface="+mj-lt"/>
              <a:buChar char="•"/>
            </a:pPr>
            <a:r>
              <a:rPr lang="en-US" sz="3200" b="1">
                <a:solidFill>
                  <a:srgbClr val="1A1A1A"/>
                </a:solidFill>
                <a:latin typeface="Trebuchet MS" panose="020B0603020202020204" pitchFamily="34" charset="0"/>
              </a:rPr>
              <a:t>Environment:</a:t>
            </a:r>
            <a:r>
              <a:rPr lang="en-US" sz="3200">
                <a:solidFill>
                  <a:srgbClr val="1A1A1A"/>
                </a:solidFill>
                <a:latin typeface="Trebuchet MS" panose="020B0603020202020204" pitchFamily="34" charset="0"/>
              </a:rPr>
              <a:t> a Gymnasium simulation of one incident per episode, with missing, unreliable and overlapping evidence each controlled.</a:t>
            </a:r>
          </a:p>
          <a:p>
            <a:pPr marL="347472" indent="-347472">
              <a:spcAft>
                <a:spcPts val="1000"/>
              </a:spcAft>
              <a:buFont typeface="+mj-lt"/>
              <a:buChar char="•"/>
            </a:pPr>
            <a:r>
              <a:rPr lang="en-US" sz="3200" b="1">
                <a:solidFill>
                  <a:srgbClr val="1A1A1A"/>
                </a:solidFill>
                <a:latin typeface="Trebuchet MS" panose="020B0603020202020204" pitchFamily="34" charset="0"/>
              </a:rPr>
              <a:t>Agent:</a:t>
            </a:r>
            <a:r>
              <a:rPr lang="en-US" sz="3200">
                <a:solidFill>
                  <a:srgbClr val="1A1A1A"/>
                </a:solidFill>
                <a:latin typeface="Trebuchet MS" panose="020B0603020202020204" pitchFamily="34" charset="0"/>
              </a:rPr>
              <a:t> a deep Q-network (two hidden layers of 128 units) over 36 actions; PPO as a secondary learner.</a:t>
            </a:r>
            <a:endParaRPr lang="en-UG" sz="3200">
              <a:solidFill>
                <a:srgbClr val="1A1A1A"/>
              </a:solidFill>
              <a:latin typeface="Trebuchet MS" panose="020B0603020202020204" pitchFamily="34" charset="0"/>
            </a:endParaRPr>
          </a:p>
        </p:txBody>
      </p:sp>
      <p:sp>
        <p:nvSpPr>
          <p:cNvPr id="94" name="Rectangle 93">
            <a:extLst>
              <a:ext uri="{FF2B5EF4-FFF2-40B4-BE49-F238E27FC236}">
                <a16:creationId xmlns:a16="http://schemas.microsoft.com/office/drawing/2014/main" id="{E3602B57-0BFD-7E5E-563C-2902BD918A3E}"/>
              </a:ext>
            </a:extLst>
          </p:cNvPr>
          <p:cNvSpPr/>
          <p:nvPr/>
        </p:nvSpPr>
        <p:spPr>
          <a:xfrm>
            <a:off x="21584413" y="17145739"/>
            <a:ext cx="10220706" cy="868681"/>
          </a:xfrm>
          <a:prstGeom prst="rect">
            <a:avLst/>
          </a:prstGeom>
          <a:solidFill>
            <a:srgbClr val="0070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95" name="TextBox 94">
            <a:extLst>
              <a:ext uri="{FF2B5EF4-FFF2-40B4-BE49-F238E27FC236}">
                <a16:creationId xmlns:a16="http://schemas.microsoft.com/office/drawing/2014/main" id="{F578D727-60C2-47DB-CE9F-FBC4CBB9AD88}"/>
              </a:ext>
            </a:extLst>
          </p:cNvPr>
          <p:cNvSpPr txBox="1"/>
          <p:nvPr/>
        </p:nvSpPr>
        <p:spPr>
          <a:xfrm>
            <a:off x="21813013" y="17241526"/>
            <a:ext cx="9763506" cy="677108"/>
          </a:xfrm>
          <a:prstGeom prst="rect">
            <a:avLst/>
          </a:prstGeom>
          <a:noFill/>
        </p:spPr>
        <p:txBody>
          <a:bodyPr vert="horz" wrap="square" lIns="0" tIns="0" rIns="0" bIns="0" rtlCol="0">
            <a:spAutoFit/>
          </a:bodyPr>
          <a:lstStyle/>
          <a:p>
            <a:r>
              <a:rPr lang="en-US" sz="4400" b="1">
                <a:solidFill>
                  <a:srgbClr val="FFFFFF"/>
                </a:solidFill>
                <a:latin typeface="Trebuchet MS" panose="020B0603020202020204" pitchFamily="34" charset="0"/>
              </a:rPr>
              <a:t>8.  Evaluation Plan</a:t>
            </a:r>
            <a:endParaRPr lang="en-UG" sz="4400" b="1">
              <a:solidFill>
                <a:srgbClr val="FFFFFF"/>
              </a:solidFill>
              <a:latin typeface="Trebuchet MS" panose="020B0603020202020204" pitchFamily="34" charset="0"/>
            </a:endParaRPr>
          </a:p>
        </p:txBody>
      </p:sp>
      <p:sp>
        <p:nvSpPr>
          <p:cNvPr id="96" name="Rectangle 95">
            <a:extLst>
              <a:ext uri="{FF2B5EF4-FFF2-40B4-BE49-F238E27FC236}">
                <a16:creationId xmlns:a16="http://schemas.microsoft.com/office/drawing/2014/main" id="{3AD2171B-536D-2D63-70DC-6203134B1035}"/>
              </a:ext>
            </a:extLst>
          </p:cNvPr>
          <p:cNvSpPr/>
          <p:nvPr/>
        </p:nvSpPr>
        <p:spPr>
          <a:xfrm>
            <a:off x="21584413" y="18014420"/>
            <a:ext cx="10220706" cy="11895607"/>
          </a:xfrm>
          <a:prstGeom prst="rect">
            <a:avLst/>
          </a:prstGeom>
          <a:solidFill>
            <a:srgbClr val="FFFFFF"/>
          </a:solidFill>
          <a:ln w="1905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97" name="TextBox 96">
            <a:extLst>
              <a:ext uri="{FF2B5EF4-FFF2-40B4-BE49-F238E27FC236}">
                <a16:creationId xmlns:a16="http://schemas.microsoft.com/office/drawing/2014/main" id="{8C7A646F-7618-F4BF-964F-CDD1F1C6F5E2}"/>
              </a:ext>
            </a:extLst>
          </p:cNvPr>
          <p:cNvSpPr txBox="1"/>
          <p:nvPr/>
        </p:nvSpPr>
        <p:spPr>
          <a:xfrm>
            <a:off x="21813013" y="18243020"/>
            <a:ext cx="9763506" cy="492443"/>
          </a:xfrm>
          <a:prstGeom prst="rect">
            <a:avLst/>
          </a:prstGeom>
          <a:noFill/>
        </p:spPr>
        <p:txBody>
          <a:bodyPr vert="horz" wrap="square" lIns="0" tIns="0" rIns="0" bIns="0" rtlCol="0">
            <a:spAutoFit/>
          </a:bodyPr>
          <a:lstStyle/>
          <a:p>
            <a:pPr>
              <a:spcAft>
                <a:spcPts val="1000"/>
              </a:spcAft>
            </a:pPr>
            <a:r>
              <a:rPr lang="en-US" sz="3200">
                <a:solidFill>
                  <a:srgbClr val="1A1A1A"/>
                </a:solidFill>
                <a:latin typeface="Trebuchet MS" panose="020B0603020202020204" pitchFamily="34" charset="0"/>
              </a:rPr>
              <a:t>Six baselines, same incidents, ten random seeds:</a:t>
            </a:r>
            <a:endParaRPr lang="en-UG" sz="3200">
              <a:solidFill>
                <a:srgbClr val="1A1A1A"/>
              </a:solidFill>
              <a:latin typeface="Trebuchet MS" panose="020B0603020202020204" pitchFamily="34" charset="0"/>
            </a:endParaRPr>
          </a:p>
        </p:txBody>
      </p:sp>
      <p:graphicFrame>
        <p:nvGraphicFramePr>
          <p:cNvPr id="98" name="Table 97">
            <a:extLst>
              <a:ext uri="{FF2B5EF4-FFF2-40B4-BE49-F238E27FC236}">
                <a16:creationId xmlns:a16="http://schemas.microsoft.com/office/drawing/2014/main" id="{30A8D0E1-510F-F5E4-9954-F4014019ECD6}"/>
              </a:ext>
            </a:extLst>
          </p:cNvPr>
          <p:cNvGraphicFramePr>
            <a:graphicFrameLocks noGrp="1"/>
          </p:cNvGraphicFramePr>
          <p:nvPr>
            <p:extLst>
              <p:ext uri="{D42A27DB-BD31-4B8C-83A1-F6EECF244321}">
                <p14:modId xmlns:p14="http://schemas.microsoft.com/office/powerpoint/2010/main" val="808583166"/>
              </p:ext>
            </p:extLst>
          </p:nvPr>
        </p:nvGraphicFramePr>
        <p:xfrm>
          <a:off x="21813013" y="18988030"/>
          <a:ext cx="9763506" cy="2032000"/>
        </p:xfrm>
        <a:graphic>
          <a:graphicData uri="http://schemas.openxmlformats.org/drawingml/2006/table">
            <a:tbl>
              <a:tblPr firstRow="1" bandRow="1">
                <a:tableStyleId>{5C22544A-7EE6-4342-B048-85BDC9FD1C3A}</a:tableStyleId>
              </a:tblPr>
              <a:tblGrid>
                <a:gridCol w="3679002">
                  <a:extLst>
                    <a:ext uri="{9D8B030D-6E8A-4147-A177-3AD203B41FA5}">
                      <a16:colId xmlns:a16="http://schemas.microsoft.com/office/drawing/2014/main" val="685486512"/>
                    </a:ext>
                  </a:extLst>
                </a:gridCol>
                <a:gridCol w="1273501">
                  <a:extLst>
                    <a:ext uri="{9D8B030D-6E8A-4147-A177-3AD203B41FA5}">
                      <a16:colId xmlns:a16="http://schemas.microsoft.com/office/drawing/2014/main" val="2280169064"/>
                    </a:ext>
                  </a:extLst>
                </a:gridCol>
                <a:gridCol w="849001">
                  <a:extLst>
                    <a:ext uri="{9D8B030D-6E8A-4147-A177-3AD203B41FA5}">
                      <a16:colId xmlns:a16="http://schemas.microsoft.com/office/drawing/2014/main" val="1013189922"/>
                    </a:ext>
                  </a:extLst>
                </a:gridCol>
                <a:gridCol w="1462168">
                  <a:extLst>
                    <a:ext uri="{9D8B030D-6E8A-4147-A177-3AD203B41FA5}">
                      <a16:colId xmlns:a16="http://schemas.microsoft.com/office/drawing/2014/main" val="354630951"/>
                    </a:ext>
                  </a:extLst>
                </a:gridCol>
                <a:gridCol w="1273501">
                  <a:extLst>
                    <a:ext uri="{9D8B030D-6E8A-4147-A177-3AD203B41FA5}">
                      <a16:colId xmlns:a16="http://schemas.microsoft.com/office/drawing/2014/main" val="2301106247"/>
                    </a:ext>
                  </a:extLst>
                </a:gridCol>
                <a:gridCol w="1226334">
                  <a:extLst>
                    <a:ext uri="{9D8B030D-6E8A-4147-A177-3AD203B41FA5}">
                      <a16:colId xmlns:a16="http://schemas.microsoft.com/office/drawing/2014/main" val="2076564752"/>
                    </a:ext>
                  </a:extLst>
                </a:gridCol>
              </a:tblGrid>
              <a:tr h="0">
                <a:tc>
                  <a:txBody>
                    <a:bodyPr/>
                    <a:lstStyle/>
                    <a:p>
                      <a:pPr algn="l"/>
                      <a:r>
                        <a:rPr lang="en-US" sz="2500" b="1">
                          <a:solidFill>
                            <a:srgbClr val="FFFFFF"/>
                          </a:solidFill>
                          <a:latin typeface="Trebuchet MS" panose="020B0603020202020204" pitchFamily="34" charset="0"/>
                        </a:rPr>
                        <a:t>Policy</a:t>
                      </a:r>
                      <a:endParaRPr lang="en-UG" sz="2500" b="1">
                        <a:solidFill>
                          <a:srgbClr val="FFFFFF"/>
                        </a:solidFill>
                        <a:latin typeface="Trebuchet MS" panose="020B0603020202020204" pitchFamily="34" charset="0"/>
                      </a:endParaRPr>
                    </a:p>
                  </a:txBody>
                  <a:tcPr marL="76200" marR="76200" marT="50800" marB="50800" anchor="ctr">
                    <a:solidFill>
                      <a:srgbClr val="0070C0"/>
                    </a:solidFill>
                  </a:tcPr>
                </a:tc>
                <a:tc>
                  <a:txBody>
                    <a:bodyPr/>
                    <a:lstStyle/>
                    <a:p>
                      <a:pPr algn="ctr"/>
                      <a:r>
                        <a:rPr lang="en-US" sz="2500" b="1">
                          <a:solidFill>
                            <a:srgbClr val="FFFFFF"/>
                          </a:solidFill>
                          <a:latin typeface="Trebuchet MS" panose="020B0603020202020204" pitchFamily="34" charset="0"/>
                        </a:rPr>
                        <a:t>Checks</a:t>
                      </a:r>
                      <a:endParaRPr lang="en-UG" sz="2500" b="1">
                        <a:solidFill>
                          <a:srgbClr val="FFFFFF"/>
                        </a:solidFill>
                        <a:latin typeface="Trebuchet MS" panose="020B0603020202020204" pitchFamily="34" charset="0"/>
                      </a:endParaRPr>
                    </a:p>
                  </a:txBody>
                  <a:tcPr marL="76200" marR="76200" marT="50800" marB="50800" anchor="ctr">
                    <a:solidFill>
                      <a:srgbClr val="0070C0"/>
                    </a:solidFill>
                  </a:tcPr>
                </a:tc>
                <a:tc>
                  <a:txBody>
                    <a:bodyPr/>
                    <a:lstStyle/>
                    <a:p>
                      <a:pPr algn="ctr"/>
                      <a:r>
                        <a:rPr lang="en-US" sz="2500" b="1">
                          <a:solidFill>
                            <a:srgbClr val="FFFFFF"/>
                          </a:solidFill>
                          <a:latin typeface="Trebuchet MS" panose="020B0603020202020204" pitchFamily="34" charset="0"/>
                        </a:rPr>
                        <a:t>Fix</a:t>
                      </a:r>
                      <a:endParaRPr lang="en-UG" sz="2500" b="1">
                        <a:solidFill>
                          <a:srgbClr val="FFFFFF"/>
                        </a:solidFill>
                        <a:latin typeface="Trebuchet MS" panose="020B0603020202020204" pitchFamily="34" charset="0"/>
                      </a:endParaRPr>
                    </a:p>
                  </a:txBody>
                  <a:tcPr marL="76200" marR="76200" marT="50800" marB="50800" anchor="ctr">
                    <a:solidFill>
                      <a:srgbClr val="0070C0"/>
                    </a:solidFill>
                  </a:tcPr>
                </a:tc>
                <a:tc>
                  <a:txBody>
                    <a:bodyPr/>
                    <a:lstStyle/>
                    <a:p>
                      <a:pPr algn="ctr"/>
                      <a:r>
                        <a:rPr lang="en-US" sz="2500" b="1">
                          <a:solidFill>
                            <a:srgbClr val="FFFFFF"/>
                          </a:solidFill>
                          <a:latin typeface="Trebuchet MS" panose="020B0603020202020204" pitchFamily="34" charset="0"/>
                        </a:rPr>
                        <a:t>Escalate</a:t>
                      </a:r>
                      <a:endParaRPr lang="en-UG" sz="2500" b="1">
                        <a:solidFill>
                          <a:srgbClr val="FFFFFF"/>
                        </a:solidFill>
                        <a:latin typeface="Trebuchet MS" panose="020B0603020202020204" pitchFamily="34" charset="0"/>
                      </a:endParaRPr>
                    </a:p>
                  </a:txBody>
                  <a:tcPr marL="76200" marR="76200" marT="50800" marB="50800" anchor="ctr">
                    <a:solidFill>
                      <a:srgbClr val="0070C0"/>
                    </a:solidFill>
                  </a:tcPr>
                </a:tc>
                <a:tc>
                  <a:txBody>
                    <a:bodyPr/>
                    <a:lstStyle/>
                    <a:p>
                      <a:pPr algn="ctr"/>
                      <a:r>
                        <a:rPr lang="en-US" sz="2500" b="1">
                          <a:solidFill>
                            <a:srgbClr val="FFFFFF"/>
                          </a:solidFill>
                          <a:latin typeface="Trebuchet MS" panose="020B0603020202020204" pitchFamily="34" charset="0"/>
                        </a:rPr>
                        <a:t>Rules</a:t>
                      </a:r>
                      <a:endParaRPr lang="en-UG" sz="2500" b="1">
                        <a:solidFill>
                          <a:srgbClr val="FFFFFF"/>
                        </a:solidFill>
                        <a:latin typeface="Trebuchet MS" panose="020B0603020202020204" pitchFamily="34" charset="0"/>
                      </a:endParaRPr>
                    </a:p>
                  </a:txBody>
                  <a:tcPr marL="76200" marR="76200" marT="50800" marB="50800" anchor="ctr">
                    <a:solidFill>
                      <a:srgbClr val="0070C0"/>
                    </a:solidFill>
                  </a:tcPr>
                </a:tc>
                <a:tc>
                  <a:txBody>
                    <a:bodyPr/>
                    <a:lstStyle/>
                    <a:p>
                      <a:pPr algn="ctr"/>
                      <a:r>
                        <a:rPr lang="en-US" sz="2500" b="1">
                          <a:solidFill>
                            <a:srgbClr val="FFFFFF"/>
                          </a:solidFill>
                          <a:latin typeface="Trebuchet MS" panose="020B0603020202020204" pitchFamily="34" charset="0"/>
                        </a:rPr>
                        <a:t>Learns</a:t>
                      </a:r>
                      <a:endParaRPr lang="en-UG" sz="2500" b="1">
                        <a:solidFill>
                          <a:srgbClr val="FFFFFF"/>
                        </a:solidFill>
                        <a:latin typeface="Trebuchet MS" panose="020B0603020202020204" pitchFamily="34" charset="0"/>
                      </a:endParaRPr>
                    </a:p>
                  </a:txBody>
                  <a:tcPr marL="76200" marR="76200" marT="50800" marB="50800" anchor="ctr">
                    <a:solidFill>
                      <a:srgbClr val="0070C0"/>
                    </a:solidFill>
                  </a:tcPr>
                </a:tc>
                <a:extLst>
                  <a:ext uri="{0D108BD9-81ED-4DB2-BD59-A6C34878D82A}">
                    <a16:rowId xmlns:a16="http://schemas.microsoft.com/office/drawing/2014/main" val="3164689247"/>
                  </a:ext>
                </a:extLst>
              </a:tr>
              <a:tr h="0">
                <a:tc>
                  <a:txBody>
                    <a:bodyPr/>
                    <a:lstStyle/>
                    <a:p>
                      <a:pPr algn="l"/>
                      <a:r>
                        <a:rPr lang="en-US" sz="2500" b="1">
                          <a:solidFill>
                            <a:srgbClr val="1A1A1A"/>
                          </a:solidFill>
                          <a:latin typeface="Trebuchet MS" panose="020B0603020202020204" pitchFamily="34" charset="0"/>
                        </a:rPr>
                        <a:t>Proposed agent</a:t>
                      </a:r>
                      <a:endParaRPr lang="en-UG" sz="2500" b="1">
                        <a:solidFill>
                          <a:srgbClr val="1A1A1A"/>
                        </a:solidFill>
                        <a:latin typeface="Trebuchet MS" panose="020B0603020202020204" pitchFamily="34" charset="0"/>
                      </a:endParaRPr>
                    </a:p>
                  </a:txBody>
                  <a:tcPr marL="76200" marR="76200" marT="50800" marB="50800" anchor="ctr">
                    <a:solidFill>
                      <a:srgbClr val="EAF2FA"/>
                    </a:solidFill>
                  </a:tcPr>
                </a:tc>
                <a:tc>
                  <a:txBody>
                    <a:bodyPr/>
                    <a:lstStyle/>
                    <a:p>
                      <a:pPr algn="ctr"/>
                      <a:r>
                        <a:rPr lang="en-UG" sz="2500" b="1">
                          <a:solidFill>
                            <a:srgbClr val="1A1A1A"/>
                          </a:solidFill>
                          <a:latin typeface="Trebuchet MS" panose="020B0603020202020204" pitchFamily="34" charset="0"/>
                        </a:rPr>
                        <a:t>✓</a:t>
                      </a:r>
                    </a:p>
                  </a:txBody>
                  <a:tcPr marL="76200" marR="76200" marT="50800" marB="50800" anchor="ctr">
                    <a:solidFill>
                      <a:srgbClr val="EAF2FA"/>
                    </a:solidFill>
                  </a:tcPr>
                </a:tc>
                <a:tc>
                  <a:txBody>
                    <a:bodyPr/>
                    <a:lstStyle/>
                    <a:p>
                      <a:pPr algn="ctr"/>
                      <a:r>
                        <a:rPr lang="en-UG" sz="2500" b="1">
                          <a:solidFill>
                            <a:srgbClr val="1A1A1A"/>
                          </a:solidFill>
                          <a:latin typeface="Trebuchet MS" panose="020B0603020202020204" pitchFamily="34" charset="0"/>
                        </a:rPr>
                        <a:t>✓</a:t>
                      </a:r>
                    </a:p>
                  </a:txBody>
                  <a:tcPr marL="76200" marR="76200" marT="50800" marB="50800" anchor="ctr">
                    <a:solidFill>
                      <a:srgbClr val="EAF2FA"/>
                    </a:solidFill>
                  </a:tcPr>
                </a:tc>
                <a:tc>
                  <a:txBody>
                    <a:bodyPr/>
                    <a:lstStyle/>
                    <a:p>
                      <a:pPr algn="ctr"/>
                      <a:r>
                        <a:rPr lang="en-UG" sz="2500" b="1">
                          <a:solidFill>
                            <a:srgbClr val="1A1A1A"/>
                          </a:solidFill>
                          <a:latin typeface="Trebuchet MS" panose="020B0603020202020204" pitchFamily="34" charset="0"/>
                        </a:rPr>
                        <a:t>✓</a:t>
                      </a:r>
                    </a:p>
                  </a:txBody>
                  <a:tcPr marL="76200" marR="76200" marT="50800" marB="50800" anchor="ctr">
                    <a:solidFill>
                      <a:srgbClr val="EAF2FA"/>
                    </a:solidFill>
                  </a:tcPr>
                </a:tc>
                <a:tc>
                  <a:txBody>
                    <a:bodyPr/>
                    <a:lstStyle/>
                    <a:p>
                      <a:pPr algn="ctr"/>
                      <a:r>
                        <a:rPr lang="en-UG" sz="2500" b="1">
                          <a:solidFill>
                            <a:srgbClr val="1A1A1A"/>
                          </a:solidFill>
                          <a:latin typeface="Trebuchet MS" panose="020B0603020202020204" pitchFamily="34" charset="0"/>
                        </a:rPr>
                        <a:t>✓</a:t>
                      </a:r>
                    </a:p>
                  </a:txBody>
                  <a:tcPr marL="76200" marR="76200" marT="50800" marB="50800" anchor="ctr">
                    <a:solidFill>
                      <a:srgbClr val="EAF2FA"/>
                    </a:solidFill>
                  </a:tcPr>
                </a:tc>
                <a:tc>
                  <a:txBody>
                    <a:bodyPr/>
                    <a:lstStyle/>
                    <a:p>
                      <a:pPr algn="ctr"/>
                      <a:r>
                        <a:rPr lang="en-UG" sz="2500" b="1">
                          <a:solidFill>
                            <a:srgbClr val="1A1A1A"/>
                          </a:solidFill>
                          <a:latin typeface="Trebuchet MS" panose="020B0603020202020204" pitchFamily="34" charset="0"/>
                        </a:rPr>
                        <a:t>✓</a:t>
                      </a:r>
                    </a:p>
                  </a:txBody>
                  <a:tcPr marL="76200" marR="76200" marT="50800" marB="50800" anchor="ctr">
                    <a:solidFill>
                      <a:srgbClr val="EAF2FA"/>
                    </a:solidFill>
                  </a:tcPr>
                </a:tc>
                <a:extLst>
                  <a:ext uri="{0D108BD9-81ED-4DB2-BD59-A6C34878D82A}">
                    <a16:rowId xmlns:a16="http://schemas.microsoft.com/office/drawing/2014/main" val="4231359966"/>
                  </a:ext>
                </a:extLst>
              </a:tr>
              <a:tr h="0">
                <a:tc>
                  <a:txBody>
                    <a:bodyPr/>
                    <a:lstStyle/>
                    <a:p>
                      <a:pPr algn="l"/>
                      <a:r>
                        <a:rPr lang="en-US" sz="2500" b="0">
                          <a:solidFill>
                            <a:srgbClr val="1A1A1A"/>
                          </a:solidFill>
                          <a:latin typeface="Trebuchet MS" panose="020B0603020202020204" pitchFamily="34" charset="0"/>
                        </a:rPr>
                        <a:t>Initial-symptom</a:t>
                      </a:r>
                      <a:endParaRPr lang="en-UG" sz="2500" b="0">
                        <a:solidFill>
                          <a:srgbClr val="1A1A1A"/>
                        </a:solidFill>
                        <a:latin typeface="Trebuchet MS" panose="020B0603020202020204" pitchFamily="34" charset="0"/>
                      </a:endParaRPr>
                    </a:p>
                  </a:txBody>
                  <a:tcPr marL="76200" marR="76200" marT="50800" marB="50800" anchor="ctr">
                    <a:solidFill>
                      <a:srgbClr val="F5F5F5"/>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5F5F5"/>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5F5F5"/>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5F5F5"/>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5F5F5"/>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5F5F5"/>
                    </a:solidFill>
                  </a:tcPr>
                </a:tc>
                <a:extLst>
                  <a:ext uri="{0D108BD9-81ED-4DB2-BD59-A6C34878D82A}">
                    <a16:rowId xmlns:a16="http://schemas.microsoft.com/office/drawing/2014/main" val="410321365"/>
                  </a:ext>
                </a:extLst>
              </a:tr>
              <a:tr h="0">
                <a:tc>
                  <a:txBody>
                    <a:bodyPr/>
                    <a:lstStyle/>
                    <a:p>
                      <a:pPr algn="l"/>
                      <a:r>
                        <a:rPr lang="en-US" sz="2500" b="0">
                          <a:solidFill>
                            <a:srgbClr val="1A1A1A"/>
                          </a:solidFill>
                          <a:latin typeface="Trebuchet MS" panose="020B0603020202020204" pitchFamily="34" charset="0"/>
                        </a:rPr>
                        <a:t>Scripted checklist</a:t>
                      </a:r>
                      <a:endParaRPr lang="en-UG" sz="2500" b="0">
                        <a:solidFill>
                          <a:srgbClr val="1A1A1A"/>
                        </a:solidFill>
                        <a:latin typeface="Trebuchet MS" panose="020B0603020202020204" pitchFamily="34" charset="0"/>
                      </a:endParaRPr>
                    </a:p>
                  </a:txBody>
                  <a:tcPr marL="76200" marR="76200" marT="50800" marB="50800" anchor="ctr">
                    <a:solidFill>
                      <a:srgbClr val="FFFFFF"/>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FFFFF"/>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FFFFF"/>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FFFFF"/>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FFFFF"/>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FFFFF"/>
                    </a:solidFill>
                  </a:tcPr>
                </a:tc>
                <a:extLst>
                  <a:ext uri="{0D108BD9-81ED-4DB2-BD59-A6C34878D82A}">
                    <a16:rowId xmlns:a16="http://schemas.microsoft.com/office/drawing/2014/main" val="2945127900"/>
                  </a:ext>
                </a:extLst>
              </a:tr>
              <a:tr h="0">
                <a:tc>
                  <a:txBody>
                    <a:bodyPr/>
                    <a:lstStyle/>
                    <a:p>
                      <a:pPr algn="l"/>
                      <a:r>
                        <a:rPr lang="en-US" sz="2500" b="0">
                          <a:solidFill>
                            <a:srgbClr val="1A1A1A"/>
                          </a:solidFill>
                          <a:latin typeface="Trebuchet MS" panose="020B0603020202020204" pitchFamily="34" charset="0"/>
                        </a:rPr>
                        <a:t>Always-escalate</a:t>
                      </a:r>
                      <a:endParaRPr lang="en-UG" sz="2500" b="0">
                        <a:solidFill>
                          <a:srgbClr val="1A1A1A"/>
                        </a:solidFill>
                        <a:latin typeface="Trebuchet MS" panose="020B0603020202020204" pitchFamily="34" charset="0"/>
                      </a:endParaRPr>
                    </a:p>
                  </a:txBody>
                  <a:tcPr marL="76200" marR="76200" marT="50800" marB="50800" anchor="ctr">
                    <a:solidFill>
                      <a:srgbClr val="F5F5F5"/>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5F5F5"/>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5F5F5"/>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5F5F5"/>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5F5F5"/>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5F5F5"/>
                    </a:solidFill>
                  </a:tcPr>
                </a:tc>
                <a:extLst>
                  <a:ext uri="{0D108BD9-81ED-4DB2-BD59-A6C34878D82A}">
                    <a16:rowId xmlns:a16="http://schemas.microsoft.com/office/drawing/2014/main" val="1191820149"/>
                  </a:ext>
                </a:extLst>
              </a:tr>
              <a:tr h="0">
                <a:tc>
                  <a:txBody>
                    <a:bodyPr/>
                    <a:lstStyle/>
                    <a:p>
                      <a:pPr algn="l"/>
                      <a:r>
                        <a:rPr lang="en-US" sz="2500" b="0">
                          <a:solidFill>
                            <a:srgbClr val="1A1A1A"/>
                          </a:solidFill>
                          <a:latin typeface="Trebuchet MS" panose="020B0603020202020204" pitchFamily="34" charset="0"/>
                        </a:rPr>
                        <a:t>Confidence threshold</a:t>
                      </a:r>
                      <a:endParaRPr lang="en-UG" sz="2500" b="0">
                        <a:solidFill>
                          <a:srgbClr val="1A1A1A"/>
                        </a:solidFill>
                        <a:latin typeface="Trebuchet MS" panose="020B0603020202020204" pitchFamily="34" charset="0"/>
                      </a:endParaRPr>
                    </a:p>
                  </a:txBody>
                  <a:tcPr marL="76200" marR="76200" marT="50800" marB="50800" anchor="ctr">
                    <a:solidFill>
                      <a:srgbClr val="FFFFFF"/>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FFFFF"/>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FFFFF"/>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FFFFF"/>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FFFFF"/>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FFFFF"/>
                    </a:solidFill>
                  </a:tcPr>
                </a:tc>
                <a:extLst>
                  <a:ext uri="{0D108BD9-81ED-4DB2-BD59-A6C34878D82A}">
                    <a16:rowId xmlns:a16="http://schemas.microsoft.com/office/drawing/2014/main" val="660536533"/>
                  </a:ext>
                </a:extLst>
              </a:tr>
              <a:tr h="0">
                <a:tc>
                  <a:txBody>
                    <a:bodyPr/>
                    <a:lstStyle/>
                    <a:p>
                      <a:pPr algn="l"/>
                      <a:r>
                        <a:rPr lang="en-US" sz="2500" b="0">
                          <a:solidFill>
                            <a:srgbClr val="1A1A1A"/>
                          </a:solidFill>
                          <a:latin typeface="Trebuchet MS" panose="020B0603020202020204" pitchFamily="34" charset="0"/>
                        </a:rPr>
                        <a:t>Unconstrained agent</a:t>
                      </a:r>
                      <a:endParaRPr lang="en-UG" sz="2500" b="0">
                        <a:solidFill>
                          <a:srgbClr val="1A1A1A"/>
                        </a:solidFill>
                        <a:latin typeface="Trebuchet MS" panose="020B0603020202020204" pitchFamily="34" charset="0"/>
                      </a:endParaRPr>
                    </a:p>
                  </a:txBody>
                  <a:tcPr marL="76200" marR="76200" marT="50800" marB="50800" anchor="ctr">
                    <a:solidFill>
                      <a:srgbClr val="F5F5F5"/>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5F5F5"/>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5F5F5"/>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5F5F5"/>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5F5F5"/>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5F5F5"/>
                    </a:solidFill>
                  </a:tcPr>
                </a:tc>
                <a:extLst>
                  <a:ext uri="{0D108BD9-81ED-4DB2-BD59-A6C34878D82A}">
                    <a16:rowId xmlns:a16="http://schemas.microsoft.com/office/drawing/2014/main" val="1583255612"/>
                  </a:ext>
                </a:extLst>
              </a:tr>
              <a:tr h="0">
                <a:tc>
                  <a:txBody>
                    <a:bodyPr/>
                    <a:lstStyle/>
                    <a:p>
                      <a:pPr algn="l"/>
                      <a:r>
                        <a:rPr lang="en-US" sz="2500" b="0">
                          <a:solidFill>
                            <a:srgbClr val="1A1A1A"/>
                          </a:solidFill>
                          <a:latin typeface="Trebuchet MS" panose="020B0603020202020204" pitchFamily="34" charset="0"/>
                        </a:rPr>
                        <a:t>Penalty-only agent</a:t>
                      </a:r>
                      <a:endParaRPr lang="en-UG" sz="2500" b="0">
                        <a:solidFill>
                          <a:srgbClr val="1A1A1A"/>
                        </a:solidFill>
                        <a:latin typeface="Trebuchet MS" panose="020B0603020202020204" pitchFamily="34" charset="0"/>
                      </a:endParaRPr>
                    </a:p>
                  </a:txBody>
                  <a:tcPr marL="76200" marR="76200" marT="50800" marB="50800" anchor="ctr">
                    <a:solidFill>
                      <a:srgbClr val="FFFFFF"/>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FFFFF"/>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FFFFF"/>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FFFFF"/>
                    </a:solidFill>
                  </a:tcPr>
                </a:tc>
                <a:tc>
                  <a:txBody>
                    <a:bodyPr/>
                    <a:lstStyle/>
                    <a:p>
                      <a:pPr algn="ctr"/>
                      <a:r>
                        <a:rPr lang="en-US" sz="2500" b="0">
                          <a:solidFill>
                            <a:srgbClr val="1A1A1A"/>
                          </a:solidFill>
                          <a:latin typeface="Trebuchet MS" panose="020B0603020202020204" pitchFamily="34" charset="0"/>
                        </a:rPr>
                        <a:t>Penalty</a:t>
                      </a:r>
                      <a:endParaRPr lang="en-UG" sz="2500" b="0">
                        <a:solidFill>
                          <a:srgbClr val="1A1A1A"/>
                        </a:solidFill>
                        <a:latin typeface="Trebuchet MS" panose="020B0603020202020204" pitchFamily="34" charset="0"/>
                      </a:endParaRPr>
                    </a:p>
                  </a:txBody>
                  <a:tcPr marL="76200" marR="76200" marT="50800" marB="50800" anchor="ctr">
                    <a:solidFill>
                      <a:srgbClr val="FFFFFF"/>
                    </a:solidFill>
                  </a:tcPr>
                </a:tc>
                <a:tc>
                  <a:txBody>
                    <a:bodyPr/>
                    <a:lstStyle/>
                    <a:p>
                      <a:pPr algn="ctr"/>
                      <a:r>
                        <a:rPr lang="en-UG" sz="2500" b="0">
                          <a:solidFill>
                            <a:srgbClr val="1A1A1A"/>
                          </a:solidFill>
                          <a:latin typeface="Trebuchet MS" panose="020B0603020202020204" pitchFamily="34" charset="0"/>
                        </a:rPr>
                        <a:t>✓</a:t>
                      </a:r>
                    </a:p>
                  </a:txBody>
                  <a:tcPr marL="76200" marR="76200" marT="50800" marB="50800" anchor="ctr">
                    <a:solidFill>
                      <a:srgbClr val="FFFFFF"/>
                    </a:solidFill>
                  </a:tcPr>
                </a:tc>
                <a:extLst>
                  <a:ext uri="{0D108BD9-81ED-4DB2-BD59-A6C34878D82A}">
                    <a16:rowId xmlns:a16="http://schemas.microsoft.com/office/drawing/2014/main" val="2706979340"/>
                  </a:ext>
                </a:extLst>
              </a:tr>
            </a:tbl>
          </a:graphicData>
        </a:graphic>
      </p:graphicFrame>
      <p:pic>
        <p:nvPicPr>
          <p:cNvPr id="100" name="Picture 99">
            <a:extLst>
              <a:ext uri="{FF2B5EF4-FFF2-40B4-BE49-F238E27FC236}">
                <a16:creationId xmlns:a16="http://schemas.microsoft.com/office/drawing/2014/main" id="{19268727-8FCE-6FEC-E6A8-76C4468877D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813013" y="23101398"/>
            <a:ext cx="9763506" cy="3957657"/>
          </a:xfrm>
          <a:prstGeom prst="rect">
            <a:avLst/>
          </a:prstGeom>
        </p:spPr>
      </p:pic>
      <p:sp>
        <p:nvSpPr>
          <p:cNvPr id="101" name="TextBox 100">
            <a:extLst>
              <a:ext uri="{FF2B5EF4-FFF2-40B4-BE49-F238E27FC236}">
                <a16:creationId xmlns:a16="http://schemas.microsoft.com/office/drawing/2014/main" id="{D5B6FC4E-FC89-FC5E-4702-505A1AD8102E}"/>
              </a:ext>
            </a:extLst>
          </p:cNvPr>
          <p:cNvSpPr txBox="1"/>
          <p:nvPr/>
        </p:nvSpPr>
        <p:spPr>
          <a:xfrm>
            <a:off x="21813013" y="27124890"/>
            <a:ext cx="9763506" cy="738664"/>
          </a:xfrm>
          <a:prstGeom prst="rect">
            <a:avLst/>
          </a:prstGeom>
          <a:noFill/>
        </p:spPr>
        <p:txBody>
          <a:bodyPr vert="horz" wrap="square" lIns="0" tIns="0" rIns="0" bIns="0" rtlCol="0">
            <a:spAutoFit/>
          </a:bodyPr>
          <a:lstStyle/>
          <a:p>
            <a:pPr algn="ctr"/>
            <a:r>
              <a:rPr lang="en-US" sz="2400">
                <a:solidFill>
                  <a:srgbClr val="555555"/>
                </a:solidFill>
                <a:latin typeface="Trebuchet MS" panose="020B0603020202020204" pitchFamily="34" charset="0"/>
              </a:rPr>
              <a:t>Key measures, where Nc, Nw and Ne count correct, wrong and escalated incidents</a:t>
            </a:r>
            <a:endParaRPr lang="en-UG" sz="2400">
              <a:solidFill>
                <a:srgbClr val="555555"/>
              </a:solidFill>
              <a:latin typeface="Trebuchet MS" panose="020B0603020202020204" pitchFamily="34" charset="0"/>
            </a:endParaRPr>
          </a:p>
        </p:txBody>
      </p:sp>
      <p:sp>
        <p:nvSpPr>
          <p:cNvPr id="102" name="TextBox 101">
            <a:extLst>
              <a:ext uri="{FF2B5EF4-FFF2-40B4-BE49-F238E27FC236}">
                <a16:creationId xmlns:a16="http://schemas.microsoft.com/office/drawing/2014/main" id="{F9A6D25C-33C8-4C8A-FE67-0CD2F3D7718F}"/>
              </a:ext>
            </a:extLst>
          </p:cNvPr>
          <p:cNvSpPr txBox="1"/>
          <p:nvPr/>
        </p:nvSpPr>
        <p:spPr>
          <a:xfrm>
            <a:off x="21813013" y="28116123"/>
            <a:ext cx="9763506" cy="1477328"/>
          </a:xfrm>
          <a:prstGeom prst="rect">
            <a:avLst/>
          </a:prstGeom>
          <a:noFill/>
        </p:spPr>
        <p:txBody>
          <a:bodyPr vert="horz" wrap="square" lIns="0" tIns="0" rIns="0" bIns="0" rtlCol="0">
            <a:spAutoFit/>
          </a:bodyPr>
          <a:lstStyle/>
          <a:p>
            <a:pPr marL="347472" indent="-347472">
              <a:spcAft>
                <a:spcPts val="1000"/>
              </a:spcAft>
              <a:buFont typeface="+mj-lt"/>
              <a:buChar char="•"/>
            </a:pPr>
            <a:r>
              <a:rPr lang="en-US" sz="3200" b="1">
                <a:solidFill>
                  <a:srgbClr val="1A1A1A"/>
                </a:solidFill>
                <a:latin typeface="Trebuchet MS" panose="020B0603020202020204" pitchFamily="34" charset="0"/>
              </a:rPr>
              <a:t>Experiments:</a:t>
            </a:r>
            <a:r>
              <a:rPr lang="en-US" sz="3200">
                <a:solidFill>
                  <a:srgbClr val="1A1A1A"/>
                </a:solidFill>
                <a:latin typeface="Trebuchet MS" panose="020B0603020202020204" pitchFamily="34" charset="0"/>
              </a:rPr>
              <a:t> baselines, rule mechanism, ablations, robustness; mean of ten seeds with 95% bootstrap intervals.</a:t>
            </a:r>
            <a:endParaRPr lang="en-UG" sz="3200">
              <a:solidFill>
                <a:srgbClr val="1A1A1A"/>
              </a:solidFill>
              <a:latin typeface="Trebuchet MS" panose="020B0603020202020204" pitchFamily="34" charset="0"/>
            </a:endParaRPr>
          </a:p>
        </p:txBody>
      </p:sp>
      <p:sp>
        <p:nvSpPr>
          <p:cNvPr id="120" name="Rectangle 119">
            <a:extLst>
              <a:ext uri="{FF2B5EF4-FFF2-40B4-BE49-F238E27FC236}">
                <a16:creationId xmlns:a16="http://schemas.microsoft.com/office/drawing/2014/main" id="{96B96510-E0E7-C868-1C76-95CDC870FB16}"/>
              </a:ext>
            </a:extLst>
          </p:cNvPr>
          <p:cNvSpPr/>
          <p:nvPr/>
        </p:nvSpPr>
        <p:spPr>
          <a:xfrm>
            <a:off x="32170877" y="3428999"/>
            <a:ext cx="10220706" cy="868680"/>
          </a:xfrm>
          <a:prstGeom prst="rect">
            <a:avLst/>
          </a:prstGeom>
          <a:solidFill>
            <a:srgbClr val="C039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121" name="TextBox 120">
            <a:extLst>
              <a:ext uri="{FF2B5EF4-FFF2-40B4-BE49-F238E27FC236}">
                <a16:creationId xmlns:a16="http://schemas.microsoft.com/office/drawing/2014/main" id="{472B7366-AA1F-95EA-A71A-A5161FCCD1D3}"/>
              </a:ext>
            </a:extLst>
          </p:cNvPr>
          <p:cNvSpPr txBox="1"/>
          <p:nvPr/>
        </p:nvSpPr>
        <p:spPr>
          <a:xfrm>
            <a:off x="32399477" y="3524785"/>
            <a:ext cx="9763506" cy="677108"/>
          </a:xfrm>
          <a:prstGeom prst="rect">
            <a:avLst/>
          </a:prstGeom>
          <a:noFill/>
        </p:spPr>
        <p:txBody>
          <a:bodyPr vert="horz" wrap="square" lIns="0" tIns="0" rIns="0" bIns="0" rtlCol="0">
            <a:spAutoFit/>
          </a:bodyPr>
          <a:lstStyle/>
          <a:p>
            <a:r>
              <a:rPr lang="en-US" sz="4400" b="1">
                <a:solidFill>
                  <a:srgbClr val="FFFFFF"/>
                </a:solidFill>
                <a:latin typeface="Trebuchet MS" panose="020B0603020202020204" pitchFamily="34" charset="0"/>
              </a:rPr>
              <a:t>9.  Hypotheses &amp; Expected Results</a:t>
            </a:r>
            <a:endParaRPr lang="en-UG" sz="4400" b="1">
              <a:solidFill>
                <a:srgbClr val="FFFFFF"/>
              </a:solidFill>
              <a:latin typeface="Trebuchet MS" panose="020B0603020202020204" pitchFamily="34" charset="0"/>
            </a:endParaRPr>
          </a:p>
        </p:txBody>
      </p:sp>
      <p:sp>
        <p:nvSpPr>
          <p:cNvPr id="122" name="Rectangle 121">
            <a:extLst>
              <a:ext uri="{FF2B5EF4-FFF2-40B4-BE49-F238E27FC236}">
                <a16:creationId xmlns:a16="http://schemas.microsoft.com/office/drawing/2014/main" id="{6196D4C6-4369-AFEE-33D1-98ECC68AE5EC}"/>
              </a:ext>
            </a:extLst>
          </p:cNvPr>
          <p:cNvSpPr/>
          <p:nvPr/>
        </p:nvSpPr>
        <p:spPr>
          <a:xfrm>
            <a:off x="32170877" y="4297679"/>
            <a:ext cx="10220706" cy="8297952"/>
          </a:xfrm>
          <a:prstGeom prst="rect">
            <a:avLst/>
          </a:prstGeom>
          <a:solidFill>
            <a:srgbClr val="FFFFFF"/>
          </a:solidFill>
          <a:ln w="1905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123" name="TextBox 122">
            <a:extLst>
              <a:ext uri="{FF2B5EF4-FFF2-40B4-BE49-F238E27FC236}">
                <a16:creationId xmlns:a16="http://schemas.microsoft.com/office/drawing/2014/main" id="{248102A4-6119-3DA0-C53B-C8F6EB60C91C}"/>
              </a:ext>
            </a:extLst>
          </p:cNvPr>
          <p:cNvSpPr txBox="1"/>
          <p:nvPr/>
        </p:nvSpPr>
        <p:spPr>
          <a:xfrm>
            <a:off x="32399477" y="4526279"/>
            <a:ext cx="9763506" cy="7771358"/>
          </a:xfrm>
          <a:prstGeom prst="rect">
            <a:avLst/>
          </a:prstGeom>
          <a:noFill/>
        </p:spPr>
        <p:txBody>
          <a:bodyPr vert="horz" wrap="square" lIns="0" tIns="0" rIns="0" bIns="0" rtlCol="0">
            <a:spAutoFit/>
          </a:bodyPr>
          <a:lstStyle/>
          <a:p>
            <a:pPr marL="347472" indent="-347472">
              <a:spcAft>
                <a:spcPts val="1000"/>
              </a:spcAft>
              <a:buFont typeface="+mj-lt"/>
              <a:buChar char="•"/>
            </a:pPr>
            <a:r>
              <a:rPr lang="en-US" sz="3200" b="1">
                <a:solidFill>
                  <a:srgbClr val="1A1A1A"/>
                </a:solidFill>
                <a:latin typeface="Trebuchet MS" panose="020B0603020202020204" pitchFamily="34" charset="0"/>
              </a:rPr>
              <a:t>H1:</a:t>
            </a:r>
            <a:r>
              <a:rPr lang="en-US" sz="3200">
                <a:solidFill>
                  <a:srgbClr val="1A1A1A"/>
                </a:solidFill>
                <a:latin typeface="Trebuchet MS" panose="020B0603020202020204" pitchFamily="34" charset="0"/>
              </a:rPr>
              <a:t> the agent resolves more incidents correctly than the simple baselines, at no higher cost than the scripted checklist. Criteria: a difference of at least 0.05 with non-overlapping 95% intervals.</a:t>
            </a:r>
          </a:p>
          <a:p>
            <a:pPr marL="347472" indent="-347472">
              <a:spcAft>
                <a:spcPts val="1000"/>
              </a:spcAft>
              <a:buFont typeface="+mj-lt"/>
              <a:buChar char="•"/>
            </a:pPr>
            <a:r>
              <a:rPr lang="en-US" sz="3200" b="1">
                <a:solidFill>
                  <a:srgbClr val="1A1A1A"/>
                </a:solidFill>
                <a:latin typeface="Trebuchet MS" panose="020B0603020202020204" pitchFamily="34" charset="0"/>
              </a:rPr>
              <a:t>H2:</a:t>
            </a:r>
            <a:r>
              <a:rPr lang="en-US" sz="3200">
                <a:solidFill>
                  <a:srgbClr val="1A1A1A"/>
                </a:solidFill>
                <a:latin typeface="Trebuchet MS" panose="020B0603020202020204" pitchFamily="34" charset="0"/>
              </a:rPr>
              <a:t> the agent with the rule mechanism achieves a higher compliant success rate than the unconstrained and penalty-only agents. (Zero executed violations is verified, not tested.)</a:t>
            </a:r>
          </a:p>
          <a:p>
            <a:pPr marL="347472" indent="-347472">
              <a:spcAft>
                <a:spcPts val="1000"/>
              </a:spcAft>
              <a:buFont typeface="+mj-lt"/>
              <a:buChar char="•"/>
            </a:pPr>
            <a:r>
              <a:rPr lang="en-US" sz="3200" b="1">
                <a:solidFill>
                  <a:srgbClr val="1A1A1A"/>
                </a:solidFill>
                <a:latin typeface="Trebuchet MS" panose="020B0603020202020204" pitchFamily="34" charset="0"/>
              </a:rPr>
              <a:t>H3:</a:t>
            </a:r>
            <a:r>
              <a:rPr lang="en-US" sz="3200">
                <a:solidFill>
                  <a:srgbClr val="1A1A1A"/>
                </a:solidFill>
                <a:latin typeface="Trebuchet MS" panose="020B0603020202020204" pitchFamily="34" charset="0"/>
              </a:rPr>
              <a:t> more missing evidence brings more escalation, not more checks; less reliable evidence brings more checks and fewer fixes; more overlap brings more checks and more escalation.</a:t>
            </a:r>
          </a:p>
          <a:p>
            <a:pPr marL="347472" indent="-347472">
              <a:spcAft>
                <a:spcPts val="1000"/>
              </a:spcAft>
              <a:buFont typeface="+mj-lt"/>
              <a:buChar char="•"/>
            </a:pPr>
            <a:r>
              <a:rPr lang="en-US" sz="3200" b="1">
                <a:solidFill>
                  <a:srgbClr val="1A1A1A"/>
                </a:solidFill>
                <a:latin typeface="Trebuchet MS" panose="020B0603020202020204" pitchFamily="34" charset="0"/>
              </a:rPr>
              <a:t>Prototype:</a:t>
            </a:r>
            <a:r>
              <a:rPr lang="en-US" sz="3200">
                <a:solidFill>
                  <a:srgbClr val="1A1A1A"/>
                </a:solidFill>
                <a:latin typeface="Trebuchet MS" panose="020B0603020202020204" pitchFamily="34" charset="0"/>
              </a:rPr>
              <a:t> a working simulator, rule mechanism, baselines and trained agents, with a dashboard that replays each incident step by step.</a:t>
            </a:r>
            <a:endParaRPr lang="en-UG" sz="3200">
              <a:solidFill>
                <a:srgbClr val="1A1A1A"/>
              </a:solidFill>
              <a:latin typeface="Trebuchet MS" panose="020B0603020202020204" pitchFamily="34" charset="0"/>
            </a:endParaRPr>
          </a:p>
        </p:txBody>
      </p:sp>
      <p:sp>
        <p:nvSpPr>
          <p:cNvPr id="124" name="Rectangle 123">
            <a:extLst>
              <a:ext uri="{FF2B5EF4-FFF2-40B4-BE49-F238E27FC236}">
                <a16:creationId xmlns:a16="http://schemas.microsoft.com/office/drawing/2014/main" id="{9110D810-2BCC-DFCD-7A9E-7A2436A49AB8}"/>
              </a:ext>
            </a:extLst>
          </p:cNvPr>
          <p:cNvSpPr/>
          <p:nvPr/>
        </p:nvSpPr>
        <p:spPr>
          <a:xfrm>
            <a:off x="32170877" y="12985064"/>
            <a:ext cx="10220706" cy="868680"/>
          </a:xfrm>
          <a:prstGeom prst="rect">
            <a:avLst/>
          </a:prstGeom>
          <a:solidFill>
            <a:srgbClr val="0070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125" name="TextBox 124">
            <a:extLst>
              <a:ext uri="{FF2B5EF4-FFF2-40B4-BE49-F238E27FC236}">
                <a16:creationId xmlns:a16="http://schemas.microsoft.com/office/drawing/2014/main" id="{B6CFB2C7-3CFB-4C93-BAD2-4F4C6BCABDE4}"/>
              </a:ext>
            </a:extLst>
          </p:cNvPr>
          <p:cNvSpPr txBox="1"/>
          <p:nvPr/>
        </p:nvSpPr>
        <p:spPr>
          <a:xfrm>
            <a:off x="32399477" y="13080850"/>
            <a:ext cx="9763506" cy="677108"/>
          </a:xfrm>
          <a:prstGeom prst="rect">
            <a:avLst/>
          </a:prstGeom>
          <a:noFill/>
        </p:spPr>
        <p:txBody>
          <a:bodyPr vert="horz" wrap="square" lIns="0" tIns="0" rIns="0" bIns="0" rtlCol="0">
            <a:spAutoFit/>
          </a:bodyPr>
          <a:lstStyle/>
          <a:p>
            <a:r>
              <a:rPr lang="en-US" sz="4400" b="1">
                <a:solidFill>
                  <a:srgbClr val="FFFFFF"/>
                </a:solidFill>
                <a:latin typeface="Trebuchet MS" panose="020B0603020202020204" pitchFamily="34" charset="0"/>
              </a:rPr>
              <a:t>10.  Next Steps</a:t>
            </a:r>
            <a:endParaRPr lang="en-UG" sz="4400" b="1">
              <a:solidFill>
                <a:srgbClr val="FFFFFF"/>
              </a:solidFill>
              <a:latin typeface="Trebuchet MS" panose="020B0603020202020204" pitchFamily="34" charset="0"/>
            </a:endParaRPr>
          </a:p>
        </p:txBody>
      </p:sp>
      <p:sp>
        <p:nvSpPr>
          <p:cNvPr id="126" name="Rectangle 125">
            <a:extLst>
              <a:ext uri="{FF2B5EF4-FFF2-40B4-BE49-F238E27FC236}">
                <a16:creationId xmlns:a16="http://schemas.microsoft.com/office/drawing/2014/main" id="{F05FD80A-E37C-E926-3EC4-DD706084CE11}"/>
              </a:ext>
            </a:extLst>
          </p:cNvPr>
          <p:cNvSpPr/>
          <p:nvPr/>
        </p:nvSpPr>
        <p:spPr>
          <a:xfrm>
            <a:off x="32170877" y="13853744"/>
            <a:ext cx="10220706" cy="4101931"/>
          </a:xfrm>
          <a:prstGeom prst="rect">
            <a:avLst/>
          </a:prstGeom>
          <a:solidFill>
            <a:srgbClr val="FFFFFF"/>
          </a:solidFill>
          <a:ln w="1905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127" name="TextBox 126">
            <a:extLst>
              <a:ext uri="{FF2B5EF4-FFF2-40B4-BE49-F238E27FC236}">
                <a16:creationId xmlns:a16="http://schemas.microsoft.com/office/drawing/2014/main" id="{A46E266A-7C0E-279E-2766-10C0DBE4FA8D}"/>
              </a:ext>
            </a:extLst>
          </p:cNvPr>
          <p:cNvSpPr txBox="1"/>
          <p:nvPr/>
        </p:nvSpPr>
        <p:spPr>
          <a:xfrm>
            <a:off x="32399477" y="14082344"/>
            <a:ext cx="9763506" cy="3575338"/>
          </a:xfrm>
          <a:prstGeom prst="rect">
            <a:avLst/>
          </a:prstGeom>
          <a:noFill/>
        </p:spPr>
        <p:txBody>
          <a:bodyPr vert="horz" wrap="square" lIns="0" tIns="0" rIns="0" bIns="0" rtlCol="0">
            <a:spAutoFit/>
          </a:bodyPr>
          <a:lstStyle/>
          <a:p>
            <a:pPr marL="347472" indent="-347472">
              <a:spcAft>
                <a:spcPts val="1000"/>
              </a:spcAft>
              <a:buFont typeface="+mj-lt"/>
              <a:buChar char="•"/>
            </a:pPr>
            <a:r>
              <a:rPr lang="en-US" sz="3200">
                <a:solidFill>
                  <a:srgbClr val="1A1A1A"/>
                </a:solidFill>
                <a:latin typeface="Trebuchet MS" panose="020B0603020202020204" pitchFamily="34" charset="0"/>
              </a:rPr>
              <a:t>Elicit the scenario model with UIS staff in the week of 26 October 2026, and freeze it after staff review of sample incidents.</a:t>
            </a:r>
          </a:p>
          <a:p>
            <a:pPr marL="347472" indent="-347472">
              <a:spcAft>
                <a:spcPts val="1000"/>
              </a:spcAft>
              <a:buFont typeface="+mj-lt"/>
              <a:buChar char="•"/>
            </a:pPr>
            <a:r>
              <a:rPr lang="en-US" sz="3200">
                <a:solidFill>
                  <a:srgbClr val="1A1A1A"/>
                </a:solidFill>
                <a:latin typeface="Trebuchet MS" panose="020B0603020202020204" pitchFamily="34" charset="0"/>
              </a:rPr>
              <a:t>Build and test the simulator and rule mechanism, train the agents, run the four experiments, and report the results with a working prototype by 29 November 2026.</a:t>
            </a:r>
            <a:endParaRPr lang="en-UG" sz="3200">
              <a:solidFill>
                <a:srgbClr val="1A1A1A"/>
              </a:solidFill>
              <a:latin typeface="Trebuchet MS" panose="020B0603020202020204" pitchFamily="34" charset="0"/>
            </a:endParaRPr>
          </a:p>
        </p:txBody>
      </p:sp>
      <p:sp>
        <p:nvSpPr>
          <p:cNvPr id="128" name="Rectangle 127">
            <a:extLst>
              <a:ext uri="{FF2B5EF4-FFF2-40B4-BE49-F238E27FC236}">
                <a16:creationId xmlns:a16="http://schemas.microsoft.com/office/drawing/2014/main" id="{75D333F4-01BE-CE1C-25E3-947612857F04}"/>
              </a:ext>
            </a:extLst>
          </p:cNvPr>
          <p:cNvSpPr/>
          <p:nvPr/>
        </p:nvSpPr>
        <p:spPr>
          <a:xfrm>
            <a:off x="32170877" y="18345108"/>
            <a:ext cx="10220706" cy="868680"/>
          </a:xfrm>
          <a:prstGeom prst="rect">
            <a:avLst/>
          </a:prstGeom>
          <a:solidFill>
            <a:srgbClr val="C039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129" name="TextBox 128">
            <a:extLst>
              <a:ext uri="{FF2B5EF4-FFF2-40B4-BE49-F238E27FC236}">
                <a16:creationId xmlns:a16="http://schemas.microsoft.com/office/drawing/2014/main" id="{B2F91B7D-26C1-4F2C-280B-D70E59D003F1}"/>
              </a:ext>
            </a:extLst>
          </p:cNvPr>
          <p:cNvSpPr txBox="1"/>
          <p:nvPr/>
        </p:nvSpPr>
        <p:spPr>
          <a:xfrm>
            <a:off x="32399477" y="18440895"/>
            <a:ext cx="9763506" cy="677108"/>
          </a:xfrm>
          <a:prstGeom prst="rect">
            <a:avLst/>
          </a:prstGeom>
          <a:noFill/>
        </p:spPr>
        <p:txBody>
          <a:bodyPr vert="horz" wrap="square" lIns="0" tIns="0" rIns="0" bIns="0" rtlCol="0">
            <a:spAutoFit/>
          </a:bodyPr>
          <a:lstStyle/>
          <a:p>
            <a:r>
              <a:rPr lang="en-US" sz="4400" b="1">
                <a:solidFill>
                  <a:srgbClr val="FFFFFF"/>
                </a:solidFill>
                <a:latin typeface="Trebuchet MS" panose="020B0603020202020204" pitchFamily="34" charset="0"/>
              </a:rPr>
              <a:t>11.  National &amp; Global Alignment</a:t>
            </a:r>
            <a:endParaRPr lang="en-UG" sz="4400" b="1">
              <a:solidFill>
                <a:srgbClr val="FFFFFF"/>
              </a:solidFill>
              <a:latin typeface="Trebuchet MS" panose="020B0603020202020204" pitchFamily="34" charset="0"/>
            </a:endParaRPr>
          </a:p>
        </p:txBody>
      </p:sp>
      <p:sp>
        <p:nvSpPr>
          <p:cNvPr id="130" name="Rectangle 129">
            <a:extLst>
              <a:ext uri="{FF2B5EF4-FFF2-40B4-BE49-F238E27FC236}">
                <a16:creationId xmlns:a16="http://schemas.microsoft.com/office/drawing/2014/main" id="{547C55A5-7306-9C3A-54E3-C8F8119E1E2F}"/>
              </a:ext>
            </a:extLst>
          </p:cNvPr>
          <p:cNvSpPr/>
          <p:nvPr/>
        </p:nvSpPr>
        <p:spPr>
          <a:xfrm>
            <a:off x="32170877" y="19213788"/>
            <a:ext cx="10220706" cy="5835740"/>
          </a:xfrm>
          <a:prstGeom prst="rect">
            <a:avLst/>
          </a:prstGeom>
          <a:solidFill>
            <a:srgbClr val="FFFFFF"/>
          </a:solidFill>
          <a:ln w="1905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131" name="TextBox 130">
            <a:extLst>
              <a:ext uri="{FF2B5EF4-FFF2-40B4-BE49-F238E27FC236}">
                <a16:creationId xmlns:a16="http://schemas.microsoft.com/office/drawing/2014/main" id="{8D3A62DE-DF34-E2A6-DDFB-A02C75CB4AE8}"/>
              </a:ext>
            </a:extLst>
          </p:cNvPr>
          <p:cNvSpPr txBox="1"/>
          <p:nvPr/>
        </p:nvSpPr>
        <p:spPr>
          <a:xfrm>
            <a:off x="32399477" y="19442388"/>
            <a:ext cx="9763506" cy="5309146"/>
          </a:xfrm>
          <a:prstGeom prst="rect">
            <a:avLst/>
          </a:prstGeom>
          <a:noFill/>
        </p:spPr>
        <p:txBody>
          <a:bodyPr vert="horz" wrap="square" lIns="0" tIns="0" rIns="0" bIns="0" rtlCol="0">
            <a:spAutoFit/>
          </a:bodyPr>
          <a:lstStyle/>
          <a:p>
            <a:pPr marL="347472" indent="-347472">
              <a:spcAft>
                <a:spcPts val="1000"/>
              </a:spcAft>
              <a:buFont typeface="+mj-lt"/>
              <a:buChar char="•"/>
            </a:pPr>
            <a:r>
              <a:rPr lang="en-US" sz="3200" b="1">
                <a:solidFill>
                  <a:srgbClr val="1A1A1A"/>
                </a:solidFill>
                <a:latin typeface="Trebuchet MS" panose="020B0603020202020204" pitchFamily="34" charset="0"/>
              </a:rPr>
              <a:t>AI &amp; Robotics track:</a:t>
            </a:r>
            <a:r>
              <a:rPr lang="en-US" sz="3200">
                <a:solidFill>
                  <a:srgbClr val="1A1A1A"/>
                </a:solidFill>
                <a:latin typeface="Trebuchet MS" panose="020B0603020202020204" pitchFamily="34" charset="0"/>
              </a:rPr>
              <a:t> deep reinforcement learning, decision-making under uncertainty and safe RL.</a:t>
            </a:r>
          </a:p>
          <a:p>
            <a:pPr marL="347472" indent="-347472">
              <a:spcAft>
                <a:spcPts val="1000"/>
              </a:spcAft>
              <a:buFont typeface="+mj-lt"/>
              <a:buChar char="•"/>
            </a:pPr>
            <a:r>
              <a:rPr lang="en-US" sz="3200" b="1">
                <a:solidFill>
                  <a:srgbClr val="1A1A1A"/>
                </a:solidFill>
                <a:latin typeface="Trebuchet MS" panose="020B0603020202020204" pitchFamily="34" charset="0"/>
              </a:rPr>
              <a:t>SDG 9:</a:t>
            </a:r>
            <a:r>
              <a:rPr lang="en-US" sz="3200">
                <a:solidFill>
                  <a:srgbClr val="1A1A1A"/>
                </a:solidFill>
                <a:latin typeface="Trebuchet MS" panose="020B0603020202020204" pitchFamily="34" charset="0"/>
              </a:rPr>
              <a:t> reliable, rule-governed automation of the digital services that infrastructure depends on; local research capability (Target 9.5).</a:t>
            </a:r>
          </a:p>
          <a:p>
            <a:pPr marL="347472" indent="-347472">
              <a:spcAft>
                <a:spcPts val="1000"/>
              </a:spcAft>
              <a:buFont typeface="+mj-lt"/>
              <a:buChar char="•"/>
            </a:pPr>
            <a:r>
              <a:rPr lang="en-US" sz="3200" b="1">
                <a:solidFill>
                  <a:srgbClr val="1A1A1A"/>
                </a:solidFill>
                <a:latin typeface="Trebuchet MS" panose="020B0603020202020204" pitchFamily="34" charset="0"/>
              </a:rPr>
              <a:t>NDP IV:</a:t>
            </a:r>
            <a:r>
              <a:rPr lang="en-US" sz="3200">
                <a:solidFill>
                  <a:srgbClr val="1A1A1A"/>
                </a:solidFill>
                <a:latin typeface="Trebuchet MS" panose="020B0603020202020204" pitchFamily="34" charset="0"/>
              </a:rPr>
              <a:t> supports the Digital Transformation Programme through reliable delivery of digital services and local AI skills.</a:t>
            </a:r>
          </a:p>
          <a:p>
            <a:pPr marL="347472" indent="-347472">
              <a:spcAft>
                <a:spcPts val="1000"/>
              </a:spcAft>
              <a:buFont typeface="+mj-lt"/>
              <a:buChar char="•"/>
            </a:pPr>
            <a:r>
              <a:rPr lang="en-US" sz="3200" b="1">
                <a:solidFill>
                  <a:srgbClr val="1A1A1A"/>
                </a:solidFill>
                <a:latin typeface="Trebuchet MS" panose="020B0603020202020204" pitchFamily="34" charset="0"/>
              </a:rPr>
              <a:t>Vision 2040:</a:t>
            </a:r>
            <a:r>
              <a:rPr lang="en-US" sz="3200">
                <a:solidFill>
                  <a:srgbClr val="1A1A1A"/>
                </a:solidFill>
                <a:latin typeface="Trebuchet MS" panose="020B0603020202020204" pitchFamily="34" charset="0"/>
              </a:rPr>
              <a:t> locally developed AI expertise, with ICT as a foundation of national transformation.</a:t>
            </a:r>
            <a:endParaRPr lang="en-UG" sz="3200">
              <a:solidFill>
                <a:srgbClr val="1A1A1A"/>
              </a:solidFill>
              <a:latin typeface="Trebuchet MS" panose="020B0603020202020204" pitchFamily="34" charset="0"/>
            </a:endParaRPr>
          </a:p>
        </p:txBody>
      </p:sp>
      <p:sp>
        <p:nvSpPr>
          <p:cNvPr id="132" name="Rectangle 131">
            <a:extLst>
              <a:ext uri="{FF2B5EF4-FFF2-40B4-BE49-F238E27FC236}">
                <a16:creationId xmlns:a16="http://schemas.microsoft.com/office/drawing/2014/main" id="{C00D0A4E-C625-2217-6195-2C924E01BB01}"/>
              </a:ext>
            </a:extLst>
          </p:cNvPr>
          <p:cNvSpPr/>
          <p:nvPr/>
        </p:nvSpPr>
        <p:spPr>
          <a:xfrm>
            <a:off x="32170877" y="25438962"/>
            <a:ext cx="10220706" cy="868679"/>
          </a:xfrm>
          <a:prstGeom prst="rect">
            <a:avLst/>
          </a:prstGeom>
          <a:solidFill>
            <a:srgbClr val="0070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133" name="TextBox 132">
            <a:extLst>
              <a:ext uri="{FF2B5EF4-FFF2-40B4-BE49-F238E27FC236}">
                <a16:creationId xmlns:a16="http://schemas.microsoft.com/office/drawing/2014/main" id="{3C45B7FC-FB18-A69B-937D-9ECF5336A040}"/>
              </a:ext>
            </a:extLst>
          </p:cNvPr>
          <p:cNvSpPr txBox="1"/>
          <p:nvPr/>
        </p:nvSpPr>
        <p:spPr>
          <a:xfrm>
            <a:off x="32399477" y="25534747"/>
            <a:ext cx="9763506" cy="677108"/>
          </a:xfrm>
          <a:prstGeom prst="rect">
            <a:avLst/>
          </a:prstGeom>
          <a:noFill/>
        </p:spPr>
        <p:txBody>
          <a:bodyPr vert="horz" wrap="square" lIns="0" tIns="0" rIns="0" bIns="0" rtlCol="0">
            <a:spAutoFit/>
          </a:bodyPr>
          <a:lstStyle/>
          <a:p>
            <a:r>
              <a:rPr lang="en-US" sz="4400" b="1">
                <a:solidFill>
                  <a:srgbClr val="FFFFFF"/>
                </a:solidFill>
                <a:latin typeface="Trebuchet MS" panose="020B0603020202020204" pitchFamily="34" charset="0"/>
              </a:rPr>
              <a:t>12.  Contacts &amp; Key References</a:t>
            </a:r>
            <a:endParaRPr lang="en-UG" sz="4400" b="1">
              <a:solidFill>
                <a:srgbClr val="FFFFFF"/>
              </a:solidFill>
              <a:latin typeface="Trebuchet MS" panose="020B0603020202020204" pitchFamily="34" charset="0"/>
            </a:endParaRPr>
          </a:p>
        </p:txBody>
      </p:sp>
      <p:sp>
        <p:nvSpPr>
          <p:cNvPr id="134" name="Rectangle 133">
            <a:extLst>
              <a:ext uri="{FF2B5EF4-FFF2-40B4-BE49-F238E27FC236}">
                <a16:creationId xmlns:a16="http://schemas.microsoft.com/office/drawing/2014/main" id="{4519EA4B-0307-57AF-E98D-B59733486C5B}"/>
              </a:ext>
            </a:extLst>
          </p:cNvPr>
          <p:cNvSpPr/>
          <p:nvPr/>
        </p:nvSpPr>
        <p:spPr>
          <a:xfrm>
            <a:off x="32170877" y="26307641"/>
            <a:ext cx="10220706" cy="3602383"/>
          </a:xfrm>
          <a:prstGeom prst="rect">
            <a:avLst/>
          </a:prstGeom>
          <a:solidFill>
            <a:srgbClr val="FFFFFF"/>
          </a:solidFill>
          <a:ln w="1905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135" name="TextBox 134">
            <a:extLst>
              <a:ext uri="{FF2B5EF4-FFF2-40B4-BE49-F238E27FC236}">
                <a16:creationId xmlns:a16="http://schemas.microsoft.com/office/drawing/2014/main" id="{76A005A4-A97F-FBA6-F1AD-69F9BAF12CDD}"/>
              </a:ext>
            </a:extLst>
          </p:cNvPr>
          <p:cNvSpPr txBox="1"/>
          <p:nvPr/>
        </p:nvSpPr>
        <p:spPr>
          <a:xfrm>
            <a:off x="32399477" y="26536241"/>
            <a:ext cx="9763506" cy="1113125"/>
          </a:xfrm>
          <a:prstGeom prst="rect">
            <a:avLst/>
          </a:prstGeom>
          <a:noFill/>
        </p:spPr>
        <p:txBody>
          <a:bodyPr vert="horz" wrap="square" lIns="0" tIns="0" rIns="0" bIns="0" rtlCol="0">
            <a:spAutoFit/>
          </a:bodyPr>
          <a:lstStyle/>
          <a:p>
            <a:pPr>
              <a:spcAft>
                <a:spcPts val="1000"/>
              </a:spcAft>
            </a:pPr>
            <a:r>
              <a:rPr lang="fr-FR" sz="3200" b="1">
                <a:solidFill>
                  <a:srgbClr val="1A1A1A"/>
                </a:solidFill>
                <a:latin typeface="Trebuchet MS" panose="020B0603020202020204" pitchFamily="34" charset="0"/>
              </a:rPr>
              <a:t>Email:</a:t>
            </a:r>
            <a:r>
              <a:rPr lang="fr-FR" sz="3200">
                <a:solidFill>
                  <a:srgbClr val="1A1A1A"/>
                </a:solidFill>
                <a:latin typeface="Trebuchet MS" panose="020B0603020202020204" pitchFamily="34" charset="0"/>
              </a:rPr>
              <a:t> charisopol@gmail.com</a:t>
            </a:r>
          </a:p>
          <a:p>
            <a:pPr>
              <a:spcAft>
                <a:spcPts val="1000"/>
              </a:spcAft>
            </a:pPr>
            <a:r>
              <a:rPr lang="fr-FR" sz="3200" b="1">
                <a:solidFill>
                  <a:srgbClr val="1A1A1A"/>
                </a:solidFill>
                <a:latin typeface="Trebuchet MS" panose="020B0603020202020204" pitchFamily="34" charset="0"/>
              </a:rPr>
              <a:t>Phone:</a:t>
            </a:r>
            <a:r>
              <a:rPr lang="fr-FR" sz="3200">
                <a:solidFill>
                  <a:srgbClr val="1A1A1A"/>
                </a:solidFill>
                <a:latin typeface="Trebuchet MS" panose="020B0603020202020204" pitchFamily="34" charset="0"/>
              </a:rPr>
              <a:t> 0765821211</a:t>
            </a:r>
            <a:endParaRPr lang="en-UG" sz="3200">
              <a:solidFill>
                <a:srgbClr val="1A1A1A"/>
              </a:solidFill>
              <a:latin typeface="Trebuchet MS" panose="020B0603020202020204" pitchFamily="34" charset="0"/>
            </a:endParaRPr>
          </a:p>
        </p:txBody>
      </p:sp>
      <p:sp>
        <p:nvSpPr>
          <p:cNvPr id="136" name="TextBox 135">
            <a:extLst>
              <a:ext uri="{FF2B5EF4-FFF2-40B4-BE49-F238E27FC236}">
                <a16:creationId xmlns:a16="http://schemas.microsoft.com/office/drawing/2014/main" id="{6418ACDF-E941-FFDA-FC2C-FC6E708566C0}"/>
              </a:ext>
            </a:extLst>
          </p:cNvPr>
          <p:cNvSpPr txBox="1"/>
          <p:nvPr/>
        </p:nvSpPr>
        <p:spPr>
          <a:xfrm>
            <a:off x="32399477" y="27883352"/>
            <a:ext cx="9763506" cy="1728678"/>
          </a:xfrm>
          <a:prstGeom prst="rect">
            <a:avLst/>
          </a:prstGeom>
          <a:noFill/>
        </p:spPr>
        <p:txBody>
          <a:bodyPr vert="horz" wrap="square" lIns="0" tIns="0" rIns="0" bIns="0" rtlCol="0">
            <a:spAutoFit/>
          </a:bodyPr>
          <a:lstStyle/>
          <a:p>
            <a:pPr>
              <a:spcAft>
                <a:spcPts val="1000"/>
              </a:spcAft>
            </a:pPr>
            <a:r>
              <a:rPr lang="en-US" sz="2600">
                <a:solidFill>
                  <a:srgbClr val="555555"/>
                </a:solidFill>
                <a:latin typeface="Trebuchet MS" panose="020B0603020202020204" pitchFamily="34" charset="0"/>
              </a:rPr>
              <a:t>[1] Z. Chen et al., "Towards intelligent incident management: Why we need it and how we make it," ESEC/FSE, 2020.</a:t>
            </a:r>
          </a:p>
          <a:p>
            <a:pPr>
              <a:spcAft>
                <a:spcPts val="1000"/>
              </a:spcAft>
            </a:pPr>
            <a:r>
              <a:rPr lang="en-US" sz="2600">
                <a:solidFill>
                  <a:srgbClr val="555555"/>
                </a:solidFill>
                <a:latin typeface="Trebuchet MS" panose="020B0603020202020204" pitchFamily="34" charset="0"/>
              </a:rPr>
              <a:t>[2] M. Alshiekh et al., "Safe reinforcement learning via shielding," AAAI, 2018.</a:t>
            </a:r>
            <a:endParaRPr lang="en-UG" sz="2600">
              <a:solidFill>
                <a:srgbClr val="555555"/>
              </a:solidFill>
              <a:latin typeface="Trebuchet MS" panose="020B0603020202020204" pitchFamily="34" charset="0"/>
            </a:endParaRPr>
          </a:p>
        </p:txBody>
      </p:sp>
    </p:spTree>
    <p:extLst>
      <p:ext uri="{BB962C8B-B14F-4D97-AF65-F5344CB8AC3E}">
        <p14:creationId xmlns:p14="http://schemas.microsoft.com/office/powerpoint/2010/main" val="31013628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1084</Words>
  <Application>Microsoft Office PowerPoint</Application>
  <PresentationFormat>Custom</PresentationFormat>
  <Paragraphs>104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Trebuchet MS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Charis Opol</dc:creator>
  <cp:lastModifiedBy>Charis Opol</cp:lastModifiedBy>
  <cp:revision>1</cp:revision>
  <dcterms:created xsi:type="dcterms:W3CDTF">2026-10-24T16:46:42Z</dcterms:created>
  <dcterms:modified xsi:type="dcterms:W3CDTF">2026-10-24T16:46:42Z</dcterms:modified>
</cp:coreProperties>
</file>