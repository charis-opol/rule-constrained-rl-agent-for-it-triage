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
  </p:notesMasterIdLst>
  <p:sldIdLst>
    <p:sldId id="256" r:id="rId2"/>
  </p:sldIdLst>
  <p:sldSz cx="42803763" cy="30275213"/>
  <p:notesSz cx="30275213" cy="42803763"/>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75" d="100"/>
          <a:sy n="75" d="100"/>
        </p:scale>
        <p:origin x="-9393" y="-159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796338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hyperlink" Target="mailto:charisopol@gmail.com" TargetMode="External"/><Relationship Id="rId9" Type="http://schemas.openxmlformats.org/officeDocument/2006/relationships/image" Target="../media/image6.png"/><Relationship Id="rId10" Type="http://schemas.openxmlformats.org/officeDocument/2006/relationships/image" Target="../media/image7.png"/><Relationship Id="rId11" Type="http://schemas.openxmlformats.org/officeDocument/2006/relationships/image" Target="../media/image8.png"/><Relationship Id="rId12" Type="http://schemas.openxmlformats.org/officeDocument/2006/relationships/image" Target="../media/image9.png"/><Relationship Id="rId13" Type="http://schemas.openxmlformats.org/officeDocument/2006/relationships/image" Target="../media/image10.png"/><Relationship Id="rId14" Type="http://schemas.openxmlformats.org/officeDocument/2006/relationships/image" Target="../media/image11.png"/><Relationship Id="rId15"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pic>
        <p:nvPicPr>
          <p:cNvPr id="2" name="Image 0" descr="assets/logo_left.png"/>
          <p:cNvPicPr>
            <a:picLocks noChangeAspect="1"/>
          </p:cNvPicPr>
          <p:nvPr/>
        </p:nvPicPr>
        <p:blipFill>
          <a:blip r:embed="rId3"/>
          <a:stretch>
            <a:fillRect/>
          </a:stretch>
        </p:blipFill>
        <p:spPr>
          <a:xfrm>
            <a:off x="188454" y="428046"/>
            <a:ext cx="7933715" cy="2668613"/>
          </a:xfrm>
          <a:prstGeom prst="rect">
            <a:avLst/>
          </a:prstGeom>
        </p:spPr>
      </p:pic>
      <p:pic>
        <p:nvPicPr>
          <p:cNvPr id="3" name="Image 1" descr="assets/logo_right.png"/>
          <p:cNvPicPr>
            <a:picLocks noChangeAspect="1"/>
          </p:cNvPicPr>
          <p:nvPr/>
        </p:nvPicPr>
        <p:blipFill>
          <a:blip r:embed="rId4"/>
          <a:stretch>
            <a:fillRect/>
          </a:stretch>
        </p:blipFill>
        <p:spPr>
          <a:xfrm>
            <a:off x="33136812" y="-31956"/>
            <a:ext cx="9416735" cy="3190652"/>
          </a:xfrm>
          <a:prstGeom prst="rect">
            <a:avLst/>
          </a:prstGeom>
        </p:spPr>
      </p:pic>
      <p:sp>
        <p:nvSpPr>
          <p:cNvPr id="4" name="Text 0"/>
          <p:cNvSpPr/>
          <p:nvPr/>
        </p:nvSpPr>
        <p:spPr>
          <a:xfrm>
            <a:off x="4789411" y="173482"/>
            <a:ext cx="32927544" cy="1783080"/>
          </a:xfrm>
          <a:prstGeom prst="rect">
            <a:avLst/>
          </a:prstGeom>
          <a:noFill/>
          <a:ln/>
        </p:spPr>
        <p:txBody>
          <a:bodyPr wrap="square" lIns="0" tIns="0" rIns="0" bIns="0" rtlCol="0" anchor="ctr"/>
          <a:lstStyle/>
          <a:p>
            <a:pPr marL="0" indent="0" algn="ctr">
              <a:lnSpc>
                <a:spcPct val="105000"/>
              </a:lnSpc>
              <a:buNone/>
            </a:pPr>
            <a:r>
              <a:rPr lang="en-US" sz="4500" b="1" dirty="0">
                <a:solidFill>
                  <a:srgbClr val="1A1A1A"/>
                </a:solidFill>
                <a:latin typeface="Trebuchet MS" panose="020B0603020202020204" pitchFamily="34" charset="0"/>
                <a:ea typeface="Cambria" pitchFamily="34" charset="-122"/>
                <a:cs typeface="Cambria" pitchFamily="34" charset="-120"/>
              </a:rPr>
              <a:t>Investigate, Recommend or Escalate: A Rule-Constrained Reinforcement Learning Agent</a:t>
            </a:r>
            <a:endParaRPr lang="en-US" sz="4500" b="1" dirty="0">
              <a:solidFill>
                <a:srgbClr val="1A1A1A"/>
              </a:solidFill>
              <a:latin typeface="Trebuchet MS" panose="020B0603020202020204" pitchFamily="34" charset="0"/>
              <a:ea typeface="Cambria" pitchFamily="34" charset="-122"/>
              <a:cs typeface="Cambria" pitchFamily="34" charset="-120"/>
            </a:endParaRPr>
          </a:p>
          <a:p>
            <a:pPr marL="0" indent="0" algn="ctr">
              <a:lnSpc>
                <a:spcPct val="105000"/>
              </a:lnSpc>
              <a:buNone/>
            </a:pPr>
            <a:r>
              <a:rPr lang="en-US" sz="4500" b="1" dirty="0">
                <a:solidFill>
                  <a:srgbClr val="1A1A1A"/>
                </a:solidFill>
                <a:latin typeface="Trebuchet MS" panose="020B0603020202020204" pitchFamily="34" charset="0"/>
                <a:ea typeface="Cambria" pitchFamily="34" charset="-122"/>
                <a:cs typeface="Cambria" pitchFamily="34" charset="-120"/>
              </a:rPr>
              <a:t>for IT Incident Triage under Ambiguous Evidence</a:t>
            </a:r>
            <a:endParaRPr lang="en-US" sz="4500" b="1" dirty="0">
              <a:solidFill>
                <a:srgbClr val="1A1A1A"/>
              </a:solidFill>
              <a:latin typeface="Trebuchet MS" panose="020B0603020202020204" pitchFamily="34" charset="0"/>
              <a:ea typeface="Cambria" pitchFamily="34" charset="-122"/>
              <a:cs typeface="Cambria" pitchFamily="34" charset="-120"/>
            </a:endParaRPr>
          </a:p>
        </p:txBody>
      </p:sp>
      <p:sp>
        <p:nvSpPr>
          <p:cNvPr id="5" name="Text 1"/>
          <p:cNvSpPr/>
          <p:nvPr/>
        </p:nvSpPr>
        <p:spPr>
          <a:xfrm>
            <a:off x="4743691" y="1883410"/>
            <a:ext cx="32927544" cy="457200"/>
          </a:xfrm>
          <a:prstGeom prst="rect">
            <a:avLst/>
          </a:prstGeom>
          <a:noFill/>
          <a:ln/>
        </p:spPr>
        <p:txBody>
          <a:bodyPr wrap="square" lIns="0" tIns="0" rIns="0" bIns="0" rtlCol="0" anchor="ctr"/>
          <a:lstStyle/>
          <a:p>
            <a:pPr marL="0" indent="0" algn="ctr">
              <a:buNone/>
            </a:pPr>
            <a:r>
              <a:rPr lang="en-US" sz="3000" b="1" dirty="0">
                <a:solidFill>
                  <a:srgbClr val="1A1A1A"/>
                </a:solidFill>
                <a:latin typeface="Trebuchet MS" panose="020B0603020202020204" pitchFamily="34" charset="0"/>
                <a:ea typeface="Calibri" pitchFamily="34" charset="-122"/>
                <a:cs typeface="Calibri" pitchFamily="34" charset="-120"/>
              </a:rPr>
              <a:t>OPOL CHARIS   |   S24B23/003   |   B29654   |   BSCS</a:t>
            </a:r>
            <a:endParaRPr lang="en-US" sz="3000" dirty="0">
              <a:latin typeface="Trebuchet MS" panose="020B0603020202020204" pitchFamily="34" charset="0"/>
            </a:endParaRPr>
          </a:p>
        </p:txBody>
      </p:sp>
      <p:sp>
        <p:nvSpPr>
          <p:cNvPr id="6" name="Text 2"/>
          <p:cNvSpPr/>
          <p:nvPr/>
        </p:nvSpPr>
        <p:spPr>
          <a:xfrm>
            <a:off x="4633646" y="2484056"/>
            <a:ext cx="32927544" cy="365760"/>
          </a:xfrm>
          <a:prstGeom prst="rect">
            <a:avLst/>
          </a:prstGeom>
          <a:noFill/>
          <a:ln/>
        </p:spPr>
        <p:txBody>
          <a:bodyPr wrap="square" lIns="0" tIns="0" rIns="0" bIns="0" rtlCol="0" anchor="ctr"/>
          <a:lstStyle/>
          <a:p>
            <a:pPr marL="0" indent="0" algn="ctr">
              <a:buNone/>
            </a:pPr>
            <a:r>
              <a:rPr lang="en-US" sz="2600" dirty="0">
                <a:solidFill>
                  <a:srgbClr val="444444"/>
                </a:solidFill>
                <a:latin typeface="Trebuchet MS" panose="020B0603020202020204" pitchFamily="34" charset="0"/>
                <a:ea typeface="Calibri" pitchFamily="34" charset="-122"/>
                <a:cs typeface="Calibri" pitchFamily="34" charset="-120"/>
              </a:rPr>
              <a:t>Uganda Christian University   |   Department of Computing &amp; Technology   |   Faculty of Engineering, Design &amp; Technology</a:t>
            </a:r>
            <a:endParaRPr lang="en-US" sz="2600" dirty="0">
              <a:latin typeface="Trebuchet MS" panose="020B0603020202020204" pitchFamily="34" charset="0"/>
            </a:endParaRPr>
          </a:p>
        </p:txBody>
      </p:sp>
      <p:sp>
        <p:nvSpPr>
          <p:cNvPr id="10" name="Text 6"/>
          <p:cNvSpPr/>
          <p:nvPr/>
        </p:nvSpPr>
        <p:spPr>
          <a:xfrm>
            <a:off x="2547607" y="3511042"/>
            <a:ext cx="9923526" cy="603504"/>
          </a:xfrm>
          <a:prstGeom prst="rect">
            <a:avLst/>
          </a:prstGeom>
          <a:noFill/>
          <a:ln/>
        </p:spPr>
        <p:txBody>
          <a:bodyPr wrap="square" lIns="0" tIns="0" rIns="0" bIns="0" rtlCol="0" anchor="ctr"/>
          <a:lstStyle/>
          <a:p>
            <a:pPr marL="0" indent="0" algn="l">
              <a:buNone/>
            </a:pPr>
            <a:r>
              <a:rPr lang="en-US" sz="2100" b="1" dirty="0">
                <a:solidFill>
                  <a:srgbClr val="FFFFFF"/>
                </a:solidFill>
                <a:latin typeface="Trebuchet MS" panose="020B0603020202020204" pitchFamily="34" charset="0"/>
                <a:ea typeface="Cambria" pitchFamily="34" charset="-122"/>
                <a:cs typeface="Cambria" pitchFamily="34" charset="-120"/>
              </a:rPr>
              <a:t>Introduction</a:t>
            </a:r>
            <a:endParaRPr lang="en-US" sz="2100" dirty="0">
              <a:latin typeface="Trebuchet MS" panose="020B0603020202020204" pitchFamily="34" charset="0"/>
            </a:endParaRPr>
          </a:p>
        </p:txBody>
      </p:sp>
      <p:sp>
        <p:nvSpPr>
          <p:cNvPr id="8" name="Shape 4"/>
          <p:cNvSpPr/>
          <p:nvPr/>
        </p:nvSpPr>
        <p:spPr>
          <a:xfrm>
            <a:off x="382194" y="3488182"/>
            <a:ext cx="10252710" cy="8440029"/>
          </a:xfrm>
          <a:prstGeom prst="rect">
            <a:avLst/>
          </a:prstGeom>
          <a:solidFill>
            <a:srgbClr val="FFFFFF"/>
          </a:solidFill>
          <a:ln w="15875">
            <a:solidFill>
              <a:srgbClr val="D9D9D9"/>
            </a:solidFill>
            <a:prstDash val="solid"/>
          </a:ln>
        </p:spPr>
        <p:txBody>
          <a:bodyPr/>
          <a:lstStyle/>
          <a:p>
            <a:endParaRPr lang="en-UG" dirty="0">
              <a:latin typeface="Trebuchet MS" panose="020B0603020202020204" pitchFamily="34" charset="0"/>
            </a:endParaRPr>
          </a:p>
        </p:txBody>
      </p:sp>
      <p:sp>
        <p:nvSpPr>
          <p:cNvPr id="9" name="Shape 5"/>
          <p:cNvSpPr/>
          <p:nvPr/>
        </p:nvSpPr>
        <p:spPr>
          <a:xfrm>
            <a:off x="382194" y="3488182"/>
            <a:ext cx="10252710" cy="574697"/>
          </a:xfrm>
          <a:prstGeom prst="rect">
            <a:avLst/>
          </a:prstGeom>
          <a:solidFill>
            <a:srgbClr val="C0392B"/>
          </a:solidFill>
          <a:ln/>
        </p:spPr>
        <p:txBody>
          <a:bodyPr/>
          <a:lstStyle/>
          <a:p>
            <a:r>
              <a:rPr lang="en-US" sz="3000" b="1" dirty="0">
                <a:solidFill>
                  <a:srgbClr val="FFFFFF"/>
                </a:solidFill>
                <a:latin typeface="Trebuchet MS" panose="020B0603020202020204" pitchFamily="34" charset="0"/>
                <a:ea typeface="Cambria" pitchFamily="34" charset="-122"/>
              </a:rPr>
              <a:t>Introduction</a:t>
            </a:r>
            <a:endParaRPr lang="en-US" sz="3000" dirty="0">
              <a:latin typeface="Trebuchet MS" panose="020B0603020202020204" pitchFamily="34" charset="0"/>
            </a:endParaRPr>
          </a:p>
        </p:txBody>
      </p:sp>
      <p:sp>
        <p:nvSpPr>
          <p:cNvPr id="11" name="Text 7"/>
          <p:cNvSpPr/>
          <p:nvPr/>
        </p:nvSpPr>
        <p:spPr>
          <a:xfrm>
            <a:off x="610794" y="4104753"/>
            <a:ext cx="9795510" cy="4484156"/>
          </a:xfrm>
          <a:prstGeom prst="rect">
            <a:avLst/>
          </a:prstGeom>
          <a:noFill/>
          <a:ln/>
        </p:spPr>
        <p:txBody>
          <a:bodyPr wrap="square" lIns="0" tIns="0" rIns="0" bIns="0" rtlCol="0" anchor="t"/>
          <a:lstStyle/>
          <a:p>
            <a:pPr marL="0" indent="0" algn="l">
              <a:lnSpc>
                <a:spcPct val="128000"/>
              </a:lnSpc>
              <a:buNone/>
            </a:pPr>
            <a:r>
              <a:rPr lang="en-US" sz="2400" dirty="0">
                <a:solidFill>
                  <a:srgbClr val="1A1A1A"/>
                </a:solidFill>
                <a:latin typeface="Trebuchet MS" panose="020B0603020202020204" pitchFamily="34" charset="0"/>
                <a:ea typeface="Calibri" pitchFamily="34" charset="-122"/>
                <a:cs typeface="Calibri" pitchFamily="34" charset="-120"/>
              </a:rPr>
              <a:t>When an IT incident is reported, staff must decide what to do before they know its cause: investigate further, apply a likely fix, or pass the incident to someone better placed. The first evidence, an error in the logs or a user’s ticket, is often incomplete, unreliable or consistent with several causes.</a:t>
            </a:r>
            <a:endParaRPr lang="en-US" sz="2400" dirty="0">
              <a:solidFill>
                <a:srgbClr val="1A1A1A"/>
              </a:solidFill>
              <a:latin typeface="Trebuchet MS" panose="020B0603020202020204" pitchFamily="34" charset="0"/>
              <a:ea typeface="Calibri" pitchFamily="34" charset="-122"/>
              <a:cs typeface="Calibri" pitchFamily="34" charset="-120"/>
            </a:endParaRPr>
          </a:p>
          <a:p>
            <a:pPr marL="0" indent="0" algn="l">
              <a:lnSpc>
                <a:spcPct val="128000"/>
              </a:lnSpc>
              <a:buNone/>
            </a:pPr>
            <a:endParaRPr lang="en-US" sz="2400" dirty="0">
              <a:solidFill>
                <a:srgbClr val="1A1A1A"/>
              </a:solidFill>
              <a:latin typeface="Trebuchet MS" panose="020B0603020202020204" pitchFamily="34" charset="0"/>
              <a:ea typeface="Calibri" pitchFamily="34" charset="-122"/>
              <a:cs typeface="Calibri" pitchFamily="34" charset="-120"/>
            </a:endParaRPr>
          </a:p>
          <a:p>
            <a:pPr marL="0" indent="0" algn="l">
              <a:lnSpc>
                <a:spcPct val="128000"/>
              </a:lnSpc>
              <a:buNone/>
            </a:pPr>
            <a:r>
              <a:rPr lang="en-US" sz="2400" dirty="0">
                <a:solidFill>
                  <a:srgbClr val="1A1A1A"/>
                </a:solidFill>
                <a:latin typeface="Trebuchet MS" panose="020B0603020202020204" pitchFamily="34" charset="0"/>
                <a:ea typeface="Calibri" pitchFamily="34" charset="-122"/>
                <a:cs typeface="Calibri" pitchFamily="34" charset="-120"/>
              </a:rPr>
              <a:t>Most AI tools for IT operations treat triage as a single prediction from the ticket. They cannot ask for more evidence, cannot say that they are unsure, and do not check their suggestions against the organisation’s operating rules.</a:t>
            </a:r>
            <a:endParaRPr lang="en-US" sz="2400" dirty="0">
              <a:solidFill>
                <a:srgbClr val="1A1A1A"/>
              </a:solidFill>
              <a:latin typeface="Trebuchet MS" panose="020B0603020202020204" pitchFamily="34" charset="0"/>
              <a:ea typeface="Calibri" pitchFamily="34" charset="-122"/>
              <a:cs typeface="Calibri" pitchFamily="34" charset="-120"/>
            </a:endParaRPr>
          </a:p>
          <a:p>
            <a:pPr marL="0" indent="0" algn="l">
              <a:lnSpc>
                <a:spcPct val="128000"/>
              </a:lnSpc>
              <a:buNone/>
            </a:pPr>
            <a:endParaRPr lang="en-US" sz="2400" dirty="0">
              <a:solidFill>
                <a:srgbClr val="1A1A1A"/>
              </a:solidFill>
              <a:latin typeface="Trebuchet MS" panose="020B0603020202020204" pitchFamily="34" charset="0"/>
              <a:ea typeface="Calibri" pitchFamily="34" charset="-122"/>
              <a:cs typeface="Calibri" pitchFamily="34" charset="-120"/>
            </a:endParaRPr>
          </a:p>
          <a:p>
            <a:pPr marL="0" indent="0" algn="l">
              <a:lnSpc>
                <a:spcPct val="128000"/>
              </a:lnSpc>
              <a:buNone/>
            </a:pPr>
            <a:r>
              <a:rPr lang="en-US" sz="2400" dirty="0">
                <a:solidFill>
                  <a:srgbClr val="1A1A1A"/>
                </a:solidFill>
                <a:latin typeface="Trebuchet MS" panose="020B0603020202020204" pitchFamily="34" charset="0"/>
                <a:ea typeface="Calibri" pitchFamily="34" charset="-122"/>
                <a:cs typeface="Calibri" pitchFamily="34" charset="-120"/>
              </a:rPr>
              <a:t>This project designs and evaluates a reinforcement learning agent that learns when to investigate, recommend a permitted fix or escalate, built with the Directorate of University ICT Services (UIS) at Uganda Christian University.</a:t>
            </a:r>
            <a:endParaRPr lang="en-US" sz="2400" dirty="0">
              <a:solidFill>
                <a:srgbClr val="1A1A1A"/>
              </a:solidFill>
              <a:latin typeface="Trebuchet MS" panose="020B0603020202020204" pitchFamily="34" charset="0"/>
              <a:ea typeface="Calibri" pitchFamily="34" charset="-122"/>
              <a:cs typeface="Calibri" pitchFamily="34" charset="-120"/>
            </a:endParaRPr>
          </a:p>
        </p:txBody>
      </p:sp>
      <p:sp>
        <p:nvSpPr>
          <p:cNvPr id="13" name="Text 9"/>
          <p:cNvSpPr/>
          <p:nvPr/>
        </p:nvSpPr>
        <p:spPr>
          <a:xfrm>
            <a:off x="2611615" y="10629094"/>
            <a:ext cx="2948178" cy="1075334"/>
          </a:xfrm>
          <a:prstGeom prst="rect">
            <a:avLst/>
          </a:prstGeom>
          <a:noFill/>
          <a:ln/>
        </p:spPr>
        <p:txBody>
          <a:bodyPr wrap="square" lIns="0" tIns="0" rIns="0" bIns="0" rtlCol="0" anchor="b"/>
          <a:lstStyle/>
          <a:p>
            <a:pPr marL="0" indent="0" algn="ctr">
              <a:buNone/>
            </a:pPr>
            <a:endParaRPr lang="en-US" sz="3000" dirty="0">
              <a:latin typeface="Trebuchet MS" panose="020B0603020202020204" pitchFamily="34" charset="0"/>
            </a:endParaRPr>
          </a:p>
        </p:txBody>
      </p:sp>
      <p:sp>
        <p:nvSpPr>
          <p:cNvPr id="14" name="Text 10"/>
          <p:cNvSpPr/>
          <p:nvPr/>
        </p:nvSpPr>
        <p:spPr>
          <a:xfrm>
            <a:off x="2748775" y="11548618"/>
            <a:ext cx="2856738" cy="729691"/>
          </a:xfrm>
          <a:prstGeom prst="rect">
            <a:avLst/>
          </a:prstGeom>
          <a:noFill/>
          <a:ln/>
        </p:spPr>
        <p:txBody>
          <a:bodyPr wrap="square" lIns="0" tIns="0" rIns="0" bIns="0" rtlCol="0" anchor="t"/>
          <a:lstStyle/>
          <a:p>
            <a:pPr marL="0" indent="0" algn="ctr">
              <a:lnSpc>
                <a:spcPct val="105000"/>
              </a:lnSpc>
              <a:buNone/>
            </a:pPr>
            <a:endParaRPr lang="en-US" sz="1080" dirty="0">
              <a:latin typeface="Trebuchet MS" panose="020B0603020202020204" pitchFamily="34" charset="0"/>
            </a:endParaRPr>
          </a:p>
        </p:txBody>
      </p:sp>
      <p:sp>
        <p:nvSpPr>
          <p:cNvPr id="16" name="Text 12"/>
          <p:cNvSpPr/>
          <p:nvPr/>
        </p:nvSpPr>
        <p:spPr>
          <a:xfrm>
            <a:off x="6035281" y="10506202"/>
            <a:ext cx="2948178" cy="1075334"/>
          </a:xfrm>
          <a:prstGeom prst="rect">
            <a:avLst/>
          </a:prstGeom>
          <a:noFill/>
          <a:ln/>
        </p:spPr>
        <p:txBody>
          <a:bodyPr wrap="square" lIns="0" tIns="0" rIns="0" bIns="0" rtlCol="0" anchor="b"/>
          <a:lstStyle/>
          <a:p>
            <a:pPr marL="0" indent="0" algn="ctr">
              <a:buNone/>
            </a:pPr>
            <a:endParaRPr lang="en-US" sz="3000" dirty="0">
              <a:latin typeface="Trebuchet MS" panose="020B0603020202020204" pitchFamily="34" charset="0"/>
            </a:endParaRPr>
          </a:p>
        </p:txBody>
      </p:sp>
      <p:sp>
        <p:nvSpPr>
          <p:cNvPr id="17" name="Text 13"/>
          <p:cNvSpPr/>
          <p:nvPr/>
        </p:nvSpPr>
        <p:spPr>
          <a:xfrm>
            <a:off x="6081001" y="11548618"/>
            <a:ext cx="2856738" cy="729691"/>
          </a:xfrm>
          <a:prstGeom prst="rect">
            <a:avLst/>
          </a:prstGeom>
          <a:noFill/>
          <a:ln/>
        </p:spPr>
        <p:txBody>
          <a:bodyPr wrap="square" lIns="0" tIns="0" rIns="0" bIns="0" rtlCol="0" anchor="t"/>
          <a:lstStyle/>
          <a:p>
            <a:pPr marL="0" indent="0" algn="ctr">
              <a:lnSpc>
                <a:spcPct val="105000"/>
              </a:lnSpc>
              <a:buNone/>
            </a:pPr>
            <a:endParaRPr lang="en-US" sz="1080" dirty="0">
              <a:latin typeface="Trebuchet MS" panose="020B0603020202020204" pitchFamily="34" charset="0"/>
            </a:endParaRPr>
          </a:p>
        </p:txBody>
      </p:sp>
      <p:sp>
        <p:nvSpPr>
          <p:cNvPr id="19" name="Text 15"/>
          <p:cNvSpPr/>
          <p:nvPr/>
        </p:nvSpPr>
        <p:spPr>
          <a:xfrm>
            <a:off x="9367507" y="10506202"/>
            <a:ext cx="2948178" cy="1075334"/>
          </a:xfrm>
          <a:prstGeom prst="rect">
            <a:avLst/>
          </a:prstGeom>
          <a:noFill/>
          <a:ln/>
        </p:spPr>
        <p:txBody>
          <a:bodyPr wrap="square" lIns="0" tIns="0" rIns="0" bIns="0" rtlCol="0" anchor="b"/>
          <a:lstStyle/>
          <a:p>
            <a:pPr marL="0" indent="0" algn="ctr">
              <a:buNone/>
            </a:pPr>
            <a:endParaRPr lang="en-US" sz="3000" dirty="0">
              <a:latin typeface="Trebuchet MS" panose="020B0603020202020204" pitchFamily="34" charset="0"/>
            </a:endParaRPr>
          </a:p>
        </p:txBody>
      </p:sp>
      <p:sp>
        <p:nvSpPr>
          <p:cNvPr id="20" name="Text 16"/>
          <p:cNvSpPr/>
          <p:nvPr/>
        </p:nvSpPr>
        <p:spPr>
          <a:xfrm>
            <a:off x="9413227" y="11548618"/>
            <a:ext cx="2856738" cy="729691"/>
          </a:xfrm>
          <a:prstGeom prst="rect">
            <a:avLst/>
          </a:prstGeom>
          <a:noFill/>
          <a:ln/>
        </p:spPr>
        <p:txBody>
          <a:bodyPr wrap="square" lIns="0" tIns="0" rIns="0" bIns="0" rtlCol="0" anchor="t"/>
          <a:lstStyle/>
          <a:p>
            <a:pPr marL="0" indent="0" algn="ctr">
              <a:lnSpc>
                <a:spcPct val="105000"/>
              </a:lnSpc>
              <a:buNone/>
            </a:pPr>
            <a:endParaRPr lang="en-US" sz="1080" dirty="0">
              <a:latin typeface="Trebuchet MS" panose="020B0603020202020204" pitchFamily="34" charset="0"/>
            </a:endParaRPr>
          </a:p>
        </p:txBody>
      </p:sp>
      <p:sp>
        <p:nvSpPr>
          <p:cNvPr id="21" name="Text 17"/>
          <p:cNvSpPr/>
          <p:nvPr/>
        </p:nvSpPr>
        <p:spPr>
          <a:xfrm>
            <a:off x="2611615" y="12591034"/>
            <a:ext cx="9795510" cy="1097280"/>
          </a:xfrm>
          <a:prstGeom prst="rect">
            <a:avLst/>
          </a:prstGeom>
          <a:noFill/>
          <a:ln/>
        </p:spPr>
        <p:txBody>
          <a:bodyPr wrap="square" lIns="0" tIns="0" rIns="0" bIns="0" rtlCol="0" anchor="t"/>
          <a:lstStyle/>
          <a:p>
            <a:pPr marL="0" indent="0" algn="l">
              <a:lnSpc>
                <a:spcPct val="120000"/>
              </a:lnSpc>
              <a:buNone/>
            </a:pPr>
            <a:endParaRPr lang="en-US" sz="2100" dirty="0">
              <a:latin typeface="Trebuchet MS" panose="020B0603020202020204" pitchFamily="34" charset="0"/>
            </a:endParaRPr>
          </a:p>
        </p:txBody>
      </p:sp>
      <p:sp>
        <p:nvSpPr>
          <p:cNvPr id="22" name="Shape 18"/>
          <p:cNvSpPr>
            <a:spLocks/>
          </p:cNvSpPr>
          <p:nvPr/>
        </p:nvSpPr>
        <p:spPr>
          <a:xfrm>
            <a:off x="450722" y="12188525"/>
            <a:ext cx="10252710" cy="11136592"/>
          </a:xfrm>
          <a:prstGeom prst="rect">
            <a:avLst/>
          </a:prstGeom>
          <a:solidFill>
            <a:srgbClr val="FFFFFF"/>
          </a:solidFill>
          <a:ln w="15875">
            <a:solidFill>
              <a:srgbClr val="D9D9D9"/>
            </a:solidFill>
            <a:prstDash val="solid"/>
          </a:ln>
        </p:spPr>
        <p:txBody>
          <a:bodyPr/>
          <a:lstStyle/>
          <a:p>
            <a:endParaRPr lang="en-UG" dirty="0">
              <a:latin typeface="Trebuchet MS" panose="020B0603020202020204" pitchFamily="34" charset="0"/>
            </a:endParaRPr>
          </a:p>
        </p:txBody>
      </p:sp>
      <p:sp>
        <p:nvSpPr>
          <p:cNvPr id="24" name="Text 20"/>
          <p:cNvSpPr/>
          <p:nvPr/>
        </p:nvSpPr>
        <p:spPr>
          <a:xfrm>
            <a:off x="2547607" y="14465554"/>
            <a:ext cx="9923526" cy="603504"/>
          </a:xfrm>
          <a:prstGeom prst="rect">
            <a:avLst/>
          </a:prstGeom>
          <a:noFill/>
          <a:ln/>
        </p:spPr>
        <p:txBody>
          <a:bodyPr wrap="square" lIns="0" tIns="0" rIns="0" bIns="0" rtlCol="0" anchor="ctr"/>
          <a:lstStyle/>
          <a:p>
            <a:pPr marL="0" indent="0" algn="l">
              <a:buNone/>
            </a:pPr>
            <a:r>
              <a:rPr lang="en-US" sz="2100" b="1" dirty="0">
                <a:solidFill>
                  <a:srgbClr val="FFFFFF"/>
                </a:solidFill>
                <a:latin typeface="Trebuchet MS" panose="020B0603020202020204" pitchFamily="34" charset="0"/>
                <a:ea typeface="Cambria" pitchFamily="34" charset="-122"/>
                <a:cs typeface="Cambria" pitchFamily="34" charset="-120"/>
              </a:rPr>
              <a:t>Problem Statement &amp; Objectives</a:t>
            </a:r>
            <a:endParaRPr lang="en-US" sz="2100" dirty="0">
              <a:latin typeface="Trebuchet MS" panose="020B0603020202020204" pitchFamily="34" charset="0"/>
            </a:endParaRPr>
          </a:p>
        </p:txBody>
      </p:sp>
      <p:sp>
        <p:nvSpPr>
          <p:cNvPr id="23" name="Shape 19"/>
          <p:cNvSpPr/>
          <p:nvPr/>
        </p:nvSpPr>
        <p:spPr>
          <a:xfrm>
            <a:off x="479158" y="12240936"/>
            <a:ext cx="10252710" cy="603504"/>
          </a:xfrm>
          <a:prstGeom prst="rect">
            <a:avLst/>
          </a:prstGeom>
          <a:solidFill>
            <a:srgbClr val="C0392B"/>
          </a:solidFill>
          <a:ln/>
        </p:spPr>
        <p:txBody>
          <a:bodyPr/>
          <a:lstStyle/>
          <a:p>
            <a:r>
              <a:rPr lang="en-US" sz="3000" b="1" dirty="0">
                <a:solidFill>
                  <a:srgbClr val="FFFFFF"/>
                </a:solidFill>
                <a:latin typeface="Trebuchet MS" panose="020B0603020202020204" pitchFamily="34" charset="0"/>
                <a:ea typeface="Cambria" pitchFamily="34" charset="-122"/>
                <a:cs typeface="Cambria" pitchFamily="34" charset="-120"/>
              </a:rPr>
              <a:t>Problem Statement and Objectives</a:t>
            </a:r>
            <a:endParaRPr lang="en-US" sz="3000" dirty="0">
              <a:latin typeface="Trebuchet MS" panose="020B0603020202020204" pitchFamily="34" charset="0"/>
            </a:endParaRPr>
          </a:p>
        </p:txBody>
      </p:sp>
      <p:sp>
        <p:nvSpPr>
          <p:cNvPr id="25" name="Text 21"/>
          <p:cNvSpPr/>
          <p:nvPr/>
        </p:nvSpPr>
        <p:spPr>
          <a:xfrm>
            <a:off x="561655" y="12886314"/>
            <a:ext cx="9795510" cy="5120640"/>
          </a:xfrm>
          <a:prstGeom prst="rect">
            <a:avLst/>
          </a:prstGeom>
          <a:noFill/>
          <a:ln/>
        </p:spPr>
        <p:txBody>
          <a:bodyPr wrap="square" lIns="0" tIns="0" rIns="0" bIns="0" rtlCol="0" anchor="t"/>
          <a:lstStyle/>
          <a:p>
            <a:pPr marL="0" indent="0">
              <a:lnSpc>
                <a:spcPct val="125000"/>
              </a:lnSpc>
              <a:buNone/>
            </a:pPr>
            <a:r>
              <a:rPr lang="en-US" sz="2400" b="1" dirty="0">
                <a:solidFill>
                  <a:srgbClr val="C0392B"/>
                </a:solidFill>
                <a:latin typeface="Trebuchet MS" panose="020B0603020202020204" pitchFamily="34" charset="0"/>
                <a:ea typeface="Calibri" pitchFamily="34" charset="-122"/>
                <a:cs typeface="Calibri" pitchFamily="34" charset="-120"/>
              </a:rPr>
              <a:t>Problem Statement: </a:t>
            </a:r>
            <a:r>
              <a:rPr lang="en-US" sz="2400" dirty="0">
                <a:solidFill>
                  <a:srgbClr val="1A1A1A"/>
                </a:solidFill>
                <a:latin typeface="Trebuchet MS" panose="020B0603020202020204" pitchFamily="34" charset="0"/>
                <a:ea typeface="Calibri" pitchFamily="34" charset="-122"/>
                <a:cs typeface="Calibri" pitchFamily="34" charset="-120"/>
              </a:rPr>
              <a:t>No evaluated agent for IT service incidents learns when to investigate, when to recommend a fix that the operational rules permit, and when to hand the incident to a person. At UIS, tickets are vetted and assigned to developers, and errors are diagnosed from API logs and a monitoring dashboard.</a:t>
            </a:r>
            <a:endParaRPr lang="en-US" sz="2400" b="1" dirty="0">
              <a:solidFill>
                <a:srgbClr val="C0392B"/>
              </a:solidFill>
              <a:latin typeface="Trebuchet MS" panose="020B0603020202020204" pitchFamily="34" charset="0"/>
              <a:ea typeface="Calibri" pitchFamily="34" charset="-122"/>
              <a:cs typeface="Calibri" pitchFamily="34" charset="-120"/>
            </a:endParaRPr>
          </a:p>
          <a:p>
            <a:pPr marL="0" indent="0">
              <a:lnSpc>
                <a:spcPct val="125000"/>
              </a:lnSpc>
              <a:buNone/>
            </a:pPr>
            <a:r>
              <a:rPr lang="en-US" sz="2400" dirty="0">
                <a:solidFill>
                  <a:srgbClr val="1A1A1A"/>
                </a:solidFill>
                <a:latin typeface="Trebuchet MS" panose="020B0603020202020204" pitchFamily="34" charset="0"/>
                <a:ea typeface="Calibri" pitchFamily="34" charset="-122"/>
                <a:cs typeface="Calibri" pitchFamily="34" charset="-120"/>
              </a:rPr>
              <a:t>A systematic review of 34 studies found escalation to a person in only 7 of them, and only 3 that say what happens when a rule blocks a decision.</a:t>
            </a:r>
            <a:endParaRPr lang="en-US" sz="2400" b="1" dirty="0">
              <a:solidFill>
                <a:srgbClr val="C0392B"/>
              </a:solidFill>
              <a:latin typeface="Trebuchet MS" panose="020B0603020202020204" pitchFamily="34" charset="0"/>
              <a:ea typeface="Calibri" pitchFamily="34" charset="-122"/>
              <a:cs typeface="Calibri" pitchFamily="34" charset="-120"/>
            </a:endParaRPr>
          </a:p>
        </p:txBody>
      </p:sp>
      <p:sp>
        <p:nvSpPr>
          <p:cNvPr id="27" name="Text 23"/>
          <p:cNvSpPr/>
          <p:nvPr/>
        </p:nvSpPr>
        <p:spPr>
          <a:xfrm>
            <a:off x="561655" y="17708104"/>
            <a:ext cx="9795510" cy="411480"/>
          </a:xfrm>
          <a:prstGeom prst="rect">
            <a:avLst/>
          </a:prstGeom>
          <a:noFill/>
          <a:ln/>
        </p:spPr>
        <p:txBody>
          <a:bodyPr wrap="square" lIns="0" tIns="0" rIns="0" bIns="0" rtlCol="0" anchor="ctr"/>
          <a:lstStyle/>
          <a:p>
            <a:pPr marL="0" indent="0">
              <a:buNone/>
            </a:pPr>
            <a:r>
              <a:rPr lang="en-US" sz="2400" b="1" dirty="0">
                <a:solidFill>
                  <a:srgbClr val="C0392B"/>
                </a:solidFill>
                <a:latin typeface="Trebuchet MS" panose="020B0603020202020204" pitchFamily="34" charset="0"/>
                <a:ea typeface="Cambria" pitchFamily="34" charset="-122"/>
                <a:cs typeface="Cambria" pitchFamily="34" charset="-120"/>
              </a:rPr>
              <a:t>Objectives</a:t>
            </a:r>
            <a:endParaRPr lang="en-US" sz="1650" dirty="0">
              <a:latin typeface="Trebuchet MS" panose="020B0603020202020204" pitchFamily="34" charset="0"/>
            </a:endParaRPr>
          </a:p>
        </p:txBody>
      </p:sp>
      <p:sp>
        <p:nvSpPr>
          <p:cNvPr id="28" name="Text 24"/>
          <p:cNvSpPr/>
          <p:nvPr/>
        </p:nvSpPr>
        <p:spPr>
          <a:xfrm>
            <a:off x="662038" y="18210762"/>
            <a:ext cx="9795510" cy="4700016"/>
          </a:xfrm>
          <a:prstGeom prst="rect">
            <a:avLst/>
          </a:prstGeom>
          <a:noFill/>
          <a:ln/>
        </p:spPr>
        <p:txBody>
          <a:bodyPr wrap="square" lIns="0" tIns="0" rIns="0" bIns="0" rtlCol="0" anchor="t"/>
          <a:lstStyle/>
          <a:p>
            <a:pPr marL="254000" indent="-254000">
              <a:lnSpc>
                <a:spcPct val="120000"/>
              </a:lnSpc>
              <a:spcAft>
                <a:spcPts val="1200"/>
              </a:spcAft>
              <a:buSzPct val="100000"/>
              <a:buChar char="•"/>
            </a:pPr>
            <a:r>
              <a:rPr lang="en-US" sz="2400" dirty="0">
                <a:solidFill>
                  <a:srgbClr val="1A1A1A"/>
                </a:solidFill>
                <a:latin typeface="Trebuchet MS" panose="020B0603020202020204" pitchFamily="34" charset="0"/>
                <a:ea typeface="Calibri" pitchFamily="34" charset="-122"/>
                <a:cs typeface="Calibri" pitchFamily="34" charset="-120"/>
              </a:rPr>
              <a:t>Build, by 1 November 2026, a simulator from about 15 causes, 20 diagnostic checks and 10 rules elicited from UIS, with controllable missing, unreliable and overlapping evidence.</a:t>
            </a:r>
            <a:endParaRPr lang="en-US" sz="2400" dirty="0">
              <a:solidFill>
                <a:srgbClr val="1A1A1A"/>
              </a:solidFill>
              <a:latin typeface="Trebuchet MS" panose="020B0603020202020204" pitchFamily="34" charset="0"/>
              <a:ea typeface="Calibri" pitchFamily="34" charset="-122"/>
              <a:cs typeface="Calibri" pitchFamily="34" charset="-120"/>
            </a:endParaRPr>
          </a:p>
          <a:p>
            <a:pPr marL="254000" indent="-254000">
              <a:lnSpc>
                <a:spcPct val="120000"/>
              </a:lnSpc>
              <a:spcAft>
                <a:spcPts val="1200"/>
              </a:spcAft>
              <a:buSzPct val="100000"/>
              <a:buChar char="•"/>
            </a:pPr>
            <a:r>
              <a:rPr lang="en-US" sz="2400" dirty="0">
                <a:solidFill>
                  <a:srgbClr val="1A1A1A"/>
                </a:solidFill>
                <a:latin typeface="Trebuchet MS" panose="020B0603020202020204" pitchFamily="34" charset="0"/>
                <a:ea typeface="Calibri" pitchFamily="34" charset="-122"/>
                <a:cs typeface="Calibri" pitchFamily="34" charset="-120"/>
              </a:rPr>
              <a:t>Train, by 8 November 2026, a deep Q-network agent that requests checks, recommends permitted fixes or escalates, under a rule mechanism that blocks prohibited actions.</a:t>
            </a:r>
            <a:endParaRPr lang="en-US" sz="2400" dirty="0">
              <a:solidFill>
                <a:srgbClr val="1A1A1A"/>
              </a:solidFill>
              <a:latin typeface="Trebuchet MS" panose="020B0603020202020204" pitchFamily="34" charset="0"/>
              <a:ea typeface="Calibri" pitchFamily="34" charset="-122"/>
              <a:cs typeface="Calibri" pitchFamily="34" charset="-120"/>
            </a:endParaRPr>
          </a:p>
          <a:p>
            <a:pPr marL="254000" indent="-254000">
              <a:lnSpc>
                <a:spcPct val="120000"/>
              </a:lnSpc>
              <a:spcAft>
                <a:spcPts val="1200"/>
              </a:spcAft>
              <a:buSzPct val="100000"/>
              <a:buChar char="•"/>
            </a:pPr>
            <a:r>
              <a:rPr lang="en-US" sz="2400" dirty="0">
                <a:solidFill>
                  <a:srgbClr val="1A1A1A"/>
                </a:solidFill>
                <a:latin typeface="Trebuchet MS" panose="020B0603020202020204" pitchFamily="34" charset="0"/>
                <a:ea typeface="Calibri" pitchFamily="34" charset="-122"/>
                <a:cs typeface="Calibri" pitchFamily="34" charset="-120"/>
              </a:rPr>
              <a:t>Evaluate it, by 22 November 2026, against six baseline policies on decision quality, investigation cost, escalation and compliance, across levels of ambiguity.</a:t>
            </a:r>
            <a:endParaRPr lang="en-US" sz="2400" dirty="0">
              <a:solidFill>
                <a:srgbClr val="1A1A1A"/>
              </a:solidFill>
              <a:latin typeface="Trebuchet MS" panose="020B0603020202020204" pitchFamily="34" charset="0"/>
              <a:ea typeface="Calibri" pitchFamily="34" charset="-122"/>
              <a:cs typeface="Calibri" pitchFamily="34" charset="-120"/>
            </a:endParaRPr>
          </a:p>
        </p:txBody>
      </p:sp>
      <p:sp>
        <p:nvSpPr>
          <p:cNvPr id="29" name="Shape 25"/>
          <p:cNvSpPr/>
          <p:nvPr/>
        </p:nvSpPr>
        <p:spPr>
          <a:xfrm>
            <a:off x="10888078" y="3626151"/>
            <a:ext cx="10252710" cy="8330069"/>
          </a:xfrm>
          <a:prstGeom prst="rect">
            <a:avLst/>
          </a:prstGeom>
          <a:solidFill>
            <a:srgbClr val="FFFFFF"/>
          </a:solidFill>
          <a:ln w="15875">
            <a:solidFill>
              <a:srgbClr val="D9D9D9"/>
            </a:solidFill>
            <a:prstDash val="solid"/>
          </a:ln>
        </p:spPr>
        <p:txBody>
          <a:bodyPr/>
          <a:lstStyle/>
          <a:p>
            <a:endParaRPr lang="en-UG" dirty="0">
              <a:latin typeface="Trebuchet MS" panose="020B0603020202020204" pitchFamily="34" charset="0"/>
            </a:endParaRPr>
          </a:p>
        </p:txBody>
      </p:sp>
      <p:sp>
        <p:nvSpPr>
          <p:cNvPr id="31" name="Text 27"/>
          <p:cNvSpPr/>
          <p:nvPr/>
        </p:nvSpPr>
        <p:spPr>
          <a:xfrm>
            <a:off x="13092925" y="3511042"/>
            <a:ext cx="9923526" cy="603504"/>
          </a:xfrm>
          <a:prstGeom prst="rect">
            <a:avLst/>
          </a:prstGeom>
          <a:noFill/>
          <a:ln/>
        </p:spPr>
        <p:txBody>
          <a:bodyPr wrap="square" lIns="0" tIns="0" rIns="0" bIns="0" rtlCol="0" anchor="ctr"/>
          <a:lstStyle/>
          <a:p>
            <a:pPr marL="0" indent="0" algn="l">
              <a:buNone/>
            </a:pPr>
            <a:endParaRPr lang="en-US" sz="2100" dirty="0">
              <a:latin typeface="Trebuchet MS" panose="020B0603020202020204" pitchFamily="34" charset="0"/>
            </a:endParaRPr>
          </a:p>
        </p:txBody>
      </p:sp>
      <p:sp>
        <p:nvSpPr>
          <p:cNvPr id="33" name="Text 29"/>
          <p:cNvSpPr/>
          <p:nvPr/>
        </p:nvSpPr>
        <p:spPr>
          <a:xfrm>
            <a:off x="16363048" y="4434586"/>
            <a:ext cx="3383280" cy="868680"/>
          </a:xfrm>
          <a:prstGeom prst="rect">
            <a:avLst/>
          </a:prstGeom>
          <a:noFill/>
          <a:ln/>
        </p:spPr>
        <p:txBody>
          <a:bodyPr wrap="square" lIns="0" tIns="0" rIns="0" bIns="0" rtlCol="0" anchor="ctr"/>
          <a:lstStyle/>
          <a:p>
            <a:pPr marL="0" indent="0" algn="ctr">
              <a:buNone/>
            </a:pPr>
            <a:endParaRPr lang="en-US" sz="1400" dirty="0">
              <a:latin typeface="Trebuchet MS" panose="020B0603020202020204" pitchFamily="34" charset="0"/>
            </a:endParaRPr>
          </a:p>
        </p:txBody>
      </p:sp>
      <p:sp>
        <p:nvSpPr>
          <p:cNvPr id="37" name="Text 33"/>
          <p:cNvSpPr/>
          <p:nvPr/>
        </p:nvSpPr>
        <p:spPr>
          <a:xfrm>
            <a:off x="13202653" y="5742178"/>
            <a:ext cx="4852035" cy="365760"/>
          </a:xfrm>
          <a:prstGeom prst="rect">
            <a:avLst/>
          </a:prstGeom>
          <a:noFill/>
          <a:ln/>
        </p:spPr>
        <p:txBody>
          <a:bodyPr wrap="square" lIns="0" tIns="0" rIns="0" bIns="0" rtlCol="0" anchor="ctr"/>
          <a:lstStyle/>
          <a:p>
            <a:pPr marL="0" indent="0" algn="ctr">
              <a:buNone/>
            </a:pPr>
            <a:endParaRPr lang="en-US" sz="1200" dirty="0">
              <a:latin typeface="Trebuchet MS" panose="020B0603020202020204" pitchFamily="34" charset="0"/>
            </a:endParaRPr>
          </a:p>
        </p:txBody>
      </p:sp>
      <p:sp>
        <p:nvSpPr>
          <p:cNvPr id="38" name="Text 34"/>
          <p:cNvSpPr/>
          <p:nvPr/>
        </p:nvSpPr>
        <p:spPr>
          <a:xfrm>
            <a:off x="18054688" y="5742178"/>
            <a:ext cx="4852035" cy="365760"/>
          </a:xfrm>
          <a:prstGeom prst="rect">
            <a:avLst/>
          </a:prstGeom>
          <a:noFill/>
          <a:ln/>
        </p:spPr>
        <p:txBody>
          <a:bodyPr wrap="square" lIns="0" tIns="0" rIns="0" bIns="0" rtlCol="0" anchor="ctr"/>
          <a:lstStyle/>
          <a:p>
            <a:pPr marL="0" indent="0" algn="ctr">
              <a:buNone/>
            </a:pPr>
            <a:endParaRPr lang="en-US" sz="1200" dirty="0">
              <a:latin typeface="Trebuchet MS" panose="020B0603020202020204" pitchFamily="34" charset="0"/>
            </a:endParaRPr>
          </a:p>
        </p:txBody>
      </p:sp>
      <p:sp>
        <p:nvSpPr>
          <p:cNvPr id="40" name="Text 36"/>
          <p:cNvSpPr/>
          <p:nvPr/>
        </p:nvSpPr>
        <p:spPr>
          <a:xfrm>
            <a:off x="13348214" y="6171946"/>
            <a:ext cx="4560913" cy="1097280"/>
          </a:xfrm>
          <a:prstGeom prst="rect">
            <a:avLst/>
          </a:prstGeom>
          <a:noFill/>
          <a:ln/>
        </p:spPr>
        <p:txBody>
          <a:bodyPr wrap="square" lIns="0" tIns="0" rIns="0" bIns="0" rtlCol="0" anchor="ctr"/>
          <a:lstStyle/>
          <a:p>
            <a:pPr marL="0" indent="0" algn="ctr">
              <a:lnSpc>
                <a:spcPct val="115000"/>
              </a:lnSpc>
              <a:buNone/>
            </a:pPr>
            <a:endParaRPr lang="en-US" sz="1250" dirty="0">
              <a:latin typeface="Trebuchet MS" panose="020B0603020202020204" pitchFamily="34" charset="0"/>
            </a:endParaRPr>
          </a:p>
        </p:txBody>
      </p:sp>
      <p:sp>
        <p:nvSpPr>
          <p:cNvPr id="42" name="Text 38"/>
          <p:cNvSpPr/>
          <p:nvPr/>
        </p:nvSpPr>
        <p:spPr>
          <a:xfrm>
            <a:off x="18200249" y="6171946"/>
            <a:ext cx="4560913" cy="1097280"/>
          </a:xfrm>
          <a:prstGeom prst="rect">
            <a:avLst/>
          </a:prstGeom>
          <a:noFill/>
          <a:ln/>
        </p:spPr>
        <p:txBody>
          <a:bodyPr wrap="square" lIns="0" tIns="0" rIns="0" bIns="0" rtlCol="0" anchor="ctr"/>
          <a:lstStyle/>
          <a:p>
            <a:pPr marL="0" indent="0" algn="ctr">
              <a:lnSpc>
                <a:spcPct val="115000"/>
              </a:lnSpc>
              <a:buNone/>
            </a:pPr>
            <a:endParaRPr lang="en-US" sz="1250" dirty="0">
              <a:latin typeface="Trebuchet MS" panose="020B0603020202020204" pitchFamily="34" charset="0"/>
            </a:endParaRPr>
          </a:p>
        </p:txBody>
      </p:sp>
      <p:sp>
        <p:nvSpPr>
          <p:cNvPr id="48" name="Text 44"/>
          <p:cNvSpPr/>
          <p:nvPr/>
        </p:nvSpPr>
        <p:spPr>
          <a:xfrm>
            <a:off x="16545928" y="7680706"/>
            <a:ext cx="3017520" cy="777240"/>
          </a:xfrm>
          <a:prstGeom prst="rect">
            <a:avLst/>
          </a:prstGeom>
          <a:noFill/>
          <a:ln/>
        </p:spPr>
        <p:txBody>
          <a:bodyPr wrap="square" lIns="0" tIns="0" rIns="0" bIns="0" rtlCol="0" anchor="ctr"/>
          <a:lstStyle/>
          <a:p>
            <a:pPr marL="0" indent="0" algn="ctr">
              <a:buNone/>
            </a:pPr>
            <a:endParaRPr lang="en-US" sz="1350" dirty="0">
              <a:latin typeface="Trebuchet MS" panose="020B0603020202020204" pitchFamily="34" charset="0"/>
            </a:endParaRPr>
          </a:p>
        </p:txBody>
      </p:sp>
      <p:sp>
        <p:nvSpPr>
          <p:cNvPr id="51" name="Text 47"/>
          <p:cNvSpPr/>
          <p:nvPr/>
        </p:nvSpPr>
        <p:spPr>
          <a:xfrm>
            <a:off x="16408768" y="8823706"/>
            <a:ext cx="3291840" cy="713232"/>
          </a:xfrm>
          <a:prstGeom prst="rect">
            <a:avLst/>
          </a:prstGeom>
          <a:noFill/>
          <a:ln/>
        </p:spPr>
        <p:txBody>
          <a:bodyPr wrap="square" lIns="0" tIns="0" rIns="0" bIns="0" rtlCol="0" anchor="ctr"/>
          <a:lstStyle/>
          <a:p>
            <a:pPr marL="0" indent="0" algn="ctr">
              <a:lnSpc>
                <a:spcPct val="110000"/>
              </a:lnSpc>
              <a:buNone/>
            </a:pPr>
            <a:endParaRPr lang="en-US" sz="1250" dirty="0">
              <a:latin typeface="Trebuchet MS" panose="020B0603020202020204" pitchFamily="34" charset="0"/>
            </a:endParaRPr>
          </a:p>
        </p:txBody>
      </p:sp>
      <p:sp>
        <p:nvSpPr>
          <p:cNvPr id="54" name="Text 50"/>
          <p:cNvSpPr/>
          <p:nvPr/>
        </p:nvSpPr>
        <p:spPr>
          <a:xfrm>
            <a:off x="18085282" y="3030079"/>
            <a:ext cx="1965960" cy="1097280"/>
          </a:xfrm>
          <a:prstGeom prst="rect">
            <a:avLst/>
          </a:prstGeom>
          <a:noFill/>
          <a:ln/>
        </p:spPr>
        <p:txBody>
          <a:bodyPr wrap="square" lIns="0" tIns="0" rIns="0" bIns="0" rtlCol="0" anchor="ctr"/>
          <a:lstStyle/>
          <a:p>
            <a:pPr marL="0" indent="0" algn="ctr">
              <a:lnSpc>
                <a:spcPct val="110000"/>
              </a:lnSpc>
              <a:buNone/>
            </a:pPr>
            <a:endParaRPr lang="en-US" sz="1250" dirty="0">
              <a:latin typeface="Trebuchet MS" panose="020B0603020202020204" pitchFamily="34" charset="0"/>
            </a:endParaRPr>
          </a:p>
        </p:txBody>
      </p:sp>
      <p:sp>
        <p:nvSpPr>
          <p:cNvPr id="56" name="Text 52"/>
          <p:cNvSpPr/>
          <p:nvPr/>
        </p:nvSpPr>
        <p:spPr>
          <a:xfrm>
            <a:off x="13586701" y="9738106"/>
            <a:ext cx="4394835" cy="310896"/>
          </a:xfrm>
          <a:prstGeom prst="rect">
            <a:avLst/>
          </a:prstGeom>
          <a:noFill/>
          <a:ln/>
        </p:spPr>
        <p:txBody>
          <a:bodyPr wrap="square" lIns="0" tIns="0" rIns="0" bIns="0" rtlCol="0" anchor="ctr"/>
          <a:lstStyle/>
          <a:p>
            <a:pPr marL="0" indent="0">
              <a:buNone/>
            </a:pPr>
            <a:endParaRPr lang="en-US" sz="1100" dirty="0">
              <a:latin typeface="Trebuchet MS" panose="020B0603020202020204" pitchFamily="34" charset="0"/>
            </a:endParaRPr>
          </a:p>
        </p:txBody>
      </p:sp>
      <p:sp>
        <p:nvSpPr>
          <p:cNvPr id="58" name="Text 54"/>
          <p:cNvSpPr/>
          <p:nvPr/>
        </p:nvSpPr>
        <p:spPr>
          <a:xfrm>
            <a:off x="18438736" y="9738106"/>
            <a:ext cx="4394835" cy="310896"/>
          </a:xfrm>
          <a:prstGeom prst="rect">
            <a:avLst/>
          </a:prstGeom>
          <a:noFill/>
          <a:ln/>
        </p:spPr>
        <p:txBody>
          <a:bodyPr wrap="square" lIns="0" tIns="0" rIns="0" bIns="0" rtlCol="0" anchor="ctr"/>
          <a:lstStyle/>
          <a:p>
            <a:pPr marL="0" indent="0">
              <a:buNone/>
            </a:pPr>
            <a:endParaRPr lang="en-US" sz="1100" dirty="0">
              <a:latin typeface="Trebuchet MS" panose="020B0603020202020204" pitchFamily="34" charset="0"/>
            </a:endParaRPr>
          </a:p>
        </p:txBody>
      </p:sp>
      <p:sp>
        <p:nvSpPr>
          <p:cNvPr id="60" name="Text 56"/>
          <p:cNvSpPr/>
          <p:nvPr/>
        </p:nvSpPr>
        <p:spPr>
          <a:xfrm>
            <a:off x="13586701" y="10122154"/>
            <a:ext cx="4394835" cy="310896"/>
          </a:xfrm>
          <a:prstGeom prst="rect">
            <a:avLst/>
          </a:prstGeom>
          <a:noFill/>
          <a:ln/>
        </p:spPr>
        <p:txBody>
          <a:bodyPr wrap="square" lIns="0" tIns="0" rIns="0" bIns="0" rtlCol="0" anchor="ctr"/>
          <a:lstStyle/>
          <a:p>
            <a:pPr marL="0" indent="0">
              <a:buNone/>
            </a:pPr>
            <a:endParaRPr lang="en-US" sz="1100" dirty="0">
              <a:latin typeface="Trebuchet MS" panose="020B0603020202020204" pitchFamily="34" charset="0"/>
            </a:endParaRPr>
          </a:p>
        </p:txBody>
      </p:sp>
      <p:sp>
        <p:nvSpPr>
          <p:cNvPr id="62" name="Text 58"/>
          <p:cNvSpPr/>
          <p:nvPr/>
        </p:nvSpPr>
        <p:spPr>
          <a:xfrm>
            <a:off x="18438736" y="10122154"/>
            <a:ext cx="4394835" cy="310896"/>
          </a:xfrm>
          <a:prstGeom prst="rect">
            <a:avLst/>
          </a:prstGeom>
          <a:noFill/>
          <a:ln/>
        </p:spPr>
        <p:txBody>
          <a:bodyPr wrap="square" lIns="0" tIns="0" rIns="0" bIns="0" rtlCol="0" anchor="ctr"/>
          <a:lstStyle/>
          <a:p>
            <a:pPr marL="0" indent="0">
              <a:buNone/>
            </a:pPr>
            <a:endParaRPr lang="en-US" sz="1100" dirty="0">
              <a:latin typeface="Trebuchet MS" panose="020B0603020202020204" pitchFamily="34" charset="0"/>
            </a:endParaRPr>
          </a:p>
        </p:txBody>
      </p:sp>
      <p:sp>
        <p:nvSpPr>
          <p:cNvPr id="65" name="Text 61"/>
          <p:cNvSpPr/>
          <p:nvPr/>
        </p:nvSpPr>
        <p:spPr>
          <a:xfrm>
            <a:off x="13092925" y="14465554"/>
            <a:ext cx="9923526" cy="603504"/>
          </a:xfrm>
          <a:prstGeom prst="rect">
            <a:avLst/>
          </a:prstGeom>
          <a:noFill/>
          <a:ln/>
        </p:spPr>
        <p:txBody>
          <a:bodyPr wrap="square" lIns="0" tIns="0" rIns="0" bIns="0" rtlCol="0" anchor="ctr"/>
          <a:lstStyle/>
          <a:p>
            <a:pPr marL="0" indent="0" algn="l">
              <a:buNone/>
            </a:pPr>
            <a:r>
              <a:rPr lang="en-US" sz="2100" b="1" dirty="0">
                <a:solidFill>
                  <a:srgbClr val="FFFFFF"/>
                </a:solidFill>
                <a:latin typeface="Trebuchet MS" panose="020B0603020202020204" pitchFamily="34" charset="0"/>
                <a:ea typeface="Cambria" pitchFamily="34" charset="-122"/>
                <a:cs typeface="Cambria" pitchFamily="34" charset="-120"/>
              </a:rPr>
              <a:t>Methodology</a:t>
            </a:r>
            <a:endParaRPr lang="en-US" sz="2100" b="1" dirty="0">
              <a:solidFill>
                <a:srgbClr val="FFFFFF"/>
              </a:solidFill>
              <a:latin typeface="Trebuchet MS" panose="020B0603020202020204" pitchFamily="34" charset="0"/>
              <a:ea typeface="Cambria" pitchFamily="34" charset="-122"/>
              <a:cs typeface="Cambria" pitchFamily="34" charset="-120"/>
            </a:endParaRPr>
          </a:p>
        </p:txBody>
      </p:sp>
      <p:sp>
        <p:nvSpPr>
          <p:cNvPr id="68" name="Text 64"/>
          <p:cNvSpPr/>
          <p:nvPr/>
        </p:nvSpPr>
        <p:spPr>
          <a:xfrm>
            <a:off x="13156933" y="20235418"/>
            <a:ext cx="9795510" cy="384048"/>
          </a:xfrm>
          <a:prstGeom prst="rect">
            <a:avLst/>
          </a:prstGeom>
          <a:noFill/>
          <a:ln/>
        </p:spPr>
        <p:txBody>
          <a:bodyPr wrap="square" lIns="0" tIns="0" rIns="0" bIns="0" rtlCol="0" anchor="ctr"/>
          <a:lstStyle/>
          <a:p>
            <a:pPr marL="0" indent="0">
              <a:buNone/>
            </a:pPr>
            <a:endParaRPr lang="en-US" sz="1450" dirty="0">
              <a:latin typeface="Trebuchet MS" panose="020B0603020202020204" pitchFamily="34" charset="0"/>
            </a:endParaRPr>
          </a:p>
        </p:txBody>
      </p:sp>
      <p:sp>
        <p:nvSpPr>
          <p:cNvPr id="70" name="Text 65"/>
          <p:cNvSpPr/>
          <p:nvPr/>
        </p:nvSpPr>
        <p:spPr>
          <a:xfrm>
            <a:off x="13156933" y="22960330"/>
            <a:ext cx="9795510" cy="1005840"/>
          </a:xfrm>
          <a:prstGeom prst="rect">
            <a:avLst/>
          </a:prstGeom>
          <a:noFill/>
          <a:ln/>
        </p:spPr>
        <p:txBody>
          <a:bodyPr wrap="square" lIns="0" tIns="0" rIns="0" bIns="0" rtlCol="0" anchor="t"/>
          <a:lstStyle/>
          <a:p>
            <a:pPr marL="0" indent="0" algn="l">
              <a:lnSpc>
                <a:spcPct val="122000"/>
              </a:lnSpc>
              <a:buNone/>
            </a:pPr>
            <a:endParaRPr lang="en-US" sz="1250" dirty="0">
              <a:latin typeface="Trebuchet MS" panose="020B0603020202020204" pitchFamily="34" charset="0"/>
            </a:endParaRPr>
          </a:p>
        </p:txBody>
      </p:sp>
      <p:sp>
        <p:nvSpPr>
          <p:cNvPr id="63" name="Shape 59"/>
          <p:cNvSpPr/>
          <p:nvPr/>
        </p:nvSpPr>
        <p:spPr>
          <a:xfrm>
            <a:off x="10931535" y="11685779"/>
            <a:ext cx="10252710" cy="13617682"/>
          </a:xfrm>
          <a:prstGeom prst="rect">
            <a:avLst/>
          </a:prstGeom>
          <a:solidFill>
            <a:srgbClr val="FFFFFF"/>
          </a:solidFill>
          <a:ln w="15875">
            <a:solidFill>
              <a:srgbClr val="D9D9D9"/>
            </a:solidFill>
            <a:prstDash val="solid"/>
          </a:ln>
        </p:spPr>
        <p:txBody>
          <a:bodyPr/>
          <a:lstStyle/>
          <a:p>
            <a:endParaRPr lang="en-UG">
              <a:latin typeface="Trebuchet MS" panose="020B0603020202020204" pitchFamily="34" charset="0"/>
            </a:endParaRPr>
          </a:p>
        </p:txBody>
      </p:sp>
      <p:sp>
        <p:nvSpPr>
          <p:cNvPr id="64" name="Shape 60"/>
          <p:cNvSpPr/>
          <p:nvPr/>
        </p:nvSpPr>
        <p:spPr>
          <a:xfrm>
            <a:off x="10962129" y="12218481"/>
            <a:ext cx="10252710" cy="611401"/>
          </a:xfrm>
          <a:prstGeom prst="rect">
            <a:avLst/>
          </a:prstGeom>
          <a:solidFill>
            <a:srgbClr val="0070C0"/>
          </a:solidFill>
          <a:ln/>
        </p:spPr>
        <p:txBody>
          <a:bodyPr/>
          <a:lstStyle/>
          <a:p>
            <a:r>
              <a:rPr lang="en-US" sz="3000" b="1" dirty="0">
                <a:solidFill>
                  <a:srgbClr val="FFFFFF"/>
                </a:solidFill>
                <a:latin typeface="Trebuchet MS" panose="020B0603020202020204" pitchFamily="34" charset="0"/>
                <a:ea typeface="Cambria" pitchFamily="34" charset="-122"/>
              </a:rPr>
              <a:t>Methodology</a:t>
            </a:r>
            <a:endParaRPr lang="en-US" sz="3000" b="1" dirty="0">
              <a:solidFill>
                <a:srgbClr val="FFFFFF"/>
              </a:solidFill>
              <a:latin typeface="Trebuchet MS" panose="020B0603020202020204" pitchFamily="34" charset="0"/>
              <a:ea typeface="Cambria" pitchFamily="34" charset="-122"/>
            </a:endParaRPr>
          </a:p>
        </p:txBody>
      </p:sp>
      <p:sp>
        <p:nvSpPr>
          <p:cNvPr id="66" name="Text 62"/>
          <p:cNvSpPr/>
          <p:nvPr/>
        </p:nvSpPr>
        <p:spPr>
          <a:xfrm>
            <a:off x="11160135" y="12811530"/>
            <a:ext cx="9795510" cy="7179329"/>
          </a:xfrm>
          <a:prstGeom prst="rect">
            <a:avLst/>
          </a:prstGeom>
          <a:noFill/>
          <a:ln/>
        </p:spPr>
        <p:txBody>
          <a:bodyPr wrap="square" lIns="0" tIns="0" rIns="0" bIns="0" rtlCol="0" anchor="t"/>
          <a:lstStyle/>
          <a:p>
            <a:pPr marL="254000" indent="-254000">
              <a:lnSpc>
                <a:spcPct val="122000"/>
              </a:lnSpc>
              <a:buSzPct val="100000"/>
              <a:buChar char="•"/>
            </a:pPr>
            <a:r>
              <a:rPr lang="en-US" sz="2400" b="1" dirty="0">
                <a:solidFill>
                  <a:srgbClr val="1A1A1A"/>
                </a:solidFill>
                <a:latin typeface="Trebuchet MS" panose="020B0603020202020204" pitchFamily="34" charset="0"/>
                <a:ea typeface="Calibri" pitchFamily="34" charset="-122"/>
                <a:cs typeface="Calibri" pitchFamily="34" charset="-120"/>
              </a:rPr>
              <a:t>Data: </a:t>
            </a:r>
            <a:r>
              <a:rPr lang="en-US" sz="2400" dirty="0">
                <a:solidFill>
                  <a:srgbClr val="1A1A1A"/>
                </a:solidFill>
                <a:latin typeface="Trebuchet MS" panose="020B0603020202020204" pitchFamily="34" charset="0"/>
                <a:ea typeface="Calibri" pitchFamily="34" charset="-122"/>
                <a:cs typeface="Calibri" pitchFamily="34" charset="-120"/>
              </a:rPr>
              <a:t>a scenario model elicited from UIS staff: about 15 causes in four categories, 20 diagnostic checks with effort costs, and 10 operational rules. No logs, tickets or personal data enter the simulator.</a:t>
            </a:r>
            <a:endParaRPr lang="en-US" sz="2400" b="1" dirty="0">
              <a:solidFill>
                <a:srgbClr val="1A1A1A"/>
              </a:solidFill>
              <a:latin typeface="Trebuchet MS" panose="020B0603020202020204" pitchFamily="34" charset="0"/>
              <a:ea typeface="Calibri" pitchFamily="34" charset="-122"/>
              <a:cs typeface="Calibri" pitchFamily="34" charset="-120"/>
            </a:endParaRPr>
          </a:p>
          <a:p>
            <a:pPr marL="254000" indent="-254000">
              <a:lnSpc>
                <a:spcPct val="122000"/>
              </a:lnSpc>
              <a:buSzPct val="100000"/>
              <a:buChar char="•"/>
            </a:pPr>
            <a:r>
              <a:rPr lang="en-US" sz="2400" b="1" dirty="0">
                <a:solidFill>
                  <a:srgbClr val="1A1A1A"/>
                </a:solidFill>
                <a:latin typeface="Trebuchet MS" panose="020B0603020202020204" pitchFamily="34" charset="0"/>
                <a:ea typeface="Calibri" pitchFamily="34" charset="-122"/>
                <a:cs typeface="Calibri" pitchFamily="34" charset="-120"/>
              </a:rPr>
              <a:t>Environment: </a:t>
            </a:r>
            <a:r>
              <a:rPr lang="en-US" sz="2400" dirty="0">
                <a:solidFill>
                  <a:srgbClr val="1A1A1A"/>
                </a:solidFill>
                <a:latin typeface="Trebuchet MS" panose="020B0603020202020204" pitchFamily="34" charset="0"/>
                <a:ea typeface="Calibri" pitchFamily="34" charset="-122"/>
                <a:cs typeface="Calibri" pitchFamily="34" charset="-120"/>
              </a:rPr>
              <a:t>a Gymnasium simulation in which each episode is one incident with a hidden cause. The agent sees the symptoms, the checks it has requested, and whether its last proposal was blocked.</a:t>
            </a:r>
            <a:endParaRPr lang="en-US" sz="2400" b="1" dirty="0">
              <a:solidFill>
                <a:srgbClr val="1A1A1A"/>
              </a:solidFill>
              <a:latin typeface="Trebuchet MS" panose="020B0603020202020204" pitchFamily="34" charset="0"/>
              <a:ea typeface="Calibri" pitchFamily="34" charset="-122"/>
              <a:cs typeface="Calibri" pitchFamily="34" charset="-120"/>
            </a:endParaRPr>
          </a:p>
          <a:p>
            <a:pPr marL="254000" indent="-254000">
              <a:lnSpc>
                <a:spcPct val="122000"/>
              </a:lnSpc>
              <a:buSzPct val="100000"/>
              <a:buChar char="•"/>
            </a:pPr>
            <a:r>
              <a:rPr lang="en-US" sz="2400" b="1" dirty="0">
                <a:solidFill>
                  <a:srgbClr val="1A1A1A"/>
                </a:solidFill>
                <a:latin typeface="Trebuchet MS" panose="020B0603020202020204" pitchFamily="34" charset="0"/>
                <a:ea typeface="Calibri" pitchFamily="34" charset="-122"/>
                <a:cs typeface="Calibri" pitchFamily="34" charset="-120"/>
              </a:rPr>
              <a:t>Agent: </a:t>
            </a:r>
            <a:r>
              <a:rPr lang="en-US" sz="2400" dirty="0">
                <a:solidFill>
                  <a:srgbClr val="1A1A1A"/>
                </a:solidFill>
                <a:latin typeface="Trebuchet MS" panose="020B0603020202020204" pitchFamily="34" charset="0"/>
                <a:ea typeface="Calibri" pitchFamily="34" charset="-122"/>
                <a:cs typeface="Calibri" pitchFamily="34" charset="-120"/>
              </a:rPr>
              <a:t>a deep Q-network with 36 actions: request one of 20 checks, recommend one of 15 fixes, or escalate. PPO is a secondary learner.</a:t>
            </a:r>
            <a:endParaRPr lang="en-US" sz="2400" b="1" dirty="0">
              <a:solidFill>
                <a:srgbClr val="1A1A1A"/>
              </a:solidFill>
              <a:latin typeface="Trebuchet MS" panose="020B0603020202020204" pitchFamily="34" charset="0"/>
              <a:ea typeface="Calibri" pitchFamily="34" charset="-122"/>
              <a:cs typeface="Calibri" pitchFamily="34" charset="-120"/>
            </a:endParaRPr>
          </a:p>
          <a:p>
            <a:pPr marL="254000" indent="-254000">
              <a:lnSpc>
                <a:spcPct val="122000"/>
              </a:lnSpc>
              <a:buSzPct val="100000"/>
              <a:buChar char="•"/>
            </a:pPr>
            <a:r>
              <a:rPr lang="en-US" sz="2400" b="1" dirty="0">
                <a:solidFill>
                  <a:srgbClr val="1A1A1A"/>
                </a:solidFill>
                <a:latin typeface="Trebuchet MS" panose="020B0603020202020204" pitchFamily="34" charset="0"/>
                <a:ea typeface="Calibri" pitchFamily="34" charset="-122"/>
                <a:cs typeface="Calibri" pitchFamily="34" charset="-120"/>
              </a:rPr>
              <a:t>Rule mechanism: </a:t>
            </a:r>
            <a:r>
              <a:rPr lang="en-US" sz="2400" dirty="0">
                <a:solidFill>
                  <a:srgbClr val="1A1A1A"/>
                </a:solidFill>
                <a:latin typeface="Trebuchet MS" panose="020B0603020202020204" pitchFamily="34" charset="0"/>
                <a:ea typeface="Calibri" pitchFamily="34" charset="-122"/>
                <a:cs typeface="Calibri" pitchFamily="34" charset="-120"/>
              </a:rPr>
              <a:t>every proposal is checked against the rules. A blocked proposal goes back to the agent once; a second block escalates the incident.</a:t>
            </a:r>
            <a:endParaRPr lang="en-US" sz="2400" b="1" dirty="0">
              <a:solidFill>
                <a:srgbClr val="1A1A1A"/>
              </a:solidFill>
              <a:latin typeface="Trebuchet MS" panose="020B0603020202020204" pitchFamily="34" charset="0"/>
              <a:ea typeface="Calibri" pitchFamily="34" charset="-122"/>
              <a:cs typeface="Calibri" pitchFamily="34" charset="-120"/>
            </a:endParaRPr>
          </a:p>
          <a:p>
            <a:pPr marL="254000" indent="-254000">
              <a:lnSpc>
                <a:spcPct val="122000"/>
              </a:lnSpc>
              <a:buSzPct val="100000"/>
              <a:buChar char="•"/>
            </a:pPr>
            <a:r>
              <a:rPr lang="en-US" sz="2400" b="1" dirty="0">
                <a:solidFill>
                  <a:srgbClr val="1A1A1A"/>
                </a:solidFill>
                <a:latin typeface="Trebuchet MS" panose="020B0603020202020204" pitchFamily="34" charset="0"/>
                <a:ea typeface="Calibri" pitchFamily="34" charset="-122"/>
                <a:cs typeface="Calibri" pitchFamily="34" charset="-120"/>
              </a:rPr>
              <a:t>Ambiguity: </a:t>
            </a:r>
            <a:r>
              <a:rPr lang="en-US" sz="2400" dirty="0">
                <a:solidFill>
                  <a:srgbClr val="1A1A1A"/>
                </a:solidFill>
                <a:latin typeface="Trebuchet MS" panose="020B0603020202020204" pitchFamily="34" charset="0"/>
                <a:ea typeface="Calibri" pitchFamily="34" charset="-122"/>
                <a:cs typeface="Calibri" pitchFamily="34" charset="-120"/>
              </a:rPr>
              <a:t>missing, unreliable and overlapping evidence are each controlled, so robustness can be measured level by level.</a:t>
            </a:r>
            <a:endParaRPr lang="en-US" sz="2400" b="1" dirty="0">
              <a:solidFill>
                <a:srgbClr val="1A1A1A"/>
              </a:solidFill>
              <a:latin typeface="Trebuchet MS" panose="020B0603020202020204" pitchFamily="34" charset="0"/>
              <a:ea typeface="Calibri" pitchFamily="34" charset="-122"/>
              <a:cs typeface="Calibri" pitchFamily="34" charset="-120"/>
            </a:endParaRPr>
          </a:p>
          <a:p>
            <a:pPr marL="254000" indent="-254000">
              <a:lnSpc>
                <a:spcPct val="122000"/>
              </a:lnSpc>
              <a:buSzPct val="100000"/>
              <a:buChar char="•"/>
            </a:pPr>
            <a:r>
              <a:rPr lang="en-US" sz="2400" b="1" dirty="0">
                <a:solidFill>
                  <a:srgbClr val="1A1A1A"/>
                </a:solidFill>
                <a:latin typeface="Trebuchet MS" panose="020B0603020202020204" pitchFamily="34" charset="0"/>
                <a:ea typeface="Calibri" pitchFamily="34" charset="-122"/>
                <a:cs typeface="Calibri" pitchFamily="34" charset="-120"/>
              </a:rPr>
              <a:t>Baselines: </a:t>
            </a:r>
            <a:r>
              <a:rPr lang="en-US" sz="2400" dirty="0">
                <a:solidFill>
                  <a:srgbClr val="1A1A1A"/>
                </a:solidFill>
                <a:latin typeface="Trebuchet MS" panose="020B0603020202020204" pitchFamily="34" charset="0"/>
                <a:ea typeface="Calibri" pitchFamily="34" charset="-122"/>
                <a:cs typeface="Calibri" pitchFamily="34" charset="-120"/>
              </a:rPr>
              <a:t>six policies, from a single prediction and a scripted checklist to always-escalate and an unconstrained agent, on the same incidents over ten seeds.</a:t>
            </a:r>
            <a:endParaRPr lang="en-US" sz="2400" b="1" dirty="0">
              <a:solidFill>
                <a:srgbClr val="1A1A1A"/>
              </a:solidFill>
              <a:latin typeface="Trebuchet MS" panose="020B0603020202020204" pitchFamily="34" charset="0"/>
              <a:ea typeface="Calibri" pitchFamily="34" charset="-122"/>
              <a:cs typeface="Calibri" pitchFamily="34" charset="-120"/>
            </a:endParaRPr>
          </a:p>
        </p:txBody>
      </p:sp>
      <p:grpSp>
        <p:nvGrpSpPr>
          <p:cNvPr id="143" name="Group 142">
            <a:extLst>
              <a:ext uri="{FF2B5EF4-FFF2-40B4-BE49-F238E27FC236}">
                <a16:creationId xmlns:a16="http://schemas.microsoft.com/office/drawing/2014/main" id="{C719B1B1-A775-E5E3-4444-CCD8852252BA}"/>
              </a:ext>
            </a:extLst>
          </p:cNvPr>
          <p:cNvGrpSpPr/>
          <p:nvPr/>
        </p:nvGrpSpPr>
        <p:grpSpPr>
          <a:xfrm>
            <a:off x="11258242" y="22822456"/>
            <a:ext cx="3131058" cy="1852730"/>
            <a:chOff x="11231118" y="24368760"/>
            <a:chExt cx="3131058" cy="1828800"/>
          </a:xfrm>
        </p:grpSpPr>
        <p:sp>
          <p:nvSpPr>
            <p:cNvPr id="72" name="Shape 67"/>
            <p:cNvSpPr>
              <a:spLocks/>
            </p:cNvSpPr>
            <p:nvPr/>
          </p:nvSpPr>
          <p:spPr>
            <a:xfrm>
              <a:off x="11231118" y="24368760"/>
              <a:ext cx="3131058" cy="1828800"/>
            </a:xfrm>
            <a:prstGeom prst="roundRect">
              <a:avLst>
                <a:gd name="adj" fmla="val 4500"/>
              </a:avLst>
            </a:prstGeom>
            <a:solidFill>
              <a:srgbClr val="E3F0FC"/>
            </a:solidFill>
            <a:ln w="15875">
              <a:solidFill>
                <a:srgbClr val="0070C0"/>
              </a:solidFill>
              <a:prstDash val="solid"/>
            </a:ln>
          </p:spPr>
          <p:txBody>
            <a:bodyPr/>
            <a:lstStyle/>
            <a:p>
              <a:endParaRPr lang="en-UG" dirty="0">
                <a:latin typeface="Trebuchet MS" panose="020B0603020202020204" pitchFamily="34" charset="0"/>
              </a:endParaRPr>
            </a:p>
          </p:txBody>
        </p:sp>
        <p:sp>
          <p:nvSpPr>
            <p:cNvPr id="73" name="Text 68"/>
            <p:cNvSpPr>
              <a:spLocks/>
            </p:cNvSpPr>
            <p:nvPr/>
          </p:nvSpPr>
          <p:spPr>
            <a:xfrm>
              <a:off x="11322558" y="24478488"/>
              <a:ext cx="2948178" cy="1024128"/>
            </a:xfrm>
            <a:prstGeom prst="rect">
              <a:avLst/>
            </a:prstGeom>
            <a:noFill/>
            <a:ln/>
          </p:spPr>
          <p:txBody>
            <a:bodyPr wrap="square" lIns="0" tIns="0" rIns="0" bIns="0" rtlCol="0" anchor="b"/>
            <a:lstStyle/>
            <a:p>
              <a:pPr marL="0" indent="0" algn="ctr">
                <a:buNone/>
              </a:pPr>
              <a:r>
                <a:rPr lang="en-US" sz="3000" b="1" dirty="0">
                  <a:solidFill>
                    <a:srgbClr val="0070C0"/>
                  </a:solidFill>
                  <a:latin typeface="Trebuchet MS" panose="020B0603020202020204" pitchFamily="34" charset="0"/>
                  <a:ea typeface="Cambria" pitchFamily="34" charset="-122"/>
                  <a:cs typeface="Cambria" pitchFamily="34" charset="-120"/>
                </a:rPr>
                <a:t>~15</a:t>
              </a:r>
              <a:endParaRPr lang="en-US" sz="3000" b="1" dirty="0">
                <a:solidFill>
                  <a:srgbClr val="0070C0"/>
                </a:solidFill>
                <a:latin typeface="Trebuchet MS" panose="020B0603020202020204" pitchFamily="34" charset="0"/>
                <a:ea typeface="Cambria" pitchFamily="34" charset="-122"/>
                <a:cs typeface="Cambria" pitchFamily="34" charset="-120"/>
              </a:endParaRPr>
            </a:p>
          </p:txBody>
        </p:sp>
        <p:sp>
          <p:nvSpPr>
            <p:cNvPr id="74" name="Text 69"/>
            <p:cNvSpPr>
              <a:spLocks/>
            </p:cNvSpPr>
            <p:nvPr/>
          </p:nvSpPr>
          <p:spPr>
            <a:xfrm>
              <a:off x="11368278" y="25466040"/>
              <a:ext cx="2856738" cy="694944"/>
            </a:xfrm>
            <a:prstGeom prst="rect">
              <a:avLst/>
            </a:prstGeom>
            <a:noFill/>
            <a:ln/>
          </p:spPr>
          <p:txBody>
            <a:bodyPr wrap="square" lIns="0" tIns="0" rIns="0" bIns="0" rtlCol="0" anchor="t"/>
            <a:lstStyle/>
            <a:p>
              <a:pPr marL="0" indent="0" algn="ctr">
                <a:lnSpc>
                  <a:spcPct val="105000"/>
                </a:lnSpc>
                <a:buNone/>
              </a:pPr>
              <a:r>
                <a:rPr lang="en-US" sz="1080" dirty="0">
                  <a:solidFill>
                    <a:srgbClr val="1A1A1A"/>
                  </a:solidFill>
                  <a:latin typeface="Trebuchet MS" panose="020B0603020202020204" pitchFamily="34" charset="0"/>
                  <a:ea typeface="Calibri" pitchFamily="34" charset="-122"/>
                  <a:cs typeface="Calibri" pitchFamily="34" charset="-120"/>
                </a:rPr>
                <a:t>Incident causes elicited from UIS</a:t>
              </a:r>
              <a:endParaRPr lang="en-US" sz="1080" dirty="0">
                <a:solidFill>
                  <a:srgbClr val="1A1A1A"/>
                </a:solidFill>
                <a:latin typeface="Trebuchet MS" panose="020B0603020202020204" pitchFamily="34" charset="0"/>
                <a:ea typeface="Calibri" pitchFamily="34" charset="-122"/>
                <a:cs typeface="Calibri" pitchFamily="34" charset="-120"/>
              </a:endParaRPr>
            </a:p>
          </p:txBody>
        </p:sp>
      </p:grpSp>
      <p:grpSp>
        <p:nvGrpSpPr>
          <p:cNvPr id="142" name="Group 141">
            <a:extLst>
              <a:ext uri="{FF2B5EF4-FFF2-40B4-BE49-F238E27FC236}">
                <a16:creationId xmlns:a16="http://schemas.microsoft.com/office/drawing/2014/main" id="{ED560AFA-C4A6-9A3C-0E12-EC08FB1E23D0}"/>
              </a:ext>
            </a:extLst>
          </p:cNvPr>
          <p:cNvGrpSpPr/>
          <p:nvPr/>
        </p:nvGrpSpPr>
        <p:grpSpPr>
          <a:xfrm>
            <a:off x="14618472" y="22808001"/>
            <a:ext cx="3131058" cy="1852730"/>
            <a:chOff x="14678025" y="22495220"/>
            <a:chExt cx="3131058" cy="1828800"/>
          </a:xfrm>
        </p:grpSpPr>
        <p:sp>
          <p:nvSpPr>
            <p:cNvPr id="75" name="Shape 70"/>
            <p:cNvSpPr/>
            <p:nvPr/>
          </p:nvSpPr>
          <p:spPr>
            <a:xfrm>
              <a:off x="14678025" y="22495220"/>
              <a:ext cx="3131058" cy="1828800"/>
            </a:xfrm>
            <a:prstGeom prst="roundRect">
              <a:avLst>
                <a:gd name="adj" fmla="val 4500"/>
              </a:avLst>
            </a:prstGeom>
            <a:solidFill>
              <a:srgbClr val="FBEAE8"/>
            </a:solidFill>
            <a:ln w="15875">
              <a:solidFill>
                <a:srgbClr val="C0392B"/>
              </a:solidFill>
              <a:prstDash val="solid"/>
            </a:ln>
          </p:spPr>
          <p:txBody>
            <a:bodyPr/>
            <a:lstStyle/>
            <a:p>
              <a:endParaRPr lang="en-UG">
                <a:latin typeface="Trebuchet MS" panose="020B0603020202020204" pitchFamily="34" charset="0"/>
              </a:endParaRPr>
            </a:p>
          </p:txBody>
        </p:sp>
        <p:sp>
          <p:nvSpPr>
            <p:cNvPr id="76" name="Text 71"/>
            <p:cNvSpPr/>
            <p:nvPr/>
          </p:nvSpPr>
          <p:spPr>
            <a:xfrm>
              <a:off x="14707362" y="22619216"/>
              <a:ext cx="2948178" cy="1024128"/>
            </a:xfrm>
            <a:prstGeom prst="rect">
              <a:avLst/>
            </a:prstGeom>
            <a:noFill/>
            <a:ln/>
          </p:spPr>
          <p:txBody>
            <a:bodyPr wrap="square" lIns="0" tIns="0" rIns="0" bIns="0" rtlCol="0" anchor="b"/>
            <a:lstStyle/>
            <a:p>
              <a:pPr marL="0" indent="0" algn="ctr">
                <a:buNone/>
              </a:pPr>
              <a:r>
                <a:rPr lang="en-US" sz="3000" b="1" dirty="0">
                  <a:solidFill>
                    <a:srgbClr val="C0392B"/>
                  </a:solidFill>
                  <a:latin typeface="Trebuchet MS" panose="020B0603020202020204" pitchFamily="34" charset="0"/>
                  <a:ea typeface="Cambria" pitchFamily="34" charset="-122"/>
                  <a:cs typeface="Cambria" pitchFamily="34" charset="-120"/>
                </a:rPr>
                <a:t>20</a:t>
              </a:r>
              <a:endParaRPr lang="en-US" sz="3000" b="1" dirty="0">
                <a:solidFill>
                  <a:srgbClr val="C0392B"/>
                </a:solidFill>
                <a:latin typeface="Trebuchet MS" panose="020B0603020202020204" pitchFamily="34" charset="0"/>
                <a:ea typeface="Cambria" pitchFamily="34" charset="-122"/>
                <a:cs typeface="Cambria" pitchFamily="34" charset="-120"/>
              </a:endParaRPr>
            </a:p>
          </p:txBody>
        </p:sp>
        <p:sp>
          <p:nvSpPr>
            <p:cNvPr id="77" name="Text 72"/>
            <p:cNvSpPr/>
            <p:nvPr/>
          </p:nvSpPr>
          <p:spPr>
            <a:xfrm>
              <a:off x="14871954" y="23607522"/>
              <a:ext cx="2856738" cy="694944"/>
            </a:xfrm>
            <a:prstGeom prst="rect">
              <a:avLst/>
            </a:prstGeom>
            <a:noFill/>
            <a:ln/>
          </p:spPr>
          <p:txBody>
            <a:bodyPr wrap="square" lIns="0" tIns="0" rIns="0" bIns="0" rtlCol="0" anchor="t"/>
            <a:lstStyle/>
            <a:p>
              <a:pPr marL="0" indent="0" algn="ctr">
                <a:lnSpc>
                  <a:spcPct val="105000"/>
                </a:lnSpc>
                <a:buNone/>
              </a:pPr>
              <a:r>
                <a:rPr lang="en-US" sz="1080" dirty="0">
                  <a:solidFill>
                    <a:srgbClr val="1A1A1A"/>
                  </a:solidFill>
                  <a:latin typeface="Trebuchet MS" panose="020B0603020202020204" pitchFamily="34" charset="0"/>
                  <a:ea typeface="Calibri" pitchFamily="34" charset="-122"/>
                  <a:cs typeface="Calibri" pitchFamily="34" charset="-120"/>
                </a:rPr>
                <a:t>Diagnostic checks</a:t>
              </a:r>
              <a:endParaRPr lang="en-US" sz="1080" dirty="0">
                <a:solidFill>
                  <a:srgbClr val="1A1A1A"/>
                </a:solidFill>
                <a:latin typeface="Trebuchet MS" panose="020B0603020202020204" pitchFamily="34" charset="0"/>
                <a:ea typeface="Calibri" pitchFamily="34" charset="-122"/>
                <a:cs typeface="Calibri" pitchFamily="34" charset="-120"/>
              </a:endParaRPr>
            </a:p>
          </p:txBody>
        </p:sp>
      </p:grpSp>
      <p:sp>
        <p:nvSpPr>
          <p:cNvPr id="78" name="Shape 73"/>
          <p:cNvSpPr/>
          <p:nvPr/>
        </p:nvSpPr>
        <p:spPr>
          <a:xfrm>
            <a:off x="17961747" y="22808001"/>
            <a:ext cx="3131058" cy="1852730"/>
          </a:xfrm>
          <a:prstGeom prst="roundRect">
            <a:avLst>
              <a:gd name="adj" fmla="val 4500"/>
            </a:avLst>
          </a:prstGeom>
          <a:solidFill>
            <a:srgbClr val="E3F0FC"/>
          </a:solidFill>
          <a:ln w="15875">
            <a:solidFill>
              <a:srgbClr val="0070C0"/>
            </a:solidFill>
            <a:prstDash val="solid"/>
          </a:ln>
        </p:spPr>
        <p:txBody>
          <a:bodyPr/>
          <a:lstStyle/>
          <a:p>
            <a:endParaRPr lang="en-UG" dirty="0">
              <a:latin typeface="Trebuchet MS" panose="020B0603020202020204" pitchFamily="34" charset="0"/>
            </a:endParaRPr>
          </a:p>
        </p:txBody>
      </p:sp>
      <p:sp>
        <p:nvSpPr>
          <p:cNvPr id="79" name="Text 74"/>
          <p:cNvSpPr/>
          <p:nvPr/>
        </p:nvSpPr>
        <p:spPr>
          <a:xfrm>
            <a:off x="18021343" y="22876121"/>
            <a:ext cx="2948178" cy="1024128"/>
          </a:xfrm>
          <a:prstGeom prst="rect">
            <a:avLst/>
          </a:prstGeom>
          <a:noFill/>
          <a:ln/>
        </p:spPr>
        <p:txBody>
          <a:bodyPr wrap="square" lIns="0" tIns="0" rIns="0" bIns="0" rtlCol="0" anchor="b"/>
          <a:lstStyle/>
          <a:p>
            <a:pPr marL="0" indent="0" algn="ctr">
              <a:buNone/>
            </a:pPr>
            <a:r>
              <a:rPr lang="en-US" sz="3000" dirty="0">
                <a:latin typeface="Trebuchet MS" panose="020B0603020202020204" pitchFamily="34" charset="0"/>
              </a:rPr>
              <a:t>10</a:t>
            </a:r>
            <a:endParaRPr lang="en-US" sz="3000" dirty="0">
              <a:latin typeface="Trebuchet MS" panose="020B0603020202020204" pitchFamily="34" charset="0"/>
            </a:endParaRPr>
          </a:p>
        </p:txBody>
      </p:sp>
      <p:sp>
        <p:nvSpPr>
          <p:cNvPr id="80" name="Text 75"/>
          <p:cNvSpPr/>
          <p:nvPr/>
        </p:nvSpPr>
        <p:spPr>
          <a:xfrm>
            <a:off x="18146128" y="23902162"/>
            <a:ext cx="2856738" cy="694944"/>
          </a:xfrm>
          <a:prstGeom prst="rect">
            <a:avLst/>
          </a:prstGeom>
          <a:noFill/>
          <a:ln/>
        </p:spPr>
        <p:txBody>
          <a:bodyPr wrap="square" lIns="0" tIns="0" rIns="0" bIns="0" rtlCol="0" anchor="t"/>
          <a:lstStyle/>
          <a:p>
            <a:pPr marL="0" indent="0" algn="ctr">
              <a:lnSpc>
                <a:spcPct val="105000"/>
              </a:lnSpc>
              <a:buNone/>
            </a:pPr>
            <a:r>
              <a:rPr lang="en-US" sz="1080" dirty="0">
                <a:solidFill>
                  <a:srgbClr val="1A1A1A"/>
                </a:solidFill>
                <a:latin typeface="Trebuchet MS" panose="020B0603020202020204" pitchFamily="34" charset="0"/>
                <a:ea typeface="Calibri" pitchFamily="34" charset="-122"/>
                <a:cs typeface="Calibri" pitchFamily="34" charset="-120"/>
              </a:rPr>
              <a:t>Operational rules enforced</a:t>
            </a:r>
            <a:endParaRPr lang="en-US" sz="1080" dirty="0">
              <a:solidFill>
                <a:srgbClr val="1A1A1A"/>
              </a:solidFill>
              <a:latin typeface="Trebuchet MS" panose="020B0603020202020204" pitchFamily="34" charset="0"/>
              <a:ea typeface="Calibri" pitchFamily="34" charset="-122"/>
              <a:cs typeface="Calibri" pitchFamily="34" charset="-120"/>
            </a:endParaRPr>
          </a:p>
        </p:txBody>
      </p:sp>
      <p:sp>
        <p:nvSpPr>
          <p:cNvPr id="81" name="Shape 76"/>
          <p:cNvSpPr/>
          <p:nvPr/>
        </p:nvSpPr>
        <p:spPr>
          <a:xfrm>
            <a:off x="21506548" y="3511042"/>
            <a:ext cx="10252710" cy="13020554"/>
          </a:xfrm>
          <a:prstGeom prst="rect">
            <a:avLst/>
          </a:prstGeom>
          <a:solidFill>
            <a:srgbClr val="FFFFFF"/>
          </a:solidFill>
          <a:ln w="15875">
            <a:solidFill>
              <a:srgbClr val="D9D9D9"/>
            </a:solidFill>
            <a:prstDash val="solid"/>
          </a:ln>
        </p:spPr>
        <p:txBody>
          <a:bodyPr/>
          <a:lstStyle/>
          <a:p>
            <a:endParaRPr lang="en-UG" dirty="0">
              <a:latin typeface="Trebuchet MS" panose="020B0603020202020204" pitchFamily="34" charset="0"/>
            </a:endParaRPr>
          </a:p>
        </p:txBody>
      </p:sp>
      <p:sp>
        <p:nvSpPr>
          <p:cNvPr id="82" name="Shape 77"/>
          <p:cNvSpPr/>
          <p:nvPr/>
        </p:nvSpPr>
        <p:spPr>
          <a:xfrm>
            <a:off x="21506548" y="3511042"/>
            <a:ext cx="10252710" cy="603504"/>
          </a:xfrm>
          <a:prstGeom prst="rect">
            <a:avLst/>
          </a:prstGeom>
          <a:solidFill>
            <a:srgbClr val="0070C0"/>
          </a:solidFill>
          <a:ln/>
        </p:spPr>
        <p:txBody>
          <a:bodyPr/>
          <a:lstStyle/>
          <a:p>
            <a:endParaRPr lang="en-UG" dirty="0">
              <a:latin typeface="Trebuchet MS" panose="020B0603020202020204" pitchFamily="34" charset="0"/>
            </a:endParaRPr>
          </a:p>
        </p:txBody>
      </p:sp>
      <p:sp>
        <p:nvSpPr>
          <p:cNvPr id="83" name="Text 78"/>
          <p:cNvSpPr/>
          <p:nvPr/>
        </p:nvSpPr>
        <p:spPr>
          <a:xfrm>
            <a:off x="21570556" y="3541073"/>
            <a:ext cx="9923526" cy="603504"/>
          </a:xfrm>
          <a:prstGeom prst="rect">
            <a:avLst/>
          </a:prstGeom>
          <a:noFill/>
          <a:ln/>
        </p:spPr>
        <p:txBody>
          <a:bodyPr wrap="square" lIns="0" tIns="0" rIns="0" bIns="0" rtlCol="0" anchor="ctr"/>
          <a:lstStyle/>
          <a:p>
            <a:pPr marL="0" indent="0" algn="l">
              <a:buNone/>
            </a:pPr>
            <a:r>
              <a:rPr lang="en-US" sz="3000" b="1" dirty="0">
                <a:solidFill>
                  <a:srgbClr val="FFFFFF"/>
                </a:solidFill>
                <a:latin typeface="Trebuchet MS" panose="020B0603020202020204" pitchFamily="34" charset="0"/>
                <a:ea typeface="Cambria" pitchFamily="34" charset="-122"/>
                <a:cs typeface="Cambria" pitchFamily="34" charset="-120"/>
              </a:rPr>
              <a:t>Evaluation Plan</a:t>
            </a:r>
            <a:endParaRPr lang="en-US" sz="3000" b="1" dirty="0">
              <a:solidFill>
                <a:srgbClr val="FFFFFF"/>
              </a:solidFill>
              <a:latin typeface="Trebuchet MS" panose="020B0603020202020204" pitchFamily="34" charset="0"/>
              <a:ea typeface="Cambria" pitchFamily="34" charset="-122"/>
              <a:cs typeface="Cambria" pitchFamily="34" charset="-120"/>
            </a:endParaRPr>
          </a:p>
        </p:txBody>
      </p:sp>
      <p:sp>
        <p:nvSpPr>
          <p:cNvPr id="84" name="Text 79"/>
          <p:cNvSpPr/>
          <p:nvPr/>
        </p:nvSpPr>
        <p:spPr>
          <a:xfrm>
            <a:off x="21707716" y="4134106"/>
            <a:ext cx="9795510" cy="822960"/>
          </a:xfrm>
          <a:prstGeom prst="rect">
            <a:avLst/>
          </a:prstGeom>
          <a:noFill/>
          <a:ln/>
        </p:spPr>
        <p:txBody>
          <a:bodyPr wrap="square" lIns="0" tIns="0" rIns="0" bIns="0" rtlCol="0" anchor="t"/>
          <a:lstStyle/>
          <a:p>
            <a:pPr marL="0" indent="0" algn="l">
              <a:lnSpc>
                <a:spcPct val="115000"/>
              </a:lnSpc>
              <a:buNone/>
            </a:pPr>
            <a:r>
              <a:rPr lang="en-US" sz="2400" dirty="0">
                <a:solidFill>
                  <a:srgbClr val="1A1A1A"/>
                </a:solidFill>
                <a:latin typeface="Trebuchet MS" panose="020B0603020202020204" pitchFamily="34" charset="0"/>
                <a:ea typeface="Calibri" pitchFamily="34" charset="-122"/>
                <a:cs typeface="Calibri" pitchFamily="34" charset="-120"/>
              </a:rPr>
              <a:t>The agent is compared with six baselines on the same incidents:</a:t>
            </a:r>
            <a:endParaRPr lang="en-US" sz="2400" dirty="0">
              <a:solidFill>
                <a:srgbClr val="1A1A1A"/>
              </a:solidFill>
              <a:latin typeface="Trebuchet MS" panose="020B0603020202020204" pitchFamily="34" charset="0"/>
              <a:ea typeface="Calibri" pitchFamily="34" charset="-122"/>
              <a:cs typeface="Calibri" pitchFamily="34" charset="-120"/>
            </a:endParaRPr>
          </a:p>
        </p:txBody>
      </p:sp>
      <p:sp>
        <p:nvSpPr>
          <p:cNvPr id="87" name="Text 80"/>
          <p:cNvSpPr/>
          <p:nvPr/>
        </p:nvSpPr>
        <p:spPr>
          <a:xfrm>
            <a:off x="21726144" y="12765273"/>
            <a:ext cx="9795510" cy="365760"/>
          </a:xfrm>
          <a:prstGeom prst="rect">
            <a:avLst/>
          </a:prstGeom>
          <a:noFill/>
          <a:ln/>
        </p:spPr>
        <p:txBody>
          <a:bodyPr wrap="square" lIns="0" tIns="0" rIns="0" bIns="0" rtlCol="0" anchor="t"/>
          <a:lstStyle/>
          <a:p>
            <a:pPr marL="0" indent="0" algn="ctr">
              <a:buNone/>
            </a:pPr>
            <a:r>
              <a:rPr lang="en-US" sz="1050" i="1" dirty="0">
                <a:solidFill>
                  <a:srgbClr val="555555"/>
                </a:solidFill>
                <a:latin typeface="Trebuchet MS" panose="020B0603020202020204" pitchFamily="34" charset="0"/>
                <a:ea typeface="Calibri" pitchFamily="34" charset="-122"/>
                <a:cs typeface="Calibri" pitchFamily="34" charset="-120"/>
              </a:rPr>
              <a:t>Research pipeline, from elicitation to analysis</a:t>
            </a:r>
            <a:endParaRPr lang="en-US" sz="1050" i="1" dirty="0">
              <a:solidFill>
                <a:srgbClr val="555555"/>
              </a:solidFill>
              <a:latin typeface="Trebuchet MS" panose="020B0603020202020204" pitchFamily="34" charset="0"/>
              <a:ea typeface="Calibri" pitchFamily="34" charset="-122"/>
              <a:cs typeface="Calibri" pitchFamily="34" charset="-120"/>
            </a:endParaRPr>
          </a:p>
        </p:txBody>
      </p:sp>
      <p:sp>
        <p:nvSpPr>
          <p:cNvPr id="88" name="Text 81"/>
          <p:cNvSpPr/>
          <p:nvPr/>
        </p:nvSpPr>
        <p:spPr>
          <a:xfrm>
            <a:off x="21821455" y="14858194"/>
            <a:ext cx="9795510" cy="1316482"/>
          </a:xfrm>
          <a:prstGeom prst="rect">
            <a:avLst/>
          </a:prstGeom>
          <a:noFill/>
          <a:ln/>
        </p:spPr>
        <p:txBody>
          <a:bodyPr wrap="square" lIns="0" tIns="0" rIns="0" bIns="0" rtlCol="0" anchor="t"/>
          <a:lstStyle/>
          <a:p>
            <a:pPr marL="254000" indent="-254000">
              <a:lnSpc>
                <a:spcPct val="118000"/>
              </a:lnSpc>
              <a:spcAft>
                <a:spcPts val="800"/>
              </a:spcAft>
              <a:buSzPct val="100000"/>
              <a:buChar char="•"/>
            </a:pPr>
            <a:r>
              <a:rPr lang="en-US" sz="2100" dirty="0">
                <a:solidFill>
                  <a:srgbClr val="1A1A1A"/>
                </a:solidFill>
                <a:latin typeface="Trebuchet MS" panose="020B0603020202020204" pitchFamily="34" charset="0"/>
                <a:ea typeface="Calibri" pitchFamily="34" charset="-122"/>
                <a:cs typeface="Calibri" pitchFamily="34" charset="-120"/>
              </a:rPr>
              <a:t>Measures: decision quality, investigation cost, escalation (precision, recall, MCC) and rule compliance, reported </a:t>
            </a:r>
            <a:r>
              <a:rPr lang="en-US" sz="2100" b="1" dirty="0">
                <a:solidFill>
                  <a:srgbClr val="1A1A1A"/>
                </a:solidFill>
                <a:latin typeface="Trebuchet MS" panose="020B0603020202020204" pitchFamily="34" charset="0"/>
                <a:ea typeface="Calibri" pitchFamily="34" charset="-122"/>
                <a:cs typeface="Calibri" pitchFamily="34" charset="-120"/>
              </a:rPr>
              <a:t>together, with 95% confidence intervals.</a:t>
            </a:r>
            <a:endParaRPr lang="en-US" sz="2100" dirty="0">
              <a:solidFill>
                <a:srgbClr val="1A1A1A"/>
              </a:solidFill>
              <a:latin typeface="Trebuchet MS" panose="020B0603020202020204" pitchFamily="34" charset="0"/>
              <a:ea typeface="Calibri" pitchFamily="34" charset="-122"/>
              <a:cs typeface="Calibri" pitchFamily="34" charset="-120"/>
            </a:endParaRPr>
          </a:p>
          <a:p>
            <a:pPr marL="254000" indent="-254000">
              <a:lnSpc>
                <a:spcPct val="118000"/>
              </a:lnSpc>
              <a:spcAft>
                <a:spcPts val="800"/>
              </a:spcAft>
              <a:buSzPct val="100000"/>
              <a:buChar char="•"/>
            </a:pPr>
            <a:r>
              <a:rPr lang="en-US" sz="2100" dirty="0">
                <a:solidFill>
                  <a:srgbClr val="1A1A1A"/>
                </a:solidFill>
                <a:latin typeface="Trebuchet MS" panose="020B0603020202020204" pitchFamily="34" charset="0"/>
                <a:ea typeface="Calibri" pitchFamily="34" charset="-122"/>
                <a:cs typeface="Calibri" pitchFamily="34" charset="-120"/>
              </a:rPr>
              <a:t>Experiments: baselines, effect of the rule mechanism, ablations, and robustness across ambiguity levels.</a:t>
            </a:r>
            <a:endParaRPr lang="en-US" sz="2100" dirty="0">
              <a:solidFill>
                <a:srgbClr val="1A1A1A"/>
              </a:solidFill>
              <a:latin typeface="Trebuchet MS" panose="020B0603020202020204" pitchFamily="34" charset="0"/>
              <a:ea typeface="Calibri" pitchFamily="34" charset="-122"/>
              <a:cs typeface="Calibri" pitchFamily="34" charset="-120"/>
            </a:endParaRPr>
          </a:p>
        </p:txBody>
      </p:sp>
      <p:sp>
        <p:nvSpPr>
          <p:cNvPr id="89" name="Shape 82"/>
          <p:cNvSpPr/>
          <p:nvPr/>
        </p:nvSpPr>
        <p:spPr>
          <a:xfrm>
            <a:off x="21592855" y="16796220"/>
            <a:ext cx="10252710" cy="12982740"/>
          </a:xfrm>
          <a:prstGeom prst="rect">
            <a:avLst/>
          </a:prstGeom>
          <a:solidFill>
            <a:srgbClr val="FFFFFF"/>
          </a:solidFill>
          <a:ln w="15875">
            <a:solidFill>
              <a:srgbClr val="D9D9D9"/>
            </a:solidFill>
            <a:prstDash val="solid"/>
          </a:ln>
        </p:spPr>
        <p:txBody>
          <a:bodyPr/>
          <a:lstStyle/>
          <a:p>
            <a:endParaRPr lang="en-UG" dirty="0">
              <a:latin typeface="Trebuchet MS" panose="020B0603020202020204" pitchFamily="34" charset="0"/>
            </a:endParaRPr>
          </a:p>
        </p:txBody>
      </p:sp>
      <p:sp>
        <p:nvSpPr>
          <p:cNvPr id="94" name="Text 86"/>
          <p:cNvSpPr/>
          <p:nvPr/>
        </p:nvSpPr>
        <p:spPr>
          <a:xfrm>
            <a:off x="21817584" y="22641270"/>
            <a:ext cx="9795510" cy="365760"/>
          </a:xfrm>
          <a:prstGeom prst="rect">
            <a:avLst/>
          </a:prstGeom>
          <a:noFill/>
          <a:ln/>
        </p:spPr>
        <p:txBody>
          <a:bodyPr wrap="square" lIns="0" tIns="0" rIns="0" bIns="0" rtlCol="0" anchor="t"/>
          <a:lstStyle/>
          <a:p>
            <a:pPr marL="0" indent="0" algn="ctr">
              <a:buNone/>
            </a:pPr>
            <a:r>
              <a:rPr lang="en-US" sz="1050" i="1" dirty="0">
                <a:solidFill>
                  <a:srgbClr val="555555"/>
                </a:solidFill>
                <a:latin typeface="Trebuchet MS" panose="020B0603020202020204" pitchFamily="34" charset="0"/>
                <a:ea typeface="Calibri" pitchFamily="34" charset="-122"/>
                <a:cs typeface="Calibri" pitchFamily="34" charset="-120"/>
              </a:rPr>
              <a:t>Studies (of 34) containing each element of the review questions</a:t>
            </a:r>
            <a:endParaRPr lang="en-US" sz="1050" i="1" dirty="0">
              <a:solidFill>
                <a:srgbClr val="555555"/>
              </a:solidFill>
              <a:latin typeface="Trebuchet MS" panose="020B0603020202020204" pitchFamily="34" charset="0"/>
              <a:ea typeface="Calibri" pitchFamily="34" charset="-122"/>
              <a:cs typeface="Calibri" pitchFamily="34" charset="-120"/>
            </a:endParaRPr>
          </a:p>
        </p:txBody>
      </p:sp>
      <p:sp>
        <p:nvSpPr>
          <p:cNvPr id="96" name="Shape 88"/>
          <p:cNvSpPr/>
          <p:nvPr/>
        </p:nvSpPr>
        <p:spPr>
          <a:xfrm>
            <a:off x="32063053" y="3531030"/>
            <a:ext cx="10252710" cy="20095840"/>
          </a:xfrm>
          <a:prstGeom prst="rect">
            <a:avLst/>
          </a:prstGeom>
          <a:solidFill>
            <a:srgbClr val="FFFFFF"/>
          </a:solidFill>
          <a:ln w="15875">
            <a:solidFill>
              <a:srgbClr val="D9D9D9"/>
            </a:solidFill>
            <a:prstDash val="solid"/>
          </a:ln>
        </p:spPr>
        <p:txBody>
          <a:bodyPr/>
          <a:lstStyle/>
          <a:p>
            <a:endParaRPr lang="en-UG" dirty="0">
              <a:latin typeface="Trebuchet MS" panose="020B0603020202020204" pitchFamily="34" charset="0"/>
            </a:endParaRPr>
          </a:p>
        </p:txBody>
      </p:sp>
      <p:sp>
        <p:nvSpPr>
          <p:cNvPr id="102" name="Text 92"/>
          <p:cNvSpPr/>
          <p:nvPr/>
        </p:nvSpPr>
        <p:spPr>
          <a:xfrm>
            <a:off x="32241744" y="14538960"/>
            <a:ext cx="9793224" cy="365760"/>
          </a:xfrm>
          <a:prstGeom prst="rect">
            <a:avLst/>
          </a:prstGeom>
          <a:noFill/>
          <a:ln/>
        </p:spPr>
        <p:txBody>
          <a:bodyPr wrap="square" lIns="0" tIns="0" rIns="0" bIns="0" rtlCol="0" anchor="t"/>
          <a:lstStyle/>
          <a:p>
            <a:pPr marL="0" indent="0" algn="ctr">
              <a:buNone/>
            </a:pPr>
            <a:r>
              <a:rPr lang="en-US" sz="1050" i="1" dirty="0">
                <a:solidFill>
                  <a:srgbClr val="555555"/>
                </a:solidFill>
                <a:latin typeface="Trebuchet MS" panose="020B0603020202020204" pitchFamily="34" charset="0"/>
                <a:ea typeface="Calibri" pitchFamily="34" charset="-122"/>
                <a:cs typeface="Calibri" pitchFamily="34" charset="-120"/>
              </a:rPr>
              <a:t>Systematic literature review: PRISMA 2020 flow</a:t>
            </a:r>
            <a:endParaRPr lang="en-US" sz="1050" i="1" dirty="0">
              <a:solidFill>
                <a:srgbClr val="555555"/>
              </a:solidFill>
              <a:latin typeface="Trebuchet MS" panose="020B0603020202020204" pitchFamily="34" charset="0"/>
              <a:ea typeface="Calibri" pitchFamily="34" charset="-122"/>
              <a:cs typeface="Calibri" pitchFamily="34" charset="-120"/>
            </a:endParaRPr>
          </a:p>
        </p:txBody>
      </p:sp>
      <p:sp>
        <p:nvSpPr>
          <p:cNvPr id="97" name="Shape 89"/>
          <p:cNvSpPr/>
          <p:nvPr/>
        </p:nvSpPr>
        <p:spPr>
          <a:xfrm>
            <a:off x="32017333" y="3538846"/>
            <a:ext cx="10252710" cy="603504"/>
          </a:xfrm>
          <a:prstGeom prst="rect">
            <a:avLst/>
          </a:prstGeom>
          <a:solidFill>
            <a:srgbClr val="C0392B"/>
          </a:solidFill>
          <a:ln/>
        </p:spPr>
        <p:txBody>
          <a:bodyPr/>
          <a:lstStyle/>
          <a:p>
            <a:endParaRPr lang="en-UG">
              <a:latin typeface="Trebuchet MS" panose="020B0603020202020204" pitchFamily="34" charset="0"/>
            </a:endParaRPr>
          </a:p>
        </p:txBody>
      </p:sp>
      <p:sp>
        <p:nvSpPr>
          <p:cNvPr id="98" name="Text 90"/>
          <p:cNvSpPr/>
          <p:nvPr/>
        </p:nvSpPr>
        <p:spPr>
          <a:xfrm>
            <a:off x="32181925" y="3538846"/>
            <a:ext cx="9923526" cy="603504"/>
          </a:xfrm>
          <a:prstGeom prst="rect">
            <a:avLst/>
          </a:prstGeom>
          <a:noFill/>
          <a:ln/>
        </p:spPr>
        <p:txBody>
          <a:bodyPr wrap="square" lIns="0" tIns="0" rIns="0" bIns="0" rtlCol="0" anchor="ctr"/>
          <a:lstStyle/>
          <a:p>
            <a:pPr marL="0" indent="0" algn="l">
              <a:buNone/>
            </a:pPr>
            <a:r>
              <a:rPr lang="en-US" sz="3000" b="1" dirty="0">
                <a:solidFill>
                  <a:srgbClr val="FFFFFF"/>
                </a:solidFill>
                <a:latin typeface="Trebuchet MS" panose="020B0603020202020204" pitchFamily="34" charset="0"/>
                <a:ea typeface="Cambria" pitchFamily="34" charset="-122"/>
                <a:cs typeface="Cambria" pitchFamily="34" charset="-120"/>
              </a:rPr>
              <a:t>Expected Results</a:t>
            </a:r>
            <a:endParaRPr lang="en-US" sz="3000" b="1" dirty="0">
              <a:solidFill>
                <a:srgbClr val="FFFFFF"/>
              </a:solidFill>
              <a:latin typeface="Trebuchet MS" panose="020B0603020202020204" pitchFamily="34" charset="0"/>
              <a:ea typeface="Cambria" pitchFamily="34" charset="-122"/>
              <a:cs typeface="Cambria" pitchFamily="34" charset="-120"/>
            </a:endParaRPr>
          </a:p>
        </p:txBody>
      </p:sp>
      <p:sp>
        <p:nvSpPr>
          <p:cNvPr id="99" name="Text 91"/>
          <p:cNvSpPr/>
          <p:nvPr/>
        </p:nvSpPr>
        <p:spPr>
          <a:xfrm>
            <a:off x="32245933" y="4361806"/>
            <a:ext cx="9795510" cy="2194560"/>
          </a:xfrm>
          <a:prstGeom prst="rect">
            <a:avLst/>
          </a:prstGeom>
          <a:noFill/>
          <a:ln/>
        </p:spPr>
        <p:txBody>
          <a:bodyPr wrap="square" lIns="0" tIns="0" rIns="0" bIns="0" rtlCol="0" anchor="t"/>
          <a:lstStyle/>
          <a:p>
            <a:pPr marL="254000" indent="-254000">
              <a:lnSpc>
                <a:spcPct val="120000"/>
              </a:lnSpc>
              <a:spcAft>
                <a:spcPts val="800"/>
              </a:spcAft>
              <a:buSzPct val="100000"/>
              <a:buChar char="•"/>
            </a:pPr>
            <a:r>
              <a:rPr lang="en-US" sz="2400" dirty="0">
                <a:solidFill>
                  <a:srgbClr val="1A1A1A"/>
                </a:solidFill>
                <a:latin typeface="Trebuchet MS" panose="020B0603020202020204" pitchFamily="34" charset="0"/>
                <a:ea typeface="Calibri" pitchFamily="34" charset="-122"/>
                <a:cs typeface="Calibri" pitchFamily="34" charset="-120"/>
              </a:rPr>
              <a:t>H1: the agent resolves more incidents correctly than the simple baselines at equal or lower investigation cost, approaching the threshold policy without being given the model.</a:t>
            </a:r>
            <a:endParaRPr lang="en-US" sz="2400" dirty="0">
              <a:solidFill>
                <a:srgbClr val="1A1A1A"/>
              </a:solidFill>
              <a:latin typeface="Trebuchet MS" panose="020B0603020202020204" pitchFamily="34" charset="0"/>
              <a:ea typeface="Calibri" pitchFamily="34" charset="-122"/>
              <a:cs typeface="Calibri" pitchFamily="34" charset="-120"/>
            </a:endParaRPr>
          </a:p>
          <a:p>
            <a:pPr marL="254000" indent="-254000">
              <a:lnSpc>
                <a:spcPct val="120000"/>
              </a:lnSpc>
              <a:spcAft>
                <a:spcPts val="800"/>
              </a:spcAft>
              <a:buSzPct val="100000"/>
              <a:buChar char="•"/>
            </a:pPr>
            <a:r>
              <a:rPr lang="en-US" sz="2400" dirty="0">
                <a:solidFill>
                  <a:srgbClr val="1A1A1A"/>
                </a:solidFill>
                <a:latin typeface="Trebuchet MS" panose="020B0603020202020204" pitchFamily="34" charset="0"/>
                <a:ea typeface="Calibri" pitchFamily="34" charset="-122"/>
                <a:cs typeface="Calibri" pitchFamily="34" charset="-120"/>
              </a:rPr>
              <a:t>H2: with the rule mechanism, no prohibited action is executed, and rule-compliant success is higher than for the unconstrained and penalty-only agents.</a:t>
            </a:r>
            <a:endParaRPr lang="en-US" sz="2400" dirty="0">
              <a:solidFill>
                <a:srgbClr val="1A1A1A"/>
              </a:solidFill>
              <a:latin typeface="Trebuchet MS" panose="020B0603020202020204" pitchFamily="34" charset="0"/>
              <a:ea typeface="Calibri" pitchFamily="34" charset="-122"/>
              <a:cs typeface="Calibri" pitchFamily="34" charset="-120"/>
            </a:endParaRPr>
          </a:p>
        </p:txBody>
      </p:sp>
      <p:pic>
        <p:nvPicPr>
          <p:cNvPr id="100" name="Image 4" descr="assets/ig_feature_importance_hybrid.png"/>
          <p:cNvPicPr>
            <a:picLocks noChangeAspect="1"/>
          </p:cNvPicPr>
          <p:nvPr/>
        </p:nvPicPr>
        <p:blipFill>
          <a:blip r:embed="rId15"/>
          <a:stretch>
            <a:fillRect/>
          </a:stretch>
        </p:blipFill>
        <p:spPr>
          <a:xfrm>
            <a:off x="32369760" y="7189170"/>
            <a:ext cx="9601200" cy="7292938"/>
          </a:xfrm>
          <a:prstGeom prst="rect">
            <a:avLst/>
          </a:prstGeom>
        </p:spPr>
      </p:pic>
      <p:sp>
        <p:nvSpPr>
          <p:cNvPr id="104" name="Text 94"/>
          <p:cNvSpPr/>
          <p:nvPr/>
        </p:nvSpPr>
        <p:spPr>
          <a:xfrm>
            <a:off x="32200213" y="15041880"/>
            <a:ext cx="9795510" cy="2651760"/>
          </a:xfrm>
          <a:prstGeom prst="rect">
            <a:avLst/>
          </a:prstGeom>
          <a:noFill/>
          <a:ln/>
        </p:spPr>
        <p:txBody>
          <a:bodyPr wrap="square" lIns="0" tIns="0" rIns="0" bIns="0" rtlCol="0" anchor="t"/>
          <a:lstStyle/>
          <a:p>
            <a:pPr marL="254000" indent="-254000">
              <a:lnSpc>
                <a:spcPct val="120000"/>
              </a:lnSpc>
              <a:spcAft>
                <a:spcPts val="800"/>
              </a:spcAft>
              <a:buSzPct val="100000"/>
              <a:buChar char="•"/>
            </a:pPr>
            <a:r>
              <a:rPr lang="en-US" sz="2400" dirty="0">
                <a:solidFill>
                  <a:srgbClr val="1A1A1A"/>
                </a:solidFill>
                <a:latin typeface="Trebuchet MS" panose="020B0603020202020204" pitchFamily="34" charset="0"/>
                <a:ea typeface="Calibri" pitchFamily="34" charset="-122"/>
                <a:cs typeface="Calibri" pitchFamily="34" charset="-120"/>
              </a:rPr>
              <a:t>H3: as ambiguity rises, the agent requests more checks and escalates more, instead of recommending fixes on weaker evidence.</a:t>
            </a:r>
            <a:endParaRPr lang="en-US" sz="2400" dirty="0">
              <a:solidFill>
                <a:srgbClr val="1A1A1A"/>
              </a:solidFill>
              <a:latin typeface="Trebuchet MS" panose="020B0603020202020204" pitchFamily="34" charset="0"/>
              <a:ea typeface="Calibri" pitchFamily="34" charset="-122"/>
              <a:cs typeface="Calibri" pitchFamily="34" charset="-120"/>
            </a:endParaRPr>
          </a:p>
          <a:p>
            <a:pPr marL="254000" indent="-254000">
              <a:lnSpc>
                <a:spcPct val="120000"/>
              </a:lnSpc>
              <a:spcAft>
                <a:spcPts val="800"/>
              </a:spcAft>
              <a:buSzPct val="100000"/>
              <a:buChar char="•"/>
            </a:pPr>
            <a:r>
              <a:rPr lang="en-US" sz="2400" dirty="0">
                <a:solidFill>
                  <a:srgbClr val="1A1A1A"/>
                </a:solidFill>
                <a:latin typeface="Trebuchet MS" panose="020B0603020202020204" pitchFamily="34" charset="0"/>
                <a:ea typeface="Calibri" pitchFamily="34" charset="-122"/>
                <a:cs typeface="Calibri" pitchFamily="34" charset="-120"/>
              </a:rPr>
              <a:t>Numerical targets are fixed after the pilot runs, and the results will be reported whether or not the hypotheses hold.</a:t>
            </a:r>
            <a:endParaRPr lang="en-US" sz="2400" dirty="0">
              <a:solidFill>
                <a:srgbClr val="1A1A1A"/>
              </a:solidFill>
              <a:latin typeface="Trebuchet MS" panose="020B0603020202020204" pitchFamily="34" charset="0"/>
              <a:ea typeface="Calibri" pitchFamily="34" charset="-122"/>
              <a:cs typeface="Calibri" pitchFamily="34" charset="-120"/>
            </a:endParaRPr>
          </a:p>
        </p:txBody>
      </p:sp>
      <p:sp>
        <p:nvSpPr>
          <p:cNvPr id="107" name="Text 96"/>
          <p:cNvSpPr/>
          <p:nvPr/>
        </p:nvSpPr>
        <p:spPr>
          <a:xfrm>
            <a:off x="32178595" y="18013680"/>
            <a:ext cx="9793224" cy="4848777"/>
          </a:xfrm>
          <a:prstGeom prst="rect">
            <a:avLst/>
          </a:prstGeom>
          <a:noFill/>
          <a:ln/>
        </p:spPr>
        <p:txBody>
          <a:bodyPr wrap="square" lIns="0" tIns="0" rIns="0" bIns="0" rtlCol="0" anchor="t"/>
          <a:lstStyle/>
          <a:p>
            <a:pPr marL="0" indent="0">
              <a:lnSpc>
                <a:spcPct val="125000"/>
              </a:lnSpc>
              <a:buNone/>
            </a:pPr>
            <a:r>
              <a:rPr lang="en-US" sz="2400" b="1" dirty="0">
                <a:solidFill>
                  <a:srgbClr val="1A1A1A"/>
                </a:solidFill>
                <a:latin typeface="Trebuchet MS" panose="020B0603020202020204" pitchFamily="34" charset="0"/>
                <a:ea typeface="Calibri" pitchFamily="34" charset="-122"/>
                <a:cs typeface="Calibri" pitchFamily="34" charset="-120"/>
              </a:rPr>
              <a:t>Prototype: </a:t>
            </a:r>
            <a:r>
              <a:rPr lang="en-US" sz="2400" dirty="0">
                <a:solidFill>
                  <a:srgbClr val="1A1A1A"/>
                </a:solidFill>
                <a:latin typeface="Trebuchet MS" panose="020B0603020202020204" pitchFamily="34" charset="0"/>
                <a:ea typeface="Calibri" pitchFamily="34" charset="-122"/>
                <a:cs typeface="Calibri" pitchFamily="34" charset="-120"/>
              </a:rPr>
              <a:t>a working simulator built from the UIS scenarios, the rule mechanism, six baselines and trained agents, with a dashboard that replays an incident step by step: the evidence revealed, the agent’s action values, any blocked proposal and the final decision, beside the comparison results.</a:t>
            </a:r>
            <a:endParaRPr lang="en-US" sz="2400" b="1" dirty="0">
              <a:solidFill>
                <a:srgbClr val="1A1A1A"/>
              </a:solidFill>
              <a:latin typeface="Trebuchet MS" panose="020B0603020202020204" pitchFamily="34" charset="0"/>
              <a:ea typeface="Calibri" pitchFamily="34" charset="-122"/>
              <a:cs typeface="Calibri" pitchFamily="34" charset="-120"/>
            </a:endParaRPr>
          </a:p>
        </p:txBody>
      </p:sp>
      <p:sp>
        <p:nvSpPr>
          <p:cNvPr id="111" name="Text 100"/>
          <p:cNvSpPr/>
          <p:nvPr/>
        </p:nvSpPr>
        <p:spPr>
          <a:xfrm>
            <a:off x="34339009" y="21286006"/>
            <a:ext cx="2948178" cy="1024128"/>
          </a:xfrm>
          <a:prstGeom prst="rect">
            <a:avLst/>
          </a:prstGeom>
          <a:noFill/>
          <a:ln/>
        </p:spPr>
        <p:txBody>
          <a:bodyPr wrap="square" lIns="0" tIns="0" rIns="0" bIns="0" rtlCol="0" anchor="b"/>
          <a:lstStyle/>
          <a:p>
            <a:pPr marL="0" indent="0" algn="ctr">
              <a:buNone/>
            </a:pPr>
            <a:endParaRPr lang="en-US" sz="3000" dirty="0">
              <a:latin typeface="Trebuchet MS" panose="020B0603020202020204" pitchFamily="34" charset="0"/>
            </a:endParaRPr>
          </a:p>
        </p:txBody>
      </p:sp>
      <p:sp>
        <p:nvSpPr>
          <p:cNvPr id="112" name="Text 101"/>
          <p:cNvSpPr/>
          <p:nvPr/>
        </p:nvSpPr>
        <p:spPr>
          <a:xfrm>
            <a:off x="34384729" y="22273558"/>
            <a:ext cx="2856738" cy="694944"/>
          </a:xfrm>
          <a:prstGeom prst="rect">
            <a:avLst/>
          </a:prstGeom>
          <a:noFill/>
          <a:ln/>
        </p:spPr>
        <p:txBody>
          <a:bodyPr wrap="square" lIns="0" tIns="0" rIns="0" bIns="0" rtlCol="0" anchor="t"/>
          <a:lstStyle/>
          <a:p>
            <a:pPr marL="0" indent="0" algn="ctr">
              <a:lnSpc>
                <a:spcPct val="105000"/>
              </a:lnSpc>
              <a:buNone/>
            </a:pPr>
            <a:endParaRPr lang="en-US" sz="1080" dirty="0">
              <a:latin typeface="Trebuchet MS" panose="020B0603020202020204" pitchFamily="34" charset="0"/>
            </a:endParaRPr>
          </a:p>
        </p:txBody>
      </p:sp>
      <p:sp>
        <p:nvSpPr>
          <p:cNvPr id="114" name="Text 103"/>
          <p:cNvSpPr/>
          <p:nvPr/>
        </p:nvSpPr>
        <p:spPr>
          <a:xfrm>
            <a:off x="37671235" y="21286006"/>
            <a:ext cx="2948178" cy="1024128"/>
          </a:xfrm>
          <a:prstGeom prst="rect">
            <a:avLst/>
          </a:prstGeom>
          <a:noFill/>
          <a:ln/>
        </p:spPr>
        <p:txBody>
          <a:bodyPr wrap="square" lIns="0" tIns="0" rIns="0" bIns="0" rtlCol="0" anchor="b"/>
          <a:lstStyle/>
          <a:p>
            <a:pPr marL="0" indent="0" algn="ctr">
              <a:buNone/>
            </a:pPr>
            <a:endParaRPr lang="en-US" sz="3000" dirty="0">
              <a:latin typeface="Trebuchet MS" panose="020B0603020202020204" pitchFamily="34" charset="0"/>
            </a:endParaRPr>
          </a:p>
        </p:txBody>
      </p:sp>
      <p:sp>
        <p:nvSpPr>
          <p:cNvPr id="115" name="Text 104"/>
          <p:cNvSpPr/>
          <p:nvPr/>
        </p:nvSpPr>
        <p:spPr>
          <a:xfrm>
            <a:off x="37716955" y="22273558"/>
            <a:ext cx="2856738" cy="694944"/>
          </a:xfrm>
          <a:prstGeom prst="rect">
            <a:avLst/>
          </a:prstGeom>
          <a:noFill/>
          <a:ln/>
        </p:spPr>
        <p:txBody>
          <a:bodyPr wrap="square" lIns="0" tIns="0" rIns="0" bIns="0" rtlCol="0" anchor="t"/>
          <a:lstStyle/>
          <a:p>
            <a:pPr marL="0" indent="0" algn="ctr">
              <a:lnSpc>
                <a:spcPct val="105000"/>
              </a:lnSpc>
              <a:buNone/>
            </a:pPr>
            <a:endParaRPr lang="en-US" sz="1080" dirty="0">
              <a:latin typeface="Trebuchet MS" panose="020B0603020202020204" pitchFamily="34" charset="0"/>
            </a:endParaRPr>
          </a:p>
        </p:txBody>
      </p:sp>
      <p:sp>
        <p:nvSpPr>
          <p:cNvPr id="117" name="Text 106"/>
          <p:cNvSpPr/>
          <p:nvPr/>
        </p:nvSpPr>
        <p:spPr>
          <a:xfrm>
            <a:off x="41003461" y="21286006"/>
            <a:ext cx="2948178" cy="1024128"/>
          </a:xfrm>
          <a:prstGeom prst="rect">
            <a:avLst/>
          </a:prstGeom>
          <a:noFill/>
          <a:ln/>
        </p:spPr>
        <p:txBody>
          <a:bodyPr wrap="square" lIns="0" tIns="0" rIns="0" bIns="0" rtlCol="0" anchor="b"/>
          <a:lstStyle/>
          <a:p>
            <a:pPr marL="0" indent="0" algn="ctr">
              <a:buNone/>
            </a:pPr>
            <a:endParaRPr lang="en-US" sz="3000" dirty="0">
              <a:latin typeface="Trebuchet MS" panose="020B0603020202020204" pitchFamily="34" charset="0"/>
            </a:endParaRPr>
          </a:p>
        </p:txBody>
      </p:sp>
      <p:sp>
        <p:nvSpPr>
          <p:cNvPr id="118" name="Text 107"/>
          <p:cNvSpPr/>
          <p:nvPr/>
        </p:nvSpPr>
        <p:spPr>
          <a:xfrm>
            <a:off x="41049181" y="22273558"/>
            <a:ext cx="2856738" cy="694944"/>
          </a:xfrm>
          <a:prstGeom prst="rect">
            <a:avLst/>
          </a:prstGeom>
          <a:noFill/>
          <a:ln/>
        </p:spPr>
        <p:txBody>
          <a:bodyPr wrap="square" lIns="0" tIns="0" rIns="0" bIns="0" rtlCol="0" anchor="t"/>
          <a:lstStyle/>
          <a:p>
            <a:pPr marL="0" indent="0" algn="ctr">
              <a:lnSpc>
                <a:spcPct val="105000"/>
              </a:lnSpc>
              <a:buNone/>
            </a:pPr>
            <a:endParaRPr lang="en-US" sz="1080" dirty="0">
              <a:latin typeface="Trebuchet MS" panose="020B0603020202020204" pitchFamily="34" charset="0"/>
            </a:endParaRPr>
          </a:p>
        </p:txBody>
      </p:sp>
      <p:sp>
        <p:nvSpPr>
          <p:cNvPr id="119" name="Text 108"/>
          <p:cNvSpPr/>
          <p:nvPr/>
        </p:nvSpPr>
        <p:spPr>
          <a:xfrm>
            <a:off x="34247569" y="23325118"/>
            <a:ext cx="9795510" cy="1005840"/>
          </a:xfrm>
          <a:prstGeom prst="rect">
            <a:avLst/>
          </a:prstGeom>
          <a:noFill/>
          <a:ln/>
        </p:spPr>
        <p:txBody>
          <a:bodyPr wrap="square" lIns="0" tIns="0" rIns="0" bIns="0" rtlCol="0" anchor="t"/>
          <a:lstStyle/>
          <a:p>
            <a:pPr marL="0" indent="0" algn="l">
              <a:lnSpc>
                <a:spcPct val="120000"/>
              </a:lnSpc>
              <a:buNone/>
            </a:pPr>
            <a:endParaRPr lang="en-US" sz="1230" dirty="0">
              <a:latin typeface="Trebuchet MS" panose="020B0603020202020204" pitchFamily="34" charset="0"/>
            </a:endParaRPr>
          </a:p>
        </p:txBody>
      </p:sp>
      <p:sp>
        <p:nvSpPr>
          <p:cNvPr id="120" name="Shape 109"/>
          <p:cNvSpPr/>
          <p:nvPr/>
        </p:nvSpPr>
        <p:spPr>
          <a:xfrm>
            <a:off x="591427" y="23555669"/>
            <a:ext cx="10252710" cy="5333655"/>
          </a:xfrm>
          <a:prstGeom prst="rect">
            <a:avLst/>
          </a:prstGeom>
          <a:solidFill>
            <a:srgbClr val="FFFFFF"/>
          </a:solidFill>
          <a:ln w="15875">
            <a:solidFill>
              <a:srgbClr val="D9D9D9"/>
            </a:solidFill>
            <a:prstDash val="solid"/>
          </a:ln>
        </p:spPr>
        <p:txBody>
          <a:bodyPr/>
          <a:lstStyle/>
          <a:p>
            <a:endParaRPr lang="en-UG">
              <a:latin typeface="Trebuchet MS" panose="020B0603020202020204" pitchFamily="34" charset="0"/>
            </a:endParaRPr>
          </a:p>
        </p:txBody>
      </p:sp>
      <p:sp>
        <p:nvSpPr>
          <p:cNvPr id="121" name="Shape 110"/>
          <p:cNvSpPr/>
          <p:nvPr/>
        </p:nvSpPr>
        <p:spPr>
          <a:xfrm>
            <a:off x="591427" y="23555669"/>
            <a:ext cx="10252710" cy="893455"/>
          </a:xfrm>
          <a:prstGeom prst="rect">
            <a:avLst/>
          </a:prstGeom>
          <a:solidFill>
            <a:srgbClr val="0070C0"/>
          </a:solidFill>
          <a:ln/>
        </p:spPr>
        <p:txBody>
          <a:bodyPr/>
          <a:lstStyle/>
          <a:p>
            <a:endParaRPr lang="en-UG" dirty="0">
              <a:latin typeface="Trebuchet MS" panose="020B0603020202020204" pitchFamily="34" charset="0"/>
            </a:endParaRPr>
          </a:p>
        </p:txBody>
      </p:sp>
      <p:sp>
        <p:nvSpPr>
          <p:cNvPr id="122" name="Text 111"/>
          <p:cNvSpPr/>
          <p:nvPr/>
        </p:nvSpPr>
        <p:spPr>
          <a:xfrm>
            <a:off x="713996" y="23555669"/>
            <a:ext cx="10007571" cy="893455"/>
          </a:xfrm>
          <a:prstGeom prst="rect">
            <a:avLst/>
          </a:prstGeom>
          <a:noFill/>
          <a:ln/>
        </p:spPr>
        <p:txBody>
          <a:bodyPr wrap="square" lIns="0" tIns="0" rIns="0" bIns="0" rtlCol="0" anchor="ctr"/>
          <a:lstStyle/>
          <a:p>
            <a:pPr marL="0" indent="0" algn="l">
              <a:buNone/>
            </a:pPr>
            <a:r>
              <a:rPr lang="en-US" sz="3000" b="1" dirty="0">
                <a:solidFill>
                  <a:srgbClr val="FFFFFF"/>
                </a:solidFill>
                <a:latin typeface="Trebuchet MS" panose="020B0603020202020204" pitchFamily="34" charset="0"/>
                <a:ea typeface="Cambria" pitchFamily="34" charset="-122"/>
                <a:cs typeface="Cambria" pitchFamily="34" charset="-120"/>
              </a:rPr>
              <a:t>Next Steps</a:t>
            </a:r>
            <a:endParaRPr lang="en-US" sz="3000" b="1" dirty="0">
              <a:solidFill>
                <a:srgbClr val="FFFFFF"/>
              </a:solidFill>
              <a:latin typeface="Trebuchet MS" panose="020B0603020202020204" pitchFamily="34" charset="0"/>
              <a:ea typeface="Cambria" pitchFamily="34" charset="-122"/>
              <a:cs typeface="Cambria" pitchFamily="34" charset="-120"/>
            </a:endParaRPr>
          </a:p>
        </p:txBody>
      </p:sp>
      <p:sp>
        <p:nvSpPr>
          <p:cNvPr id="123" name="Text 112"/>
          <p:cNvSpPr/>
          <p:nvPr/>
        </p:nvSpPr>
        <p:spPr>
          <a:xfrm>
            <a:off x="741235" y="24746942"/>
            <a:ext cx="9953096" cy="4047621"/>
          </a:xfrm>
          <a:prstGeom prst="rect">
            <a:avLst/>
          </a:prstGeom>
          <a:noFill/>
          <a:ln/>
        </p:spPr>
        <p:txBody>
          <a:bodyPr wrap="square" lIns="0" tIns="0" rIns="0" bIns="0" rtlCol="0" anchor="t"/>
          <a:lstStyle/>
          <a:p>
            <a:pPr marL="254000" indent="-254000">
              <a:lnSpc>
                <a:spcPct val="120000"/>
              </a:lnSpc>
              <a:spcAft>
                <a:spcPts val="800"/>
              </a:spcAft>
              <a:buSzPct val="100000"/>
              <a:buChar char="•"/>
            </a:pPr>
            <a:r>
              <a:rPr lang="en-US" sz="2400" dirty="0">
                <a:solidFill>
                  <a:srgbClr val="1A1A1A"/>
                </a:solidFill>
                <a:latin typeface="Trebuchet MS" panose="020B0603020202020204" pitchFamily="34" charset="0"/>
                <a:ea typeface="Calibri" pitchFamily="34" charset="-122"/>
                <a:cs typeface="Calibri" pitchFamily="34" charset="-120"/>
              </a:rPr>
              <a:t>Elicit the scenario model with UIS staff in the week of 26 October 2026, and freeze it after staff review of sample incidents.</a:t>
            </a:r>
            <a:endParaRPr lang="en-US" sz="2400" dirty="0">
              <a:solidFill>
                <a:srgbClr val="1A1A1A"/>
              </a:solidFill>
              <a:latin typeface="Trebuchet MS" panose="020B0603020202020204" pitchFamily="34" charset="0"/>
              <a:ea typeface="Calibri" pitchFamily="34" charset="-122"/>
              <a:cs typeface="Calibri" pitchFamily="34" charset="-120"/>
            </a:endParaRPr>
          </a:p>
          <a:p>
            <a:pPr marL="254000" indent="-254000">
              <a:lnSpc>
                <a:spcPct val="120000"/>
              </a:lnSpc>
              <a:spcAft>
                <a:spcPts val="800"/>
              </a:spcAft>
              <a:buSzPct val="100000"/>
              <a:buChar char="•"/>
            </a:pPr>
            <a:r>
              <a:rPr lang="en-US" sz="2400" dirty="0">
                <a:solidFill>
                  <a:srgbClr val="1A1A1A"/>
                </a:solidFill>
                <a:latin typeface="Trebuchet MS" panose="020B0603020202020204" pitchFamily="34" charset="0"/>
                <a:ea typeface="Calibri" pitchFamily="34" charset="-122"/>
                <a:cs typeface="Calibri" pitchFamily="34" charset="-120"/>
              </a:rPr>
              <a:t>Build and test the simulator and rule mechanism, train the agents over ten seeds, run the four experiments, and report the results with a working prototype by 29 November 2026.</a:t>
            </a:r>
            <a:endParaRPr lang="en-US" sz="2400" dirty="0">
              <a:solidFill>
                <a:srgbClr val="1A1A1A"/>
              </a:solidFill>
              <a:latin typeface="Trebuchet MS" panose="020B0603020202020204" pitchFamily="34" charset="0"/>
              <a:ea typeface="Calibri" pitchFamily="34" charset="-122"/>
              <a:cs typeface="Calibri" pitchFamily="34" charset="-120"/>
            </a:endParaRPr>
          </a:p>
        </p:txBody>
      </p:sp>
      <p:sp>
        <p:nvSpPr>
          <p:cNvPr id="124" name="Shape 113"/>
          <p:cNvSpPr/>
          <p:nvPr/>
        </p:nvSpPr>
        <p:spPr>
          <a:xfrm>
            <a:off x="10962129" y="25616146"/>
            <a:ext cx="10252710" cy="4162813"/>
          </a:xfrm>
          <a:prstGeom prst="rect">
            <a:avLst/>
          </a:prstGeom>
          <a:solidFill>
            <a:srgbClr val="FFFFFF"/>
          </a:solidFill>
          <a:ln w="15875">
            <a:solidFill>
              <a:srgbClr val="D9D9D9"/>
            </a:solidFill>
            <a:prstDash val="solid"/>
          </a:ln>
        </p:spPr>
        <p:txBody>
          <a:bodyPr/>
          <a:lstStyle/>
          <a:p>
            <a:endParaRPr lang="en-UG" dirty="0">
              <a:latin typeface="Trebuchet MS" panose="020B0603020202020204" pitchFamily="34" charset="0"/>
            </a:endParaRPr>
          </a:p>
        </p:txBody>
      </p:sp>
      <p:sp>
        <p:nvSpPr>
          <p:cNvPr id="128" name="Shape 117"/>
          <p:cNvSpPr/>
          <p:nvPr/>
        </p:nvSpPr>
        <p:spPr>
          <a:xfrm>
            <a:off x="32085009" y="23814778"/>
            <a:ext cx="9795509" cy="4893572"/>
          </a:xfrm>
          <a:prstGeom prst="rect">
            <a:avLst/>
          </a:prstGeom>
          <a:solidFill>
            <a:srgbClr val="FFFFFF"/>
          </a:solidFill>
          <a:ln w="15875">
            <a:solidFill>
              <a:srgbClr val="D9D9D9"/>
            </a:solidFill>
            <a:prstDash val="solid"/>
          </a:ln>
        </p:spPr>
        <p:txBody>
          <a:bodyPr/>
          <a:lstStyle/>
          <a:p>
            <a:endParaRPr lang="en-UG">
              <a:latin typeface="Trebuchet MS" panose="020B0603020202020204" pitchFamily="34" charset="0"/>
            </a:endParaRPr>
          </a:p>
        </p:txBody>
      </p:sp>
      <p:sp>
        <p:nvSpPr>
          <p:cNvPr id="130" name="Text 119"/>
          <p:cNvSpPr/>
          <p:nvPr/>
        </p:nvSpPr>
        <p:spPr>
          <a:xfrm>
            <a:off x="30668455" y="26453338"/>
            <a:ext cx="13438632" cy="603504"/>
          </a:xfrm>
          <a:prstGeom prst="rect">
            <a:avLst/>
          </a:prstGeom>
          <a:noFill/>
          <a:ln/>
        </p:spPr>
        <p:txBody>
          <a:bodyPr wrap="square" lIns="0" tIns="0" rIns="0" bIns="0" rtlCol="0" anchor="ctr"/>
          <a:lstStyle/>
          <a:p>
            <a:pPr marL="0" indent="0" algn="l">
              <a:buNone/>
            </a:pPr>
            <a:r>
              <a:rPr lang="en-US" sz="1700" b="1" dirty="0">
                <a:solidFill>
                  <a:srgbClr val="FFFFFF"/>
                </a:solidFill>
                <a:latin typeface="Trebuchet MS" panose="020B0603020202020204" pitchFamily="34" charset="0"/>
                <a:ea typeface="Cambria" pitchFamily="34" charset="-122"/>
                <a:cs typeface="Cambria" pitchFamily="34" charset="-120"/>
              </a:rPr>
              <a:t>Additional Information</a:t>
            </a:r>
            <a:endParaRPr lang="en-US" sz="1700" dirty="0">
              <a:latin typeface="Trebuchet MS" panose="020B0603020202020204" pitchFamily="34" charset="0"/>
            </a:endParaRPr>
          </a:p>
        </p:txBody>
      </p:sp>
      <p:sp>
        <p:nvSpPr>
          <p:cNvPr id="129" name="Shape 118"/>
          <p:cNvSpPr/>
          <p:nvPr/>
        </p:nvSpPr>
        <p:spPr>
          <a:xfrm>
            <a:off x="32085010" y="23829229"/>
            <a:ext cx="9756419" cy="735649"/>
          </a:xfrm>
          <a:prstGeom prst="rect">
            <a:avLst/>
          </a:prstGeom>
          <a:solidFill>
            <a:srgbClr val="0070C0"/>
          </a:solidFill>
          <a:ln/>
        </p:spPr>
        <p:txBody>
          <a:bodyPr/>
          <a:lstStyle/>
          <a:p>
            <a:r>
              <a:rPr lang="en-US" sz="3000" b="1" dirty="0">
                <a:solidFill>
                  <a:srgbClr val="FFFFFF"/>
                </a:solidFill>
                <a:latin typeface="Trebuchet MS" panose="020B0603020202020204" pitchFamily="34" charset="0"/>
                <a:ea typeface="Cambria" pitchFamily="34" charset="-122"/>
              </a:rPr>
              <a:t>Other information</a:t>
            </a:r>
            <a:endParaRPr lang="en-US" sz="3000" dirty="0">
              <a:latin typeface="Trebuchet MS" panose="020B0603020202020204" pitchFamily="34" charset="0"/>
            </a:endParaRPr>
          </a:p>
        </p:txBody>
      </p:sp>
      <p:sp>
        <p:nvSpPr>
          <p:cNvPr id="131" name="Text 120"/>
          <p:cNvSpPr/>
          <p:nvPr/>
        </p:nvSpPr>
        <p:spPr>
          <a:xfrm>
            <a:off x="32284175" y="24715065"/>
            <a:ext cx="9049741" cy="2425776"/>
          </a:xfrm>
          <a:prstGeom prst="rect">
            <a:avLst/>
          </a:prstGeom>
          <a:noFill/>
          <a:ln/>
        </p:spPr>
        <p:txBody>
          <a:bodyPr wrap="square" lIns="0" tIns="0" rIns="0" bIns="0" rtlCol="0" anchor="t"/>
          <a:lstStyle/>
          <a:p>
            <a:pPr marL="0" indent="0">
              <a:lnSpc>
                <a:spcPct val="128000"/>
              </a:lnSpc>
              <a:buNone/>
            </a:pPr>
            <a:r>
              <a:rPr lang="en-US" sz="2400" b="1" dirty="0">
                <a:solidFill>
                  <a:srgbClr val="1A1A1A"/>
                </a:solidFill>
                <a:latin typeface="Trebuchet MS" panose="020B0603020202020204" pitchFamily="34" charset="0"/>
              </a:rPr>
              <a:t>Contacts       </a:t>
            </a:r>
            <a:endParaRPr lang="en-US" sz="2400" b="1" dirty="0">
              <a:solidFill>
                <a:srgbClr val="1A1A1A"/>
              </a:solidFill>
              <a:latin typeface="Trebuchet MS" panose="020B0603020202020204" pitchFamily="34" charset="0"/>
            </a:endParaRPr>
          </a:p>
          <a:p>
            <a:pPr marL="0" indent="0">
              <a:lnSpc>
                <a:spcPct val="128000"/>
              </a:lnSpc>
              <a:buNone/>
            </a:pPr>
            <a:r>
              <a:rPr lang="en-US" sz="2400" dirty="0">
                <a:solidFill>
                  <a:srgbClr val="1A1A1A"/>
                </a:solidFill>
                <a:latin typeface="Trebuchet MS" panose="020B0603020202020204" pitchFamily="34" charset="0"/>
              </a:rPr>
              <a:t>Email: </a:t>
            </a:r>
            <a:r>
              <a:rPr lang="en-US" sz="2400" dirty="0">
                <a:solidFill>
                  <a:srgbClr val="1A1A1A"/>
                </a:solidFill>
                <a:latin typeface="Trebuchet MS" panose="020B0603020202020204" pitchFamily="34" charset="0"/>
                <a:hlinkClick r:id="rId8"/>
              </a:rPr>
              <a:t>charisopol@gmail.com</a:t>
            </a:r>
            <a:r>
              <a:rPr lang="en-US" sz="2400" dirty="0">
                <a:solidFill>
                  <a:srgbClr val="1A1A1A"/>
                </a:solidFill>
                <a:latin typeface="Trebuchet MS" panose="020B0603020202020204" pitchFamily="34" charset="0"/>
              </a:rPr>
              <a:t>	Phone: 0765821211
</a:t>
            </a:r>
            <a:r>
              <a:rPr lang="en-US" sz="2400" b="1" dirty="0">
                <a:solidFill>
                  <a:srgbClr val="1A1A1A"/>
                </a:solidFill>
                <a:latin typeface="Trebuchet MS" panose="020B0603020202020204" pitchFamily="34" charset="0"/>
              </a:rPr>
              <a:t>Key References
</a:t>
            </a:r>
            <a:r>
              <a:rPr lang="en-US" sz="2400" dirty="0">
                <a:solidFill>
                  <a:srgbClr val="1A1A1A"/>
                </a:solidFill>
                <a:latin typeface="Trebuchet MS" panose="020B0603020202020204" pitchFamily="34" charset="0"/>
              </a:rPr>
              <a:t>1. Z. Chen et al., “Towards intelligent incident management: Why we need it and how we make it,” ESEC/FSE, 2020.
2. M. Alshiekh et al., “Safe reinforcement learning via shielding,” AAAI, 2018.</a:t>
            </a:r>
            <a:endParaRPr lang="en-US" sz="2400" b="1" dirty="0">
              <a:solidFill>
                <a:srgbClr val="1A1A1A"/>
              </a:solidFill>
              <a:latin typeface="Trebuchet MS" panose="020B0603020202020204" pitchFamily="34" charset="0"/>
            </a:endParaRPr>
          </a:p>
        </p:txBody>
      </p:sp>
      <p:sp>
        <p:nvSpPr>
          <p:cNvPr id="30" name="Shape 26"/>
          <p:cNvSpPr/>
          <p:nvPr/>
        </p:nvSpPr>
        <p:spPr>
          <a:xfrm>
            <a:off x="10886180" y="3511042"/>
            <a:ext cx="10252710" cy="603504"/>
          </a:xfrm>
          <a:prstGeom prst="rect">
            <a:avLst/>
          </a:prstGeom>
          <a:solidFill>
            <a:srgbClr val="0070C0"/>
          </a:solidFill>
          <a:ln/>
        </p:spPr>
        <p:txBody>
          <a:bodyPr/>
          <a:lstStyle/>
          <a:p>
            <a:r>
              <a:rPr lang="en-US" sz="3000" b="1" dirty="0">
                <a:solidFill>
                  <a:srgbClr val="FFFFFF"/>
                </a:solidFill>
                <a:latin typeface="Trebuchet MS" panose="020B0603020202020204" pitchFamily="34" charset="0"/>
                <a:ea typeface="Cambria" pitchFamily="34" charset="-122"/>
                <a:cs typeface="Cambria" pitchFamily="34" charset="-120"/>
              </a:rPr>
              <a:t>Conceptual Framework</a:t>
            </a:r>
            <a:endParaRPr lang="en-US" sz="3000" b="1" dirty="0">
              <a:solidFill>
                <a:srgbClr val="FFFFFF"/>
              </a:solidFill>
              <a:latin typeface="Trebuchet MS" panose="020B0603020202020204" pitchFamily="34" charset="0"/>
              <a:ea typeface="Cambria" pitchFamily="34" charset="-122"/>
              <a:cs typeface="Cambria" pitchFamily="34" charset="-120"/>
            </a:endParaRPr>
          </a:p>
        </p:txBody>
      </p:sp>
      <p:pic>
        <p:nvPicPr>
          <p:cNvPr id="133" name="Picture 132">
            <a:extLst>
              <a:ext uri="{FF2B5EF4-FFF2-40B4-BE49-F238E27FC236}">
                <a16:creationId xmlns:a16="http://schemas.microsoft.com/office/drawing/2014/main" id="{4436C311-5BEF-E12E-B4E9-5E27D437AC0D}"/>
              </a:ext>
            </a:extLst>
          </p:cNvPr>
          <p:cNvPicPr>
            <a:picLocks noChangeAspect="1"/>
          </p:cNvPicPr>
          <p:nvPr/>
        </p:nvPicPr>
        <p:blipFill>
          <a:blip r:embed="rId12"/>
          <a:stretch>
            <a:fillRect/>
          </a:stretch>
        </p:blipFill>
        <p:spPr>
          <a:xfrm>
            <a:off x="11027664" y="5132154"/>
            <a:ext cx="10030968" cy="5737690"/>
          </a:xfrm>
          <a:prstGeom prst="rect">
            <a:avLst/>
          </a:prstGeom>
        </p:spPr>
      </p:pic>
      <p:pic>
        <p:nvPicPr>
          <p:cNvPr id="146" name="Picture 145">
            <a:extLst>
              <a:ext uri="{FF2B5EF4-FFF2-40B4-BE49-F238E27FC236}">
                <a16:creationId xmlns:a16="http://schemas.microsoft.com/office/drawing/2014/main" id="{296DF68C-F6FA-CCD5-0048-A5FFBBC461E2}"/>
              </a:ext>
            </a:extLst>
          </p:cNvPr>
          <p:cNvPicPr>
            <a:picLocks noChangeAspect="1"/>
          </p:cNvPicPr>
          <p:nvPr/>
        </p:nvPicPr>
        <p:blipFill>
          <a:blip r:embed="rId13"/>
          <a:stretch>
            <a:fillRect/>
          </a:stretch>
        </p:blipFill>
        <p:spPr>
          <a:xfrm>
            <a:off x="21780351" y="9144000"/>
            <a:ext cx="9392200" cy="5623560"/>
          </a:xfrm>
          <a:prstGeom prst="rect">
            <a:avLst/>
          </a:prstGeom>
        </p:spPr>
      </p:pic>
      <p:graphicFrame>
        <p:nvGraphicFramePr>
          <p:cNvPr id="147" name="Table 146">
            <a:extLst>
              <a:ext uri="{FF2B5EF4-FFF2-40B4-BE49-F238E27FC236}">
                <a16:creationId xmlns:a16="http://schemas.microsoft.com/office/drawing/2014/main" id="{8682BF91-3F88-41FC-F03C-71738200824B}"/>
              </a:ext>
            </a:extLst>
          </p:cNvPr>
          <p:cNvGraphicFramePr>
            <a:graphicFrameLocks noGrp="1"/>
          </p:cNvGraphicFramePr>
          <p:nvPr>
            <p:extLst>
              <p:ext uri="{D42A27DB-BD31-4B8C-83A1-F6EECF244321}">
                <p14:modId xmlns:p14="http://schemas.microsoft.com/office/powerpoint/2010/main" val="2684382395"/>
              </p:ext>
            </p:extLst>
          </p:nvPr>
        </p:nvGraphicFramePr>
        <p:xfrm>
          <a:off x="21724721" y="4893534"/>
          <a:ext cx="9795513" cy="3661794"/>
        </p:xfrm>
        <a:graphic>
          <a:graphicData uri="http://schemas.openxmlformats.org/drawingml/2006/table">
            <a:tbl>
              <a:tblPr/>
              <a:tblGrid>
                <a:gridCol w="1399359">
                  <a:extLst>
                    <a:ext uri="{9D8B030D-6E8A-4147-A177-3AD203B41FA5}">
                      <a16:colId xmlns:a16="http://schemas.microsoft.com/office/drawing/2014/main" val="2164296859"/>
                    </a:ext>
                  </a:extLst>
                </a:gridCol>
                <a:gridCol w="1399359">
                  <a:extLst>
                    <a:ext uri="{9D8B030D-6E8A-4147-A177-3AD203B41FA5}">
                      <a16:colId xmlns:a16="http://schemas.microsoft.com/office/drawing/2014/main" val="2140312184"/>
                    </a:ext>
                  </a:extLst>
                </a:gridCol>
                <a:gridCol w="1399359">
                  <a:extLst>
                    <a:ext uri="{9D8B030D-6E8A-4147-A177-3AD203B41FA5}">
                      <a16:colId xmlns:a16="http://schemas.microsoft.com/office/drawing/2014/main" val="4234376391"/>
                    </a:ext>
                  </a:extLst>
                </a:gridCol>
                <a:gridCol w="1399359">
                  <a:extLst>
                    <a:ext uri="{9D8B030D-6E8A-4147-A177-3AD203B41FA5}">
                      <a16:colId xmlns:a16="http://schemas.microsoft.com/office/drawing/2014/main" val="2453701041"/>
                    </a:ext>
                  </a:extLst>
                </a:gridCol>
                <a:gridCol w="1399359">
                  <a:extLst>
                    <a:ext uri="{9D8B030D-6E8A-4147-A177-3AD203B41FA5}">
                      <a16:colId xmlns:a16="http://schemas.microsoft.com/office/drawing/2014/main" val="1005156062"/>
                    </a:ext>
                  </a:extLst>
                </a:gridCol>
                <a:gridCol w="1399359">
                  <a:extLst>
                    <a:ext uri="{9D8B030D-6E8A-4147-A177-3AD203B41FA5}">
                      <a16:colId xmlns:a16="http://schemas.microsoft.com/office/drawing/2014/main" val="2524974803"/>
                    </a:ext>
                  </a:extLst>
                </a:gridCol>
                <a:gridCol w="1399359">
                  <a:extLst>
                    <a:ext uri="{9D8B030D-6E8A-4147-A177-3AD203B41FA5}">
                      <a16:colId xmlns:a16="http://schemas.microsoft.com/office/drawing/2014/main" val="62890028"/>
                    </a:ext>
                  </a:extLst>
                </a:gridCol>
              </a:tblGrid>
              <a:tr h="284896">
                <a:tc>
                  <a:txBody>
                    <a:bodyPr/>
                    <a:lstStyle/>
                    <a:p>
                      <a:pPr>
                        <a:buNone/>
                      </a:pPr>
                      <a:r>
                        <a:rPr lang="en-UG" sz="1400" dirty="0"/>
                        <a:t>Policy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a:t>Gathers evidence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a:t>Recommends fix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dirty="0"/>
                        <a:t>Escalates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a:t>Rule mechanism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a:t>Learns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a:t>Role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17066538"/>
                  </a:ext>
                </a:extLst>
              </a:tr>
              <a:tr h="284896">
                <a:tc>
                  <a:txBody>
                    <a:bodyPr/>
                    <a:lstStyle/>
                    <a:p>
                      <a:pPr>
                        <a:buNone/>
                      </a:pPr>
                      <a:r>
                        <a:rPr lang="en-UG" sz="1400" b="1"/>
                        <a:t>Proposed agent</a:t>
                      </a:r>
                      <a:endParaRPr lang="en-UG" sz="14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b="1"/>
                        <a:t>✓</a:t>
                      </a:r>
                      <a:endParaRPr lang="en-UG" sz="14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b="1"/>
                        <a:t>✓</a:t>
                      </a:r>
                      <a:endParaRPr lang="en-UG" sz="14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b="1"/>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b="1"/>
                        <a:t>✓</a:t>
                      </a:r>
                      <a:endParaRPr lang="en-UG" sz="14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b="1"/>
                        <a:t>✓</a:t>
                      </a:r>
                      <a:endParaRPr lang="en-UG" sz="14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b="1"/>
                        <a:t>Proposed</a:t>
                      </a:r>
                      <a:endParaRPr lang="en-UG" sz="14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35133189"/>
                  </a:ext>
                </a:extLst>
              </a:tr>
              <a:tr h="479825">
                <a:tc>
                  <a:txBody>
                    <a:bodyPr/>
                    <a:lstStyle/>
                    <a:p>
                      <a:pPr>
                        <a:buNone/>
                      </a:pPr>
                      <a:r>
                        <a:rPr lang="en-UG" sz="1400"/>
                        <a:t>Initial-symptom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a:t>Single prediction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19251579"/>
                  </a:ext>
                </a:extLst>
              </a:tr>
              <a:tr h="479825">
                <a:tc>
                  <a:txBody>
                    <a:bodyPr/>
                    <a:lstStyle/>
                    <a:p>
                      <a:pPr>
                        <a:buNone/>
                      </a:pPr>
                      <a:r>
                        <a:rPr lang="en-UG" sz="1400"/>
                        <a:t>Scripted checklist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a:t>Runbook practice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229403624"/>
                  </a:ext>
                </a:extLst>
              </a:tr>
              <a:tr h="479825">
                <a:tc>
                  <a:txBody>
                    <a:bodyPr/>
                    <a:lstStyle/>
                    <a:p>
                      <a:pPr>
                        <a:buNone/>
                      </a:pPr>
                      <a:r>
                        <a:rPr lang="en-UG" sz="1400" dirty="0"/>
                        <a:t>Always-escalate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b="1"/>
                        <a:t>✓</a:t>
                      </a:r>
                      <a:endParaRPr lang="en-UG" sz="14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a:t>Limit of deferral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24751162"/>
                  </a:ext>
                </a:extLst>
              </a:tr>
              <a:tr h="674754">
                <a:tc>
                  <a:txBody>
                    <a:bodyPr/>
                    <a:lstStyle/>
                    <a:p>
                      <a:pPr>
                        <a:buNone/>
                      </a:pPr>
                      <a:r>
                        <a:rPr lang="en-UG" sz="1400"/>
                        <a:t>Confidence threshold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b="1"/>
                        <a:t>✓</a:t>
                      </a:r>
                      <a:endParaRPr lang="en-UG" sz="14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dirty="0"/>
                        <a:t>Knows the model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90581424"/>
                  </a:ext>
                </a:extLst>
              </a:tr>
              <a:tr h="284896">
                <a:tc>
                  <a:txBody>
                    <a:bodyPr/>
                    <a:lstStyle/>
                    <a:p>
                      <a:pPr>
                        <a:buNone/>
                      </a:pPr>
                      <a:r>
                        <a:rPr lang="en-UG" sz="1400"/>
                        <a:t>Unconstrained agent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a:t>Shield test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47211522"/>
                  </a:ext>
                </a:extLst>
              </a:tr>
              <a:tr h="479825">
                <a:tc>
                  <a:txBody>
                    <a:bodyPr/>
                    <a:lstStyle/>
                    <a:p>
                      <a:pPr>
                        <a:buNone/>
                      </a:pPr>
                      <a:r>
                        <a:rPr lang="en-UG" sz="1400"/>
                        <a:t>Penalty-only agent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dirty="0"/>
                        <a:t>Penalty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G" sz="1400" dirty="0"/>
                        <a:t>Penalty test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8033322"/>
                  </a:ext>
                </a:extLst>
              </a:tr>
            </a:tbl>
          </a:graphicData>
        </a:graphic>
      </p:graphicFrame>
      <p:sp>
        <p:nvSpPr>
          <p:cNvPr id="90" name="Shape 83"/>
          <p:cNvSpPr/>
          <p:nvPr/>
        </p:nvSpPr>
        <p:spPr>
          <a:xfrm>
            <a:off x="21560129" y="16833347"/>
            <a:ext cx="10252710" cy="789417"/>
          </a:xfrm>
          <a:prstGeom prst="rect">
            <a:avLst/>
          </a:prstGeom>
          <a:solidFill>
            <a:srgbClr val="C0392B"/>
          </a:solidFill>
          <a:ln/>
        </p:spPr>
        <p:txBody>
          <a:bodyPr/>
          <a:lstStyle/>
          <a:p>
            <a:endParaRPr lang="en-UG">
              <a:latin typeface="Trebuchet MS" panose="020B0603020202020204" pitchFamily="34" charset="0"/>
            </a:endParaRPr>
          </a:p>
        </p:txBody>
      </p:sp>
      <p:sp>
        <p:nvSpPr>
          <p:cNvPr id="91" name="Text 84"/>
          <p:cNvSpPr/>
          <p:nvPr/>
        </p:nvSpPr>
        <p:spPr>
          <a:xfrm>
            <a:off x="21724721" y="16833347"/>
            <a:ext cx="9923526" cy="789417"/>
          </a:xfrm>
          <a:prstGeom prst="rect">
            <a:avLst/>
          </a:prstGeom>
          <a:noFill/>
          <a:ln/>
        </p:spPr>
        <p:txBody>
          <a:bodyPr wrap="square" lIns="0" tIns="0" rIns="0" bIns="0" rtlCol="0" anchor="ctr"/>
          <a:lstStyle/>
          <a:p>
            <a:pPr marL="0" indent="0" algn="l">
              <a:buNone/>
            </a:pPr>
            <a:r>
              <a:rPr lang="en-US" sz="3000" b="1" dirty="0">
                <a:solidFill>
                  <a:srgbClr val="FFFFFF"/>
                </a:solidFill>
                <a:latin typeface="Trebuchet MS" panose="020B0603020202020204" pitchFamily="34" charset="0"/>
                <a:ea typeface="Cambria" pitchFamily="34" charset="-122"/>
                <a:cs typeface="Cambria" pitchFamily="34" charset="-120"/>
              </a:rPr>
              <a:t>Research Gap</a:t>
            </a:r>
            <a:endParaRPr lang="en-US" sz="3000" b="1" dirty="0">
              <a:solidFill>
                <a:srgbClr val="FFFFFF"/>
              </a:solidFill>
              <a:latin typeface="Trebuchet MS" panose="020B0603020202020204" pitchFamily="34" charset="0"/>
              <a:ea typeface="Cambria" pitchFamily="34" charset="-122"/>
              <a:cs typeface="Cambria" pitchFamily="34" charset="-120"/>
            </a:endParaRPr>
          </a:p>
        </p:txBody>
      </p:sp>
      <p:sp>
        <p:nvSpPr>
          <p:cNvPr id="92" name="Text 85"/>
          <p:cNvSpPr/>
          <p:nvPr/>
        </p:nvSpPr>
        <p:spPr>
          <a:xfrm>
            <a:off x="21788729" y="17909825"/>
            <a:ext cx="9795510" cy="1191737"/>
          </a:xfrm>
          <a:prstGeom prst="rect">
            <a:avLst/>
          </a:prstGeom>
          <a:noFill/>
          <a:ln/>
        </p:spPr>
        <p:txBody>
          <a:bodyPr wrap="square" lIns="0" tIns="0" rIns="0" bIns="0" rtlCol="0" anchor="t"/>
          <a:lstStyle/>
          <a:p>
            <a:pPr marL="0" indent="0" algn="l">
              <a:lnSpc>
                <a:spcPct val="122000"/>
              </a:lnSpc>
              <a:buNone/>
            </a:pPr>
            <a:r>
              <a:rPr lang="en-US" sz="2400" dirty="0">
                <a:solidFill>
                  <a:srgbClr val="1A1A1A"/>
                </a:solidFill>
                <a:latin typeface="Trebuchet MS" panose="020B0603020202020204" pitchFamily="34" charset="0"/>
                <a:ea typeface="Calibri" pitchFamily="34" charset="-122"/>
                <a:cs typeface="Calibri" pitchFamily="34" charset="-120"/>
              </a:rPr>
              <a:t>A PRISMA 2020 systematic review of Scopus, the ACM Digital Library and IEEE Xplore (4,399 records) included 34 studies of RL for IT and security incidents. Each part of the planned agent appears somewhere, but not together:</a:t>
            </a:r>
            <a:endParaRPr lang="en-US" sz="2400" dirty="0">
              <a:solidFill>
                <a:srgbClr val="1A1A1A"/>
              </a:solidFill>
              <a:latin typeface="Trebuchet MS" panose="020B0603020202020204" pitchFamily="34" charset="0"/>
              <a:ea typeface="Calibri" pitchFamily="34" charset="-122"/>
              <a:cs typeface="Calibri" pitchFamily="34" charset="-120"/>
            </a:endParaRPr>
          </a:p>
          <a:p>
            <a:pPr marL="0" indent="0" algn="l">
              <a:lnSpc>
                <a:spcPct val="122000"/>
              </a:lnSpc>
              <a:buNone/>
            </a:pPr>
            <a:endParaRPr lang="en-US" sz="2400" dirty="0">
              <a:solidFill>
                <a:srgbClr val="1A1A1A"/>
              </a:solidFill>
              <a:latin typeface="Trebuchet MS" panose="020B0603020202020204" pitchFamily="34" charset="0"/>
              <a:ea typeface="Calibri" pitchFamily="34" charset="-122"/>
              <a:cs typeface="Calibri" pitchFamily="34" charset="-120"/>
            </a:endParaRPr>
          </a:p>
          <a:p>
            <a:pPr marL="0" indent="0" algn="l">
              <a:lnSpc>
                <a:spcPct val="122000"/>
              </a:lnSpc>
              <a:buNone/>
            </a:pPr>
            <a:endParaRPr lang="en-US" sz="2400" dirty="0">
              <a:solidFill>
                <a:srgbClr val="1A1A1A"/>
              </a:solidFill>
              <a:latin typeface="Trebuchet MS" panose="020B0603020202020204" pitchFamily="34" charset="0"/>
              <a:ea typeface="Calibri" pitchFamily="34" charset="-122"/>
              <a:cs typeface="Calibri" pitchFamily="34" charset="-120"/>
            </a:endParaRPr>
          </a:p>
          <a:p>
            <a:pPr marL="0" indent="0" algn="l">
              <a:lnSpc>
                <a:spcPct val="122000"/>
              </a:lnSpc>
              <a:buNone/>
            </a:pPr>
            <a:endParaRPr lang="en-US" sz="2400" dirty="0">
              <a:solidFill>
                <a:srgbClr val="1A1A1A"/>
              </a:solidFill>
              <a:latin typeface="Trebuchet MS" panose="020B0603020202020204" pitchFamily="34" charset="0"/>
              <a:ea typeface="Calibri" pitchFamily="34" charset="-122"/>
              <a:cs typeface="Calibri" pitchFamily="34" charset="-120"/>
            </a:endParaRPr>
          </a:p>
          <a:p>
            <a:pPr marL="0" indent="0" algn="l">
              <a:lnSpc>
                <a:spcPct val="122000"/>
              </a:lnSpc>
              <a:buNone/>
            </a:pPr>
            <a:endParaRPr lang="en-US" sz="2400" dirty="0">
              <a:solidFill>
                <a:srgbClr val="1A1A1A"/>
              </a:solidFill>
              <a:latin typeface="Trebuchet MS" panose="020B0603020202020204" pitchFamily="34" charset="0"/>
              <a:ea typeface="Calibri" pitchFamily="34" charset="-122"/>
              <a:cs typeface="Calibri" pitchFamily="34" charset="-120"/>
            </a:endParaRPr>
          </a:p>
          <a:p>
            <a:pPr marL="0" indent="0" algn="l">
              <a:lnSpc>
                <a:spcPct val="122000"/>
              </a:lnSpc>
              <a:buNone/>
            </a:pPr>
            <a:endParaRPr lang="en-US" sz="2400" dirty="0">
              <a:solidFill>
                <a:srgbClr val="1A1A1A"/>
              </a:solidFill>
              <a:latin typeface="Trebuchet MS" panose="020B0603020202020204" pitchFamily="34" charset="0"/>
              <a:ea typeface="Calibri" pitchFamily="34" charset="-122"/>
              <a:cs typeface="Calibri" pitchFamily="34" charset="-120"/>
            </a:endParaRPr>
          </a:p>
          <a:p>
            <a:pPr marL="0" indent="0" algn="l">
              <a:lnSpc>
                <a:spcPct val="122000"/>
              </a:lnSpc>
              <a:buNone/>
            </a:pPr>
            <a:endParaRPr lang="en-US" sz="2400" dirty="0">
              <a:solidFill>
                <a:srgbClr val="1A1A1A"/>
              </a:solidFill>
              <a:latin typeface="Trebuchet MS" panose="020B0603020202020204" pitchFamily="34" charset="0"/>
              <a:ea typeface="Calibri" pitchFamily="34" charset="-122"/>
              <a:cs typeface="Calibri" pitchFamily="34" charset="-120"/>
            </a:endParaRPr>
          </a:p>
          <a:p>
            <a:pPr marL="0" indent="0" algn="l">
              <a:lnSpc>
                <a:spcPct val="122000"/>
              </a:lnSpc>
              <a:buNone/>
            </a:pPr>
            <a:endParaRPr lang="en-US" sz="2400" dirty="0">
              <a:solidFill>
                <a:srgbClr val="1A1A1A"/>
              </a:solidFill>
              <a:latin typeface="Trebuchet MS" panose="020B0603020202020204" pitchFamily="34" charset="0"/>
              <a:ea typeface="Calibri" pitchFamily="34" charset="-122"/>
              <a:cs typeface="Calibri" pitchFamily="34" charset="-120"/>
            </a:endParaRPr>
          </a:p>
          <a:p>
            <a:pPr marL="0" indent="0" algn="l">
              <a:lnSpc>
                <a:spcPct val="122000"/>
              </a:lnSpc>
              <a:buNone/>
            </a:pPr>
            <a:endParaRPr lang="en-US" sz="2400" dirty="0">
              <a:solidFill>
                <a:srgbClr val="1A1A1A"/>
              </a:solidFill>
              <a:latin typeface="Trebuchet MS" panose="020B0603020202020204" pitchFamily="34" charset="0"/>
              <a:ea typeface="Calibri" pitchFamily="34" charset="-122"/>
              <a:cs typeface="Calibri" pitchFamily="34" charset="-120"/>
            </a:endParaRPr>
          </a:p>
          <a:p>
            <a:pPr marL="0" indent="0" algn="l">
              <a:lnSpc>
                <a:spcPct val="122000"/>
              </a:lnSpc>
              <a:buNone/>
            </a:pPr>
            <a:endParaRPr lang="en-US" sz="2400" dirty="0">
              <a:solidFill>
                <a:srgbClr val="1A1A1A"/>
              </a:solidFill>
              <a:latin typeface="Trebuchet MS" panose="020B0603020202020204" pitchFamily="34" charset="0"/>
              <a:ea typeface="Calibri" pitchFamily="34" charset="-122"/>
              <a:cs typeface="Calibri" pitchFamily="34" charset="-120"/>
            </a:endParaRPr>
          </a:p>
          <a:p>
            <a:pPr marL="0" indent="0" algn="l">
              <a:lnSpc>
                <a:spcPct val="122000"/>
              </a:lnSpc>
              <a:buNone/>
            </a:pPr>
            <a:endParaRPr lang="en-US" sz="2400" dirty="0">
              <a:solidFill>
                <a:srgbClr val="1A1A1A"/>
              </a:solidFill>
              <a:latin typeface="Trebuchet MS" panose="020B0603020202020204" pitchFamily="34" charset="0"/>
              <a:ea typeface="Calibri" pitchFamily="34" charset="-122"/>
              <a:cs typeface="Calibri" pitchFamily="34" charset="-120"/>
            </a:endParaRPr>
          </a:p>
          <a:p>
            <a:pPr marL="0" indent="0" algn="l">
              <a:lnSpc>
                <a:spcPct val="122000"/>
              </a:lnSpc>
              <a:buNone/>
            </a:pPr>
            <a:endParaRPr lang="en-US" sz="2400" dirty="0">
              <a:solidFill>
                <a:srgbClr val="1A1A1A"/>
              </a:solidFill>
              <a:latin typeface="Trebuchet MS" panose="020B0603020202020204" pitchFamily="34" charset="0"/>
              <a:ea typeface="Calibri" pitchFamily="34" charset="-122"/>
              <a:cs typeface="Calibri" pitchFamily="34" charset="-120"/>
            </a:endParaRPr>
          </a:p>
          <a:p>
            <a:pPr marL="0" indent="0" algn="l">
              <a:lnSpc>
                <a:spcPct val="122000"/>
              </a:lnSpc>
              <a:buNone/>
            </a:pPr>
            <a:endParaRPr lang="en-US" sz="2400" dirty="0">
              <a:solidFill>
                <a:srgbClr val="1A1A1A"/>
              </a:solidFill>
              <a:latin typeface="Trebuchet MS" panose="020B0603020202020204" pitchFamily="34" charset="0"/>
              <a:ea typeface="Calibri" pitchFamily="34" charset="-122"/>
              <a:cs typeface="Calibri" pitchFamily="34" charset="-120"/>
            </a:endParaRPr>
          </a:p>
        </p:txBody>
      </p:sp>
      <p:sp>
        <p:nvSpPr>
          <p:cNvPr id="95" name="Text 87"/>
          <p:cNvSpPr/>
          <p:nvPr/>
        </p:nvSpPr>
        <p:spPr>
          <a:xfrm>
            <a:off x="21788729" y="26229310"/>
            <a:ext cx="9795510" cy="3739697"/>
          </a:xfrm>
          <a:prstGeom prst="rect">
            <a:avLst/>
          </a:prstGeom>
          <a:noFill/>
          <a:ln/>
        </p:spPr>
        <p:txBody>
          <a:bodyPr wrap="square" lIns="0" tIns="0" rIns="0" bIns="0" rtlCol="0" anchor="t"/>
          <a:lstStyle/>
          <a:p>
            <a:pPr marL="254000" indent="-254000">
              <a:lnSpc>
                <a:spcPct val="120000"/>
              </a:lnSpc>
              <a:spcAft>
                <a:spcPts val="900"/>
              </a:spcAft>
              <a:buSzPct val="100000"/>
              <a:buChar char="•"/>
            </a:pPr>
            <a:r>
              <a:rPr lang="en-US" sz="2400" dirty="0">
                <a:solidFill>
                  <a:srgbClr val="1A1A1A"/>
                </a:solidFill>
                <a:latin typeface="Trebuchet MS" panose="020B0603020202020204" pitchFamily="34" charset="0"/>
                <a:ea typeface="Calibri" pitchFamily="34" charset="-122"/>
                <a:cs typeface="Calibri" pitchFamily="34" charset="-120"/>
              </a:rPr>
              <a:t>Security alert-triage agents gather evidence and escalate, but none recommends a fix that changes the system.</a:t>
            </a:r>
            <a:endParaRPr lang="en-US" sz="2400" dirty="0">
              <a:solidFill>
                <a:srgbClr val="1A1A1A"/>
              </a:solidFill>
              <a:latin typeface="Trebuchet MS" panose="020B0603020202020204" pitchFamily="34" charset="0"/>
              <a:ea typeface="Calibri" pitchFamily="34" charset="-122"/>
              <a:cs typeface="Calibri" pitchFamily="34" charset="-120"/>
            </a:endParaRPr>
          </a:p>
          <a:p>
            <a:pPr marL="254000" indent="-254000">
              <a:lnSpc>
                <a:spcPct val="120000"/>
              </a:lnSpc>
              <a:spcAft>
                <a:spcPts val="900"/>
              </a:spcAft>
              <a:buSzPct val="100000"/>
              <a:buChar char="•"/>
            </a:pPr>
            <a:r>
              <a:rPr lang="en-US" sz="2400" dirty="0">
                <a:solidFill>
                  <a:srgbClr val="1A1A1A"/>
                </a:solidFill>
                <a:latin typeface="Trebuchet MS" panose="020B0603020202020204" pitchFamily="34" charset="0"/>
                <a:ea typeface="Calibri" pitchFamily="34" charset="-122"/>
                <a:cs typeface="Calibri" pitchFamily="34" charset="-120"/>
              </a:rPr>
              <a:t>Only 3 studies say what happens to a blocked action, and none lets the agent propose again.</a:t>
            </a:r>
            <a:endParaRPr lang="en-US" sz="2400" dirty="0">
              <a:solidFill>
                <a:srgbClr val="1A1A1A"/>
              </a:solidFill>
              <a:latin typeface="Trebuchet MS" panose="020B0603020202020204" pitchFamily="34" charset="0"/>
              <a:ea typeface="Calibri" pitchFamily="34" charset="-122"/>
              <a:cs typeface="Calibri" pitchFamily="34" charset="-120"/>
            </a:endParaRPr>
          </a:p>
          <a:p>
            <a:pPr marL="254000" indent="-254000">
              <a:lnSpc>
                <a:spcPct val="120000"/>
              </a:lnSpc>
              <a:spcAft>
                <a:spcPts val="900"/>
              </a:spcAft>
              <a:buSzPct val="100000"/>
              <a:buChar char="•"/>
            </a:pPr>
            <a:r>
              <a:rPr lang="en-US" sz="2400" dirty="0">
                <a:solidFill>
                  <a:srgbClr val="1A1A1A"/>
                </a:solidFill>
                <a:latin typeface="Trebuchet MS" panose="020B0603020202020204" pitchFamily="34" charset="0"/>
                <a:ea typeface="Calibri" pitchFamily="34" charset="-122"/>
                <a:cs typeface="Calibri" pitchFamily="34" charset="-120"/>
              </a:rPr>
              <a:t>No study measures how the mix of investigating, acting and escalating changes as ambiguity rises.</a:t>
            </a:r>
            <a:endParaRPr lang="en-US" sz="2400" dirty="0">
              <a:solidFill>
                <a:srgbClr val="1A1A1A"/>
              </a:solidFill>
              <a:latin typeface="Trebuchet MS" panose="020B0603020202020204" pitchFamily="34" charset="0"/>
              <a:ea typeface="Calibri" pitchFamily="34" charset="-122"/>
              <a:cs typeface="Calibri" pitchFamily="34" charset="-120"/>
            </a:endParaRPr>
          </a:p>
        </p:txBody>
      </p:sp>
      <p:pic>
        <p:nvPicPr>
          <p:cNvPr id="149" name="Picture 148">
            <a:extLst>
              <a:ext uri="{FF2B5EF4-FFF2-40B4-BE49-F238E27FC236}">
                <a16:creationId xmlns:a16="http://schemas.microsoft.com/office/drawing/2014/main" id="{73E4AF83-1CE4-728B-5FE5-155BFB757830}"/>
              </a:ext>
            </a:extLst>
          </p:cNvPr>
          <p:cNvPicPr>
            <a:picLocks noChangeAspect="1"/>
          </p:cNvPicPr>
          <p:nvPr/>
        </p:nvPicPr>
        <p:blipFill>
          <a:blip r:embed="rId14"/>
          <a:stretch>
            <a:fillRect/>
          </a:stretch>
        </p:blipFill>
        <p:spPr>
          <a:xfrm>
            <a:off x="23007510" y="20253960"/>
            <a:ext cx="6636130" cy="5532120"/>
          </a:xfrm>
          <a:prstGeom prst="rect">
            <a:avLst/>
          </a:prstGeom>
        </p:spPr>
      </p:pic>
      <p:sp>
        <p:nvSpPr>
          <p:cNvPr id="164" name="Shape 114">
            <a:extLst>
              <a:ext uri="{FF2B5EF4-FFF2-40B4-BE49-F238E27FC236}">
                <a16:creationId xmlns:a16="http://schemas.microsoft.com/office/drawing/2014/main" id="{0A6F5309-6EDC-0FD6-DDB7-B165B61BDEF6}"/>
              </a:ext>
            </a:extLst>
          </p:cNvPr>
          <p:cNvSpPr/>
          <p:nvPr/>
        </p:nvSpPr>
        <p:spPr>
          <a:xfrm>
            <a:off x="10962129" y="25424638"/>
            <a:ext cx="10252710" cy="603504"/>
          </a:xfrm>
          <a:prstGeom prst="rect">
            <a:avLst/>
          </a:prstGeom>
          <a:solidFill>
            <a:srgbClr val="C0392B"/>
          </a:solidFill>
          <a:ln/>
        </p:spPr>
        <p:txBody>
          <a:bodyPr/>
          <a:lstStyle/>
          <a:p>
            <a:endParaRPr lang="en-UG">
              <a:latin typeface="Trebuchet MS" panose="020B0603020202020204" pitchFamily="34" charset="0"/>
            </a:endParaRPr>
          </a:p>
        </p:txBody>
      </p:sp>
      <p:grpSp>
        <p:nvGrpSpPr>
          <p:cNvPr id="165" name="Group 164">
            <a:extLst>
              <a:ext uri="{FF2B5EF4-FFF2-40B4-BE49-F238E27FC236}">
                <a16:creationId xmlns:a16="http://schemas.microsoft.com/office/drawing/2014/main" id="{5DCC7DFF-EE8C-ECA8-33AC-CFA982E6B6C9}"/>
              </a:ext>
            </a:extLst>
          </p:cNvPr>
          <p:cNvGrpSpPr/>
          <p:nvPr/>
        </p:nvGrpSpPr>
        <p:grpSpPr>
          <a:xfrm>
            <a:off x="11084698" y="25424638"/>
            <a:ext cx="10007571" cy="3538728"/>
            <a:chOff x="17050766" y="26453338"/>
            <a:chExt cx="13438632" cy="3538728"/>
          </a:xfrm>
        </p:grpSpPr>
        <p:sp>
          <p:nvSpPr>
            <p:cNvPr id="166" name="Text 115">
              <a:extLst>
                <a:ext uri="{FF2B5EF4-FFF2-40B4-BE49-F238E27FC236}">
                  <a16:creationId xmlns:a16="http://schemas.microsoft.com/office/drawing/2014/main" id="{1AB22E8B-DF7B-EAE0-E7EA-1F3350F769F0}"/>
                </a:ext>
              </a:extLst>
            </p:cNvPr>
            <p:cNvSpPr/>
            <p:nvPr/>
          </p:nvSpPr>
          <p:spPr>
            <a:xfrm>
              <a:off x="17050766" y="26453338"/>
              <a:ext cx="13438632" cy="603504"/>
            </a:xfrm>
            <a:prstGeom prst="rect">
              <a:avLst/>
            </a:prstGeom>
            <a:noFill/>
            <a:ln/>
          </p:spPr>
          <p:txBody>
            <a:bodyPr wrap="square" lIns="0" tIns="0" rIns="0" bIns="0" rtlCol="0" anchor="ctr"/>
            <a:lstStyle/>
            <a:p>
              <a:pPr marL="0" indent="0" algn="l">
                <a:buNone/>
              </a:pPr>
              <a:r>
                <a:rPr lang="en-US" sz="3000" b="1" dirty="0">
                  <a:solidFill>
                    <a:srgbClr val="FFFFFF"/>
                  </a:solidFill>
                  <a:latin typeface="Trebuchet MS" panose="020B0603020202020204" pitchFamily="34" charset="0"/>
                  <a:ea typeface="Cambria" pitchFamily="34" charset="-122"/>
                  <a:cs typeface="Cambria" pitchFamily="34" charset="-120"/>
                </a:rPr>
                <a:t>Alignment with National &amp; Global Agenda</a:t>
              </a:r>
              <a:endParaRPr lang="en-US" sz="3000" dirty="0">
                <a:latin typeface="Trebuchet MS" panose="020B0603020202020204" pitchFamily="34" charset="0"/>
              </a:endParaRPr>
            </a:p>
          </p:txBody>
        </p:sp>
        <p:sp>
          <p:nvSpPr>
            <p:cNvPr id="167" name="Text 116">
              <a:extLst>
                <a:ext uri="{FF2B5EF4-FFF2-40B4-BE49-F238E27FC236}">
                  <a16:creationId xmlns:a16="http://schemas.microsoft.com/office/drawing/2014/main" id="{4AAB53E3-D55F-4271-F145-F78E551B624B}"/>
                </a:ext>
              </a:extLst>
            </p:cNvPr>
            <p:cNvSpPr/>
            <p:nvPr/>
          </p:nvSpPr>
          <p:spPr>
            <a:xfrm>
              <a:off x="17087342" y="27258010"/>
              <a:ext cx="13365480" cy="2734056"/>
            </a:xfrm>
            <a:prstGeom prst="rect">
              <a:avLst/>
            </a:prstGeom>
            <a:noFill/>
            <a:ln/>
          </p:spPr>
          <p:txBody>
            <a:bodyPr wrap="square" lIns="0" tIns="0" rIns="0" bIns="0" rtlCol="0" anchor="t"/>
            <a:lstStyle/>
            <a:p>
              <a:pPr marL="254000" indent="-254000">
                <a:lnSpc>
                  <a:spcPct val="118000"/>
                </a:lnSpc>
                <a:buSzPct val="100000"/>
                <a:buChar char="•"/>
              </a:pPr>
              <a:r>
                <a:rPr lang="en-US" sz="2400" b="1" dirty="0">
                  <a:solidFill>
                    <a:srgbClr val="1A1A1A"/>
                  </a:solidFill>
                  <a:latin typeface="Trebuchet MS" panose="020B0603020202020204" pitchFamily="34" charset="0"/>
                  <a:ea typeface="Calibri" pitchFamily="34" charset="-122"/>
                  <a:cs typeface="Calibri" pitchFamily="34" charset="-120"/>
                </a:rPr>
                <a:t>AI &amp; Robotics Specialisation: </a:t>
              </a:r>
              <a:r>
                <a:rPr lang="en-US" sz="2400" dirty="0">
                  <a:solidFill>
                    <a:srgbClr val="1A1A1A"/>
                  </a:solidFill>
                  <a:latin typeface="Trebuchet MS" panose="020B0603020202020204" pitchFamily="34" charset="0"/>
                  <a:ea typeface="Calibri" pitchFamily="34" charset="-122"/>
                  <a:cs typeface="Calibri" pitchFamily="34" charset="-120"/>
                </a:rPr>
                <a:t>applies deep reinforcement learning, decision-making under uncertainty and safe RL.</a:t>
              </a:r>
              <a:endParaRPr lang="en-US" sz="2400" b="1" dirty="0">
                <a:solidFill>
                  <a:srgbClr val="1A1A1A"/>
                </a:solidFill>
                <a:latin typeface="Trebuchet MS" panose="020B0603020202020204" pitchFamily="34" charset="0"/>
                <a:ea typeface="Calibri" pitchFamily="34" charset="-122"/>
                <a:cs typeface="Calibri" pitchFamily="34" charset="-120"/>
              </a:endParaRPr>
            </a:p>
            <a:p>
              <a:pPr marL="254000" indent="-254000">
                <a:lnSpc>
                  <a:spcPct val="118000"/>
                </a:lnSpc>
                <a:buSzPct val="100000"/>
                <a:buChar char="•"/>
              </a:pPr>
              <a:r>
                <a:rPr lang="en-US" sz="2400" b="1" dirty="0">
                  <a:solidFill>
                    <a:srgbClr val="1A1A1A"/>
                  </a:solidFill>
                  <a:latin typeface="Trebuchet MS" panose="020B0603020202020204" pitchFamily="34" charset="0"/>
                  <a:ea typeface="Calibri" pitchFamily="34" charset="-122"/>
                  <a:cs typeface="Calibri" pitchFamily="34" charset="-120"/>
                </a:rPr>
                <a:t>SDG 9 — Industry, Innovation &amp; Infrastructure: </a:t>
              </a:r>
              <a:r>
                <a:rPr lang="en-US" sz="2400" dirty="0">
                  <a:solidFill>
                    <a:srgbClr val="1A1A1A"/>
                  </a:solidFill>
                  <a:latin typeface="Trebuchet MS" panose="020B0603020202020204" pitchFamily="34" charset="0"/>
                  <a:ea typeface="Calibri" pitchFamily="34" charset="-122"/>
                  <a:cs typeface="Calibri" pitchFamily="34" charset="-120"/>
                </a:rPr>
                <a:t>supports reliable, rule-governed automation of institutional IT services.</a:t>
              </a:r>
              <a:endParaRPr lang="en-US" sz="2400" b="1" dirty="0">
                <a:solidFill>
                  <a:srgbClr val="1A1A1A"/>
                </a:solidFill>
                <a:latin typeface="Trebuchet MS" panose="020B0603020202020204" pitchFamily="34" charset="0"/>
                <a:ea typeface="Calibri" pitchFamily="34" charset="-122"/>
                <a:cs typeface="Calibri" pitchFamily="34" charset="-120"/>
              </a:endParaRPr>
            </a:p>
            <a:p>
              <a:pPr marL="254000" indent="-254000">
                <a:lnSpc>
                  <a:spcPct val="118000"/>
                </a:lnSpc>
                <a:buSzPct val="100000"/>
                <a:buChar char="•"/>
              </a:pPr>
              <a:r>
                <a:rPr lang="en-US" sz="2400" b="1" dirty="0">
                  <a:solidFill>
                    <a:srgbClr val="1A1A1A"/>
                  </a:solidFill>
                  <a:latin typeface="Trebuchet MS" panose="020B0603020202020204" pitchFamily="34" charset="0"/>
                  <a:ea typeface="Calibri" pitchFamily="34" charset="-122"/>
                  <a:cs typeface="Calibri" pitchFamily="34" charset="-120"/>
                </a:rPr>
                <a:t>SDG 4 — Quality Education: </a:t>
              </a:r>
              <a:r>
                <a:rPr lang="en-US" sz="2400" dirty="0">
                  <a:solidFill>
                    <a:srgbClr val="1A1A1A"/>
                  </a:solidFill>
                  <a:latin typeface="Trebuchet MS" panose="020B0603020202020204" pitchFamily="34" charset="0"/>
                  <a:ea typeface="Calibri" pitchFamily="34" charset="-122"/>
                  <a:cs typeface="Calibri" pitchFamily="34" charset="-120"/>
                </a:rPr>
                <a:t>teaching and learning depend on the university IT services the agent supports.</a:t>
              </a:r>
              <a:endParaRPr lang="en-US" sz="2400" b="1" dirty="0">
                <a:solidFill>
                  <a:srgbClr val="1A1A1A"/>
                </a:solidFill>
                <a:latin typeface="Trebuchet MS" panose="020B0603020202020204" pitchFamily="34" charset="0"/>
                <a:ea typeface="Calibri" pitchFamily="34" charset="-122"/>
                <a:cs typeface="Calibri" pitchFamily="34" charset="-120"/>
              </a:endParaRPr>
            </a:p>
            <a:p>
              <a:pPr marL="254000" indent="-254000">
                <a:lnSpc>
                  <a:spcPct val="118000"/>
                </a:lnSpc>
                <a:buSzPct val="100000"/>
                <a:buChar char="•"/>
              </a:pPr>
              <a:r>
                <a:rPr lang="en-US" sz="2400" b="1" dirty="0">
                  <a:solidFill>
                    <a:srgbClr val="1A1A1A"/>
                  </a:solidFill>
                  <a:latin typeface="Trebuchet MS" panose="020B0603020202020204" pitchFamily="34" charset="0"/>
                  <a:ea typeface="Calibri" pitchFamily="34" charset="-122"/>
                  <a:cs typeface="Calibri" pitchFamily="34" charset="-120"/>
                </a:rPr>
                <a:t>NDP IV &amp; Uganda Vision 2040: </a:t>
              </a:r>
              <a:r>
                <a:rPr lang="en-US" sz="2400" dirty="0">
                  <a:solidFill>
                    <a:srgbClr val="1A1A1A"/>
                  </a:solidFill>
                  <a:latin typeface="Trebuchet MS" panose="020B0603020202020204" pitchFamily="34" charset="0"/>
                  <a:ea typeface="Calibri" pitchFamily="34" charset="-122"/>
                  <a:cs typeface="Calibri" pitchFamily="34" charset="-120"/>
                </a:rPr>
                <a:t>builds local AI expertise for the digital transformation of public institutions.</a:t>
              </a:r>
              <a:endParaRPr lang="en-US" sz="2400" b="1" dirty="0">
                <a:solidFill>
                  <a:srgbClr val="1A1A1A"/>
                </a:solidFill>
                <a:latin typeface="Trebuchet MS" panose="020B0603020202020204" pitchFamily="34" charset="0"/>
                <a:ea typeface="Calibri" pitchFamily="34" charset="-122"/>
                <a:cs typeface="Calibri" pitchFamily="34" charset="-120"/>
              </a:endParaRP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273</TotalTime>
  <Words>1344</Words>
  <Application>Microsoft Office PowerPoint</Application>
  <PresentationFormat>Custom</PresentationFormat>
  <Paragraphs>134</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Trebuchet MS</vt:lpstr>
      <vt:lpstr>Office Theme</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Charis Opol</cp:lastModifiedBy>
  <cp:revision>4</cp:revision>
  <dcterms:created xsi:type="dcterms:W3CDTF">2026-08-20T09:08:08Z</dcterms:created>
  <dcterms:modified xsi:type="dcterms:W3CDTF">2026-08-29T18:09:06Z</dcterms:modified>
</cp:coreProperties>
</file>